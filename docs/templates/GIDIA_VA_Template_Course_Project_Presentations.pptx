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3" r:id="rId3"/>
    <p:sldId id="348" r:id="rId4"/>
    <p:sldId id="403" r:id="rId5"/>
    <p:sldId id="318" r:id="rId6"/>
    <p:sldId id="405" r:id="rId7"/>
    <p:sldId id="409" r:id="rId8"/>
    <p:sldId id="410" r:id="rId9"/>
    <p:sldId id="383" r:id="rId10"/>
    <p:sldId id="404" r:id="rId11"/>
    <p:sldId id="28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uardo Fidalgo Fernández" initials="EFF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7D00"/>
    <a:srgbClr val="FF9405"/>
    <a:srgbClr val="B46700"/>
    <a:srgbClr val="E731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055" autoAdjust="0"/>
    <p:restoredTop sz="87217" autoAdjust="0"/>
  </p:normalViewPr>
  <p:slideViewPr>
    <p:cSldViewPr snapToGrid="0" snapToObjects="1">
      <p:cViewPr varScale="1">
        <p:scale>
          <a:sx n="83" d="100"/>
          <a:sy n="83" d="100"/>
        </p:scale>
        <p:origin x="137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6" d="100"/>
          <a:sy n="56" d="100"/>
        </p:scale>
        <p:origin x="258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DD89B-4A46-4028-8866-1E86EFBC0DEE}" type="datetimeFigureOut">
              <a:rPr lang="es-ES" smtClean="0"/>
              <a:t>08/02/2025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63320-C517-4111-B5EF-92285AC8AC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5289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A62F-3719-438F-A310-6434B1FA2AEA}" type="datetimeFigureOut">
              <a:rPr lang="es-ES" smtClean="0"/>
              <a:t>08/02/2025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135E5-457A-4183-A722-09BD01DC12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974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endParaRPr lang="es-ES_tradnl" sz="1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9982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endParaRPr lang="es-ES_tradnl" sz="1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229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9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9476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7ABA-3E86-EECD-401B-31AADFCE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EA23A6-7687-F950-AF86-7BF998D2A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06A04D-79C9-0FE3-EAAE-A7CC777AC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09B82A-7C39-755B-1996-4031C35D3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219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A768-A2A7-B724-1641-B42BBC5CF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044D3C-1F85-18A2-1598-7ECEB3203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12E455-2878-8CD5-09A1-70B881000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3A4E01-CDF9-A94A-4F05-6DAE91490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07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6698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135E5-457A-4183-A722-09BD01DC125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532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987694" y="995667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9028" y="5986914"/>
            <a:ext cx="1271065" cy="69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4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43358" cy="1143000"/>
          </a:xfrm>
        </p:spPr>
        <p:txBody>
          <a:bodyPr/>
          <a:lstStyle>
            <a:lvl1pPr>
              <a:defRPr>
                <a:solidFill>
                  <a:srgbClr val="E73137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917" y="6343949"/>
            <a:ext cx="674929" cy="368379"/>
          </a:xfrm>
          <a:prstGeom prst="rect">
            <a:avLst/>
          </a:prstGeom>
        </p:spPr>
      </p:pic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8542616" y="12700"/>
            <a:ext cx="60138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CD5851-AB72-2A4E-BF39-9AE9062A8BE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42616" y="0"/>
            <a:ext cx="601384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DD67960-623A-4448-9D8E-D71BF77CB3C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5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43358" cy="1143000"/>
          </a:xfrm>
        </p:spPr>
        <p:txBody>
          <a:bodyPr/>
          <a:lstStyle>
            <a:lvl1pPr>
              <a:defRPr>
                <a:solidFill>
                  <a:srgbClr val="E73137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87" name="Oval 7"/>
          <p:cNvSpPr/>
          <p:nvPr userDrawn="1"/>
        </p:nvSpPr>
        <p:spPr>
          <a:xfrm>
            <a:off x="1711340" y="6513329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7"/>
          <p:cNvSpPr/>
          <p:nvPr userDrawn="1"/>
        </p:nvSpPr>
        <p:spPr>
          <a:xfrm>
            <a:off x="1820185" y="6513329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7"/>
          <p:cNvSpPr/>
          <p:nvPr userDrawn="1"/>
        </p:nvSpPr>
        <p:spPr>
          <a:xfrm>
            <a:off x="1927687" y="6513331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7"/>
          <p:cNvSpPr/>
          <p:nvPr userDrawn="1"/>
        </p:nvSpPr>
        <p:spPr>
          <a:xfrm>
            <a:off x="2036532" y="6513329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7"/>
          <p:cNvSpPr/>
          <p:nvPr userDrawn="1"/>
        </p:nvSpPr>
        <p:spPr>
          <a:xfrm>
            <a:off x="2146069" y="6513327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7"/>
          <p:cNvSpPr/>
          <p:nvPr userDrawn="1"/>
        </p:nvSpPr>
        <p:spPr>
          <a:xfrm>
            <a:off x="2254914" y="6513327"/>
            <a:ext cx="72000" cy="72000"/>
          </a:xfrm>
          <a:prstGeom prst="ellipse">
            <a:avLst/>
          </a:prstGeom>
          <a:solidFill>
            <a:srgbClr val="C5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917" y="6343949"/>
            <a:ext cx="674929" cy="368379"/>
          </a:xfrm>
          <a:prstGeom prst="rect">
            <a:avLst/>
          </a:prstGeom>
        </p:spPr>
      </p:pic>
      <p:pic>
        <p:nvPicPr>
          <p:cNvPr id="14" name="Imagen 13" descr="INCIBE_logo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0558" y="6469892"/>
            <a:ext cx="588999" cy="16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0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tipo INCIBE" title="Logotipo INCIBE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4750" y="5248133"/>
            <a:ext cx="2304000" cy="543685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2288357" y="3098422"/>
            <a:ext cx="4579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E73137"/>
                </a:solidFill>
              </a:rPr>
              <a:t>Gracias </a:t>
            </a:r>
            <a:r>
              <a:rPr lang="en-US" sz="3600" dirty="0" err="1">
                <a:solidFill>
                  <a:srgbClr val="E73137"/>
                </a:solidFill>
              </a:rPr>
              <a:t>por</a:t>
            </a:r>
            <a:r>
              <a:rPr lang="en-US" sz="3600" dirty="0">
                <a:solidFill>
                  <a:srgbClr val="E73137"/>
                </a:solidFill>
              </a:rPr>
              <a:t> </a:t>
            </a:r>
            <a:r>
              <a:rPr lang="en-US" sz="3600" dirty="0" err="1">
                <a:solidFill>
                  <a:srgbClr val="E73137"/>
                </a:solidFill>
              </a:rPr>
              <a:t>su</a:t>
            </a:r>
            <a:r>
              <a:rPr lang="en-US" sz="3600" dirty="0">
                <a:solidFill>
                  <a:srgbClr val="E73137"/>
                </a:solidFill>
              </a:rPr>
              <a:t> </a:t>
            </a:r>
            <a:r>
              <a:rPr lang="en-US" sz="3600" dirty="0" err="1">
                <a:solidFill>
                  <a:srgbClr val="E73137"/>
                </a:solidFill>
              </a:rPr>
              <a:t>atención</a:t>
            </a:r>
            <a:endParaRPr lang="en-US" sz="3600" dirty="0">
              <a:solidFill>
                <a:srgbClr val="E73137"/>
              </a:solidFill>
            </a:endParaRPr>
          </a:p>
        </p:txBody>
      </p:sp>
      <p:pic>
        <p:nvPicPr>
          <p:cNvPr id="6" name="5 Imagen" descr="Logotipo Ministerio de Industria, Energía y Turismo" title="Logotipo Ministerio de Industria, Energía y Turismo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6325" y="5234606"/>
            <a:ext cx="2024063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645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8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638" y="895149"/>
            <a:ext cx="8564786" cy="2423891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Title - For example: Phishing detection using Phishing kits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403600" y="3319040"/>
            <a:ext cx="5343794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0000"/>
                </a:solidFill>
              </a:rPr>
              <a:t>Computer Vision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251466" y="3774503"/>
            <a:ext cx="3492374" cy="564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457200" rtl="0" eaLnBrk="1" latinLnBrk="0" hangingPunct="1">
              <a:spcBef>
                <a:spcPct val="20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by Student Name</a:t>
            </a:r>
          </a:p>
          <a:p>
            <a:pPr marL="0" indent="0" algn="r">
              <a:buNone/>
            </a:pPr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Presentation date</a:t>
            </a:r>
          </a:p>
          <a:p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00" y="5052933"/>
            <a:ext cx="1819835" cy="18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11200" y="566648"/>
            <a:ext cx="500795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E7313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311276" y="1709648"/>
            <a:ext cx="7121524" cy="3858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Introduction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Literature review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Selected method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Datasets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Performance metrics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Results and discussion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Conclusions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en-AU" sz="20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7302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29"/>
          <p:cNvSpPr>
            <a:spLocks/>
          </p:cNvSpPr>
          <p:nvPr/>
        </p:nvSpPr>
        <p:spPr bwMode="auto">
          <a:xfrm>
            <a:off x="910871" y="1206787"/>
            <a:ext cx="478654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>
              <a:spcBef>
                <a:spcPts val="425"/>
              </a:spcBef>
            </a:pPr>
            <a:r>
              <a:rPr lang="en-US" sz="2000" b="1" dirty="0">
                <a:solidFill>
                  <a:srgbClr val="002060"/>
                </a:solidFill>
                <a:latin typeface="Trebuchet MS" panose="020B0603020202020204" pitchFamily="34" charset="0"/>
                <a:sym typeface="Tahoma Bold" charset="0"/>
              </a:rPr>
              <a:t>For example: What is phishing?</a:t>
            </a:r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  <a:sym typeface="Tahoma" charset="0"/>
            </a:endParaRPr>
          </a:p>
        </p:txBody>
      </p:sp>
      <p:sp>
        <p:nvSpPr>
          <p:cNvPr id="88" name="Title 1"/>
          <p:cNvSpPr>
            <a:spLocks noGrp="1"/>
          </p:cNvSpPr>
          <p:nvPr>
            <p:ph type="title"/>
          </p:nvPr>
        </p:nvSpPr>
        <p:spPr>
          <a:xfrm>
            <a:off x="457200" y="344978"/>
            <a:ext cx="7302500" cy="779794"/>
          </a:xfrm>
        </p:spPr>
        <p:txBody>
          <a:bodyPr>
            <a:normAutofit/>
          </a:bodyPr>
          <a:lstStyle/>
          <a:p>
            <a:pPr algn="l"/>
            <a:r>
              <a:rPr lang="is-IS" sz="2800" dirty="0"/>
              <a:t>1</a:t>
            </a:r>
            <a:r>
              <a:rPr lang="en-GB" sz="2800" dirty="0"/>
              <a:t>. Introduction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2777849-8341-4340-A9FD-6211C0DC1D24}"/>
              </a:ext>
            </a:extLst>
          </p:cNvPr>
          <p:cNvSpPr txBox="1">
            <a:spLocks/>
          </p:cNvSpPr>
          <p:nvPr/>
        </p:nvSpPr>
        <p:spPr>
          <a:xfrm>
            <a:off x="1434904" y="1749712"/>
            <a:ext cx="6913397" cy="745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dirty="0">
                <a:latin typeface="Trebuchet MS" panose="020B0603020202020204" pitchFamily="34" charset="0"/>
              </a:rPr>
              <a:t>Definition.</a:t>
            </a:r>
            <a:endParaRPr lang="en-GB" sz="900" dirty="0">
              <a:latin typeface="Trebuchet MS" panose="020B0603020202020204" pitchFamily="34" charset="0"/>
            </a:endParaRP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1BB6DED6-A609-4E6A-A08F-CE8734D0EE63}"/>
              </a:ext>
            </a:extLst>
          </p:cNvPr>
          <p:cNvSpPr>
            <a:spLocks/>
          </p:cNvSpPr>
          <p:nvPr/>
        </p:nvSpPr>
        <p:spPr bwMode="auto">
          <a:xfrm>
            <a:off x="910871" y="2752769"/>
            <a:ext cx="445170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>
              <a:spcBef>
                <a:spcPts val="425"/>
              </a:spcBef>
            </a:pPr>
            <a:r>
              <a:rPr lang="en-US" sz="2000" b="1" dirty="0">
                <a:solidFill>
                  <a:srgbClr val="002060"/>
                </a:solidFill>
                <a:latin typeface="Trebuchet MS" panose="020B0603020202020204" pitchFamily="34" charset="0"/>
                <a:sym typeface="Tahoma Bold" charset="0"/>
              </a:rPr>
              <a:t>Why is important to detect phishing?</a:t>
            </a:r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  <a:sym typeface="Tahoma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8634DC9-A463-4D2E-81FD-B18665B84695}"/>
              </a:ext>
            </a:extLst>
          </p:cNvPr>
          <p:cNvSpPr txBox="1">
            <a:spLocks/>
          </p:cNvSpPr>
          <p:nvPr/>
        </p:nvSpPr>
        <p:spPr>
          <a:xfrm>
            <a:off x="1434904" y="3324224"/>
            <a:ext cx="6913398" cy="2752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latin typeface="Trebuchet MS" panose="020B0603020202020204" pitchFamily="34" charset="0"/>
              </a:rPr>
              <a:t>Explanation</a:t>
            </a:r>
          </a:p>
          <a:p>
            <a:pPr algn="just"/>
            <a:endParaRPr lang="en-US" sz="1600" dirty="0">
              <a:latin typeface="Trebuchet MS" panose="020B06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9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1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9">
            <a:extLst>
              <a:ext uri="{FF2B5EF4-FFF2-40B4-BE49-F238E27FC236}">
                <a16:creationId xmlns:a16="http://schemas.microsoft.com/office/drawing/2014/main" id="{EDE23C0F-F9F8-43AD-A256-B477D11D6111}"/>
              </a:ext>
            </a:extLst>
          </p:cNvPr>
          <p:cNvSpPr>
            <a:spLocks/>
          </p:cNvSpPr>
          <p:nvPr/>
        </p:nvSpPr>
        <p:spPr bwMode="auto">
          <a:xfrm>
            <a:off x="855315" y="1570137"/>
            <a:ext cx="198472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>
              <a:spcBef>
                <a:spcPts val="425"/>
              </a:spcBef>
            </a:pPr>
            <a:r>
              <a:rPr lang="en-US" sz="2000" b="1" dirty="0">
                <a:solidFill>
                  <a:srgbClr val="002060"/>
                </a:solidFill>
                <a:latin typeface="Trebuchet MS" panose="020B0603020202020204" pitchFamily="34" charset="0"/>
                <a:sym typeface="Tahoma Bold" charset="0"/>
              </a:rPr>
              <a:t>Attack vectors</a:t>
            </a:r>
            <a:endParaRPr lang="en-US" sz="2000" b="1" dirty="0">
              <a:solidFill>
                <a:srgbClr val="002060"/>
              </a:solidFill>
              <a:latin typeface="Trebuchet MS" panose="020B0603020202020204" pitchFamily="34" charset="0"/>
              <a:sym typeface="Tahoma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662F074-C17E-42BD-B66E-E66ED34B91F6}"/>
              </a:ext>
            </a:extLst>
          </p:cNvPr>
          <p:cNvGrpSpPr/>
          <p:nvPr/>
        </p:nvGrpSpPr>
        <p:grpSpPr>
          <a:xfrm>
            <a:off x="1010944" y="2119401"/>
            <a:ext cx="792340" cy="1317554"/>
            <a:chOff x="1451965" y="3000248"/>
            <a:chExt cx="792340" cy="1317554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B5C72196-3EC9-45F4-9E0C-8C040064C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1965" y="3536624"/>
              <a:ext cx="781178" cy="781178"/>
            </a:xfrm>
            <a:prstGeom prst="rect">
              <a:avLst/>
            </a:prstGeom>
          </p:spPr>
        </p:pic>
        <p:sp>
          <p:nvSpPr>
            <p:cNvPr id="11" name="Rectangle 29">
              <a:extLst>
                <a:ext uri="{FF2B5EF4-FFF2-40B4-BE49-F238E27FC236}">
                  <a16:creationId xmlns:a16="http://schemas.microsoft.com/office/drawing/2014/main" id="{957F48E7-11E5-4FA5-8281-C00641C48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352" y="3000248"/>
              <a:ext cx="736953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rgbClr val="FFC000"/>
                  </a:solidFill>
                  <a:latin typeface="Trebuchet MS" panose="020B0603020202020204" pitchFamily="34" charset="0"/>
                  <a:sym typeface="Tahoma Bold" charset="0"/>
                </a:rPr>
                <a:t>Email</a:t>
              </a:r>
              <a:endParaRPr lang="en-US" b="1" dirty="0">
                <a:solidFill>
                  <a:srgbClr val="FFC00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6C11CE61-3C5C-47BC-86FE-F2EF421C490F}"/>
              </a:ext>
            </a:extLst>
          </p:cNvPr>
          <p:cNvGrpSpPr/>
          <p:nvPr/>
        </p:nvGrpSpPr>
        <p:grpSpPr>
          <a:xfrm>
            <a:off x="4171890" y="2061244"/>
            <a:ext cx="1297781" cy="1452437"/>
            <a:chOff x="3882237" y="2865365"/>
            <a:chExt cx="1297781" cy="145243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6B760B2A-E784-4F31-BE7D-898CF673D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5728" y="3622782"/>
              <a:ext cx="695020" cy="695020"/>
            </a:xfrm>
            <a:prstGeom prst="rect">
              <a:avLst/>
            </a:prstGeom>
          </p:spPr>
        </p:pic>
        <p:sp>
          <p:nvSpPr>
            <p:cNvPr id="15" name="Rectangle 29">
              <a:extLst>
                <a:ext uri="{FF2B5EF4-FFF2-40B4-BE49-F238E27FC236}">
                  <a16:creationId xmlns:a16="http://schemas.microsoft.com/office/drawing/2014/main" id="{DF643521-0CF7-4826-AA80-39DA39D11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237" y="2865365"/>
              <a:ext cx="1297781" cy="725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  <a:latin typeface="Trebuchet MS" panose="020B0603020202020204" pitchFamily="34" charset="0"/>
                  <a:sym typeface="Tahoma Bold" charset="0"/>
                </a:rPr>
                <a:t>Instant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  <a:latin typeface="Trebuchet MS" panose="020B0603020202020204" pitchFamily="34" charset="0"/>
                  <a:sym typeface="Tahoma Bold" charset="0"/>
                </a:rPr>
                <a:t>messaging</a:t>
              </a:r>
              <a:endParaRPr lang="en-US" b="1" dirty="0">
                <a:solidFill>
                  <a:srgbClr val="7030A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6BC3B53F-C5A1-4032-B6B5-C473B96A9621}"/>
              </a:ext>
            </a:extLst>
          </p:cNvPr>
          <p:cNvGrpSpPr/>
          <p:nvPr/>
        </p:nvGrpSpPr>
        <p:grpSpPr>
          <a:xfrm>
            <a:off x="5867039" y="2239205"/>
            <a:ext cx="946006" cy="1274476"/>
            <a:chOff x="5525108" y="3028823"/>
            <a:chExt cx="946006" cy="1274476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E408DA7-3E69-4DDD-B1FD-F4B793DF9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9329" y="3608278"/>
              <a:ext cx="695021" cy="695021"/>
            </a:xfrm>
            <a:prstGeom prst="rect">
              <a:avLst/>
            </a:prstGeom>
          </p:spPr>
        </p:pic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C9B50A1F-2F1E-4602-9716-8AD87BD37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108" y="3028823"/>
              <a:ext cx="946006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  <a:latin typeface="Trebuchet MS" panose="020B0603020202020204" pitchFamily="34" charset="0"/>
                  <a:sym typeface="Tahoma Bold" charset="0"/>
                </a:rPr>
                <a:t>Vishing</a:t>
              </a:r>
              <a:endParaRPr lang="en-US" b="1" dirty="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94733B88-1BB5-47AD-B78E-B823C943364D}"/>
              </a:ext>
            </a:extLst>
          </p:cNvPr>
          <p:cNvGrpSpPr/>
          <p:nvPr/>
        </p:nvGrpSpPr>
        <p:grpSpPr>
          <a:xfrm>
            <a:off x="7392122" y="2277433"/>
            <a:ext cx="736953" cy="1236248"/>
            <a:chOff x="7001963" y="3038475"/>
            <a:chExt cx="736953" cy="1236248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8B7AD61-E156-4C46-9050-C5EE6A5CE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22930" y="3579703"/>
              <a:ext cx="695020" cy="695020"/>
            </a:xfrm>
            <a:prstGeom prst="rect">
              <a:avLst/>
            </a:prstGeom>
          </p:spPr>
        </p:pic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E99EBD0-9176-4EC7-B559-5B06AD4FC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1963" y="3038475"/>
              <a:ext cx="736953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rgbClr val="0070C0"/>
                  </a:solidFill>
                  <a:latin typeface="Trebuchet MS" panose="020B0603020202020204" pitchFamily="34" charset="0"/>
                  <a:sym typeface="Tahoma Bold" charset="0"/>
                </a:rPr>
                <a:t>Wi-Fi</a:t>
              </a:r>
              <a:endParaRPr lang="en-US" b="1" dirty="0">
                <a:solidFill>
                  <a:srgbClr val="0070C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2B1D300-FF36-4D1F-91D3-DA872E9E889E}"/>
              </a:ext>
            </a:extLst>
          </p:cNvPr>
          <p:cNvGrpSpPr/>
          <p:nvPr/>
        </p:nvGrpSpPr>
        <p:grpSpPr>
          <a:xfrm>
            <a:off x="2635649" y="2123041"/>
            <a:ext cx="1078924" cy="1317554"/>
            <a:chOff x="2630768" y="3000248"/>
            <a:chExt cx="1078924" cy="1317554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3D7BEBA0-4048-4C14-8411-005573BC1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55969" y="3536624"/>
              <a:ext cx="781178" cy="781178"/>
            </a:xfrm>
            <a:prstGeom prst="rect">
              <a:avLst/>
            </a:prstGeom>
          </p:spPr>
        </p:pic>
        <p:sp>
          <p:nvSpPr>
            <p:cNvPr id="25" name="Rectangle 29">
              <a:extLst>
                <a:ext uri="{FF2B5EF4-FFF2-40B4-BE49-F238E27FC236}">
                  <a16:creationId xmlns:a16="http://schemas.microsoft.com/office/drawing/2014/main" id="{9683CA6B-FF53-40C3-AA8E-5EBC2BEF4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768" y="3000248"/>
              <a:ext cx="1078924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Bef>
                  <a:spcPts val="425"/>
                </a:spcBef>
              </a:pPr>
              <a:r>
                <a:rPr lang="en-US" b="1" dirty="0">
                  <a:solidFill>
                    <a:srgbClr val="00B050"/>
                  </a:solidFill>
                  <a:latin typeface="Trebuchet MS" panose="020B0603020202020204" pitchFamily="34" charset="0"/>
                  <a:sym typeface="Tahoma Bold" charset="0"/>
                </a:rPr>
                <a:t>Smishing</a:t>
              </a:r>
              <a:endParaRPr lang="en-US" b="1" dirty="0">
                <a:solidFill>
                  <a:srgbClr val="00B050"/>
                </a:solidFill>
                <a:latin typeface="Trebuchet MS" panose="020B0603020202020204" pitchFamily="34" charset="0"/>
                <a:sym typeface="Tahoma" charset="0"/>
              </a:endParaRP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4A994537-493A-44A7-BD7A-B8125071B7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69" y="3832159"/>
            <a:ext cx="1920820" cy="129871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B9778695-37B1-45C4-83ED-5CA3B793B8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1127" y="3832159"/>
            <a:ext cx="1724780" cy="1298718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E4B95E15-3418-49DD-91A9-F5D2D2F0863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8272"/>
          <a:stretch/>
        </p:blipFill>
        <p:spPr>
          <a:xfrm>
            <a:off x="5971260" y="3832159"/>
            <a:ext cx="1896239" cy="129871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67D829BE-3474-4D82-BCAD-D4054917C56B}"/>
              </a:ext>
            </a:extLst>
          </p:cNvPr>
          <p:cNvSpPr txBox="1">
            <a:spLocks/>
          </p:cNvSpPr>
          <p:nvPr/>
        </p:nvSpPr>
        <p:spPr>
          <a:xfrm>
            <a:off x="457200" y="344978"/>
            <a:ext cx="7302500" cy="779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E73137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s-IS" sz="2800"/>
              <a:t>1</a:t>
            </a:r>
            <a:r>
              <a:rPr lang="en-GB" sz="2800"/>
              <a:t>. Introduction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3238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2. Literature review</a:t>
            </a:r>
          </a:p>
        </p:txBody>
      </p:sp>
      <p:sp>
        <p:nvSpPr>
          <p:cNvPr id="30" name="Rectangle 7"/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FB3AFAE-265D-4C6E-B580-8A6A7C527BB1}"/>
              </a:ext>
            </a:extLst>
          </p:cNvPr>
          <p:cNvGrpSpPr/>
          <p:nvPr/>
        </p:nvGrpSpPr>
        <p:grpSpPr>
          <a:xfrm>
            <a:off x="1021783" y="3032277"/>
            <a:ext cx="1676725" cy="1836445"/>
            <a:chOff x="1719783" y="3732939"/>
            <a:chExt cx="1676725" cy="1836445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180B0AD-6593-415F-9B6D-15E2273B2827}"/>
                </a:ext>
              </a:extLst>
            </p:cNvPr>
            <p:cNvGrpSpPr/>
            <p:nvPr/>
          </p:nvGrpSpPr>
          <p:grpSpPr>
            <a:xfrm>
              <a:off x="2153648" y="3732939"/>
              <a:ext cx="1242860" cy="1717526"/>
              <a:chOff x="1860952" y="4649909"/>
              <a:chExt cx="1163643" cy="1770468"/>
            </a:xfrm>
          </p:grpSpPr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45A733E-B96C-4242-9ED5-74067C9B4313}"/>
                  </a:ext>
                </a:extLst>
              </p:cNvPr>
              <p:cNvSpPr txBox="1"/>
              <p:nvPr/>
            </p:nvSpPr>
            <p:spPr>
              <a:xfrm>
                <a:off x="1860952" y="4649909"/>
                <a:ext cx="890916" cy="380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b="1" dirty="0" err="1">
                    <a:solidFill>
                      <a:srgbClr val="002060"/>
                    </a:solidFill>
                    <a:latin typeface="Trebuchet MS" panose="020B0603020202020204" pitchFamily="34" charset="0"/>
                    <a:cs typeface="Arial" panose="020B0604020202020204" pitchFamily="34" charset="0"/>
                  </a:rPr>
                  <a:t>Lists</a:t>
                </a:r>
                <a:endParaRPr lang="es-ES" sz="1800" b="1" dirty="0">
                  <a:solidFill>
                    <a:srgbClr val="002060"/>
                  </a:solidFill>
                  <a:latin typeface="Trebuchet MS" panose="020B0603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39DDF6E7-F022-4E3A-B66F-B960B4B660AF}"/>
                  </a:ext>
                </a:extLst>
              </p:cNvPr>
              <p:cNvGrpSpPr/>
              <p:nvPr/>
            </p:nvGrpSpPr>
            <p:grpSpPr>
              <a:xfrm>
                <a:off x="1975435" y="5383070"/>
                <a:ext cx="1049160" cy="1037307"/>
                <a:chOff x="1975435" y="5383070"/>
                <a:chExt cx="1049160" cy="1037307"/>
              </a:xfrm>
            </p:grpSpPr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5B1B2DEE-AF2E-4B77-A680-329D4EC1B363}"/>
                    </a:ext>
                  </a:extLst>
                </p:cNvPr>
                <p:cNvSpPr txBox="1"/>
                <p:nvPr/>
              </p:nvSpPr>
              <p:spPr>
                <a:xfrm>
                  <a:off x="1975435" y="5383070"/>
                  <a:ext cx="1049160" cy="348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600" dirty="0">
                      <a:latin typeface="Trebuchet MS" panose="020B0603020202020204" pitchFamily="34" charset="0"/>
                    </a:rPr>
                    <a:t>Whitelist</a:t>
                  </a:r>
                </a:p>
              </p:txBody>
            </p:sp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2792D8AC-0F15-479C-9B17-E91452DB2E67}"/>
                    </a:ext>
                  </a:extLst>
                </p:cNvPr>
                <p:cNvSpPr txBox="1"/>
                <p:nvPr/>
              </p:nvSpPr>
              <p:spPr>
                <a:xfrm>
                  <a:off x="1984894" y="6071387"/>
                  <a:ext cx="1030244" cy="348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600" dirty="0">
                      <a:latin typeface="Trebuchet MS" panose="020B0603020202020204" pitchFamily="34" charset="0"/>
                      <a:cs typeface="Arial" panose="020B0604020202020204" pitchFamily="34" charset="0"/>
                    </a:rPr>
                    <a:t>Blacklist</a:t>
                  </a:r>
                </a:p>
              </p:txBody>
            </p:sp>
          </p:grp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C4FC2959-91F3-4AEA-8B51-C5AF65F10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9783" y="4315085"/>
              <a:ext cx="577347" cy="577347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DDEBF5DA-E621-45D6-B760-C89D7F3C8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9783" y="4992036"/>
              <a:ext cx="577348" cy="577348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130A9BE-4670-442B-A8BB-E38CCAD44C4C}"/>
              </a:ext>
            </a:extLst>
          </p:cNvPr>
          <p:cNvGrpSpPr/>
          <p:nvPr/>
        </p:nvGrpSpPr>
        <p:grpSpPr>
          <a:xfrm>
            <a:off x="3675613" y="3052899"/>
            <a:ext cx="1250448" cy="1099433"/>
            <a:chOff x="9336835" y="3044017"/>
            <a:chExt cx="971149" cy="1099433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F5255EA-8536-4C3C-BEDC-8986989C6F86}"/>
                </a:ext>
              </a:extLst>
            </p:cNvPr>
            <p:cNvSpPr txBox="1"/>
            <p:nvPr/>
          </p:nvSpPr>
          <p:spPr>
            <a:xfrm>
              <a:off x="9336835" y="3044017"/>
              <a:ext cx="971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b="1" dirty="0" err="1">
                  <a:solidFill>
                    <a:srgbClr val="002060"/>
                  </a:solidFill>
                  <a:latin typeface="Trebuchet MS" panose="020B0603020202020204" pitchFamily="34" charset="0"/>
                </a:rPr>
                <a:t>Heuristics</a:t>
              </a:r>
              <a:endParaRPr lang="es-ES" sz="1800" b="1" dirty="0">
                <a:solidFill>
                  <a:srgbClr val="002060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898C6ED8-79D2-4B23-AE54-50BC566B6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2733" y="3530628"/>
              <a:ext cx="612822" cy="612822"/>
            </a:xfrm>
            <a:prstGeom prst="rect">
              <a:avLst/>
            </a:prstGeom>
          </p:spPr>
        </p:pic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0DF145-9971-4A95-BD69-E4ABE0122FDF}"/>
              </a:ext>
            </a:extLst>
          </p:cNvPr>
          <p:cNvSpPr txBox="1"/>
          <p:nvPr/>
        </p:nvSpPr>
        <p:spPr>
          <a:xfrm>
            <a:off x="2467255" y="1643907"/>
            <a:ext cx="3756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>
                <a:solidFill>
                  <a:srgbClr val="00206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Software detection</a:t>
            </a:r>
          </a:p>
        </p:txBody>
      </p: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A2F9FFB5-3F7F-4FFD-838D-87072AC8D5A9}"/>
              </a:ext>
            </a:extLst>
          </p:cNvPr>
          <p:cNvCxnSpPr>
            <a:cxnSpLocks/>
          </p:cNvCxnSpPr>
          <p:nvPr/>
        </p:nvCxnSpPr>
        <p:spPr>
          <a:xfrm>
            <a:off x="1953459" y="2375728"/>
            <a:ext cx="5260896" cy="540161"/>
          </a:xfrm>
          <a:prstGeom prst="bentConnector3">
            <a:avLst>
              <a:gd name="adj1" fmla="val 9997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8211793F-DA4A-4B2D-BC5F-E86074F8E3F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53459" y="2375255"/>
            <a:ext cx="3756010" cy="47828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1700A71-0659-4F8D-A60C-AD26F7DCF41A}"/>
              </a:ext>
            </a:extLst>
          </p:cNvPr>
          <p:cNvCxnSpPr>
            <a:cxnSpLocks/>
          </p:cNvCxnSpPr>
          <p:nvPr/>
        </p:nvCxnSpPr>
        <p:spPr>
          <a:xfrm>
            <a:off x="4291978" y="2389523"/>
            <a:ext cx="0" cy="5323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DFAFAA-759D-4FEE-B66E-32C81FDF4CFF}"/>
              </a:ext>
            </a:extLst>
          </p:cNvPr>
          <p:cNvSpPr/>
          <p:nvPr/>
        </p:nvSpPr>
        <p:spPr>
          <a:xfrm>
            <a:off x="5555754" y="2583508"/>
            <a:ext cx="2924152" cy="3883967"/>
          </a:xfrm>
          <a:prstGeom prst="rect">
            <a:avLst/>
          </a:pr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779138B-8C20-4222-8245-C9BD0E7095A5}"/>
              </a:ext>
            </a:extLst>
          </p:cNvPr>
          <p:cNvGrpSpPr/>
          <p:nvPr/>
        </p:nvGrpSpPr>
        <p:grpSpPr>
          <a:xfrm>
            <a:off x="5695920" y="3001388"/>
            <a:ext cx="2643816" cy="3171394"/>
            <a:chOff x="5695920" y="3001388"/>
            <a:chExt cx="2643816" cy="3171394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2D63005F-0EC0-4A87-B885-1CDC093FF0C6}"/>
                </a:ext>
              </a:extLst>
            </p:cNvPr>
            <p:cNvGrpSpPr/>
            <p:nvPr/>
          </p:nvGrpSpPr>
          <p:grpSpPr>
            <a:xfrm>
              <a:off x="5695920" y="3001388"/>
              <a:ext cx="2643816" cy="2538186"/>
              <a:chOff x="6330049" y="3030664"/>
              <a:chExt cx="2643816" cy="2538186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7E7AA841-1355-4980-A72A-A7D4504CA693}"/>
                  </a:ext>
                </a:extLst>
              </p:cNvPr>
              <p:cNvGrpSpPr/>
              <p:nvPr/>
            </p:nvGrpSpPr>
            <p:grpSpPr>
              <a:xfrm>
                <a:off x="6330049" y="3030664"/>
                <a:ext cx="2643816" cy="1900689"/>
                <a:chOff x="2661345" y="2159288"/>
                <a:chExt cx="2476870" cy="1827414"/>
              </a:xfrm>
            </p:grpSpPr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CE8E6761-5A9C-4D71-8042-7BFDCA018672}"/>
                    </a:ext>
                  </a:extLst>
                </p:cNvPr>
                <p:cNvSpPr txBox="1"/>
                <p:nvPr/>
              </p:nvSpPr>
              <p:spPr>
                <a:xfrm>
                  <a:off x="2661345" y="2159288"/>
                  <a:ext cx="2476870" cy="3550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800" b="1" dirty="0">
                      <a:solidFill>
                        <a:srgbClr val="002060"/>
                      </a:solidFill>
                      <a:latin typeface="Trebuchet MS" panose="020B0603020202020204" pitchFamily="34" charset="0"/>
                      <a:cs typeface="Arial" panose="020B0604020202020204" pitchFamily="34" charset="0"/>
                    </a:rPr>
                    <a:t>Artificial </a:t>
                  </a:r>
                  <a:r>
                    <a:rPr lang="es-ES" sz="1800" b="1" dirty="0" err="1">
                      <a:solidFill>
                        <a:srgbClr val="002060"/>
                      </a:solidFill>
                      <a:latin typeface="Trebuchet MS" panose="020B0603020202020204" pitchFamily="34" charset="0"/>
                      <a:cs typeface="Arial" panose="020B0604020202020204" pitchFamily="34" charset="0"/>
                    </a:rPr>
                    <a:t>Intelligence</a:t>
                  </a:r>
                  <a:endParaRPr lang="es-ES" sz="1800" b="1" dirty="0">
                    <a:solidFill>
                      <a:srgbClr val="002060"/>
                    </a:solidFill>
                    <a:latin typeface="Trebuchet MS" panose="020B0603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" name="Grupo 7">
                  <a:extLst>
                    <a:ext uri="{FF2B5EF4-FFF2-40B4-BE49-F238E27FC236}">
                      <a16:creationId xmlns:a16="http://schemas.microsoft.com/office/drawing/2014/main" id="{6BED224B-C832-4538-B134-ED1F64EED682}"/>
                    </a:ext>
                  </a:extLst>
                </p:cNvPr>
                <p:cNvGrpSpPr/>
                <p:nvPr/>
              </p:nvGrpSpPr>
              <p:grpSpPr>
                <a:xfrm>
                  <a:off x="3077355" y="2811272"/>
                  <a:ext cx="1778705" cy="1175430"/>
                  <a:chOff x="3077355" y="2811272"/>
                  <a:chExt cx="1778705" cy="1175430"/>
                </a:xfrm>
              </p:grpSpPr>
              <p:sp>
                <p:nvSpPr>
                  <p:cNvPr id="9" name="CuadroTexto 8">
                    <a:extLst>
                      <a:ext uri="{FF2B5EF4-FFF2-40B4-BE49-F238E27FC236}">
                        <a16:creationId xmlns:a16="http://schemas.microsoft.com/office/drawing/2014/main" id="{BEA50637-12DC-4CAC-AE3A-54D9D116F173}"/>
                      </a:ext>
                    </a:extLst>
                  </p:cNvPr>
                  <p:cNvSpPr txBox="1"/>
                  <p:nvPr/>
                </p:nvSpPr>
                <p:spPr>
                  <a:xfrm>
                    <a:off x="3587392" y="3469536"/>
                    <a:ext cx="1268668" cy="3550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ES" dirty="0">
                        <a:latin typeface="Trebuchet MS" panose="020B0603020202020204" pitchFamily="34" charset="0"/>
                        <a:cs typeface="Arial" panose="020B0604020202020204" pitchFamily="34" charset="0"/>
                      </a:rPr>
                      <a:t>Content</a:t>
                    </a:r>
                  </a:p>
                </p:txBody>
              </p:sp>
              <p:sp>
                <p:nvSpPr>
                  <p:cNvPr id="10" name="CuadroTexto 9">
                    <a:extLst>
                      <a:ext uri="{FF2B5EF4-FFF2-40B4-BE49-F238E27FC236}">
                        <a16:creationId xmlns:a16="http://schemas.microsoft.com/office/drawing/2014/main" id="{79A3BFD8-2BF6-416B-B806-B69576C3D16F}"/>
                      </a:ext>
                    </a:extLst>
                  </p:cNvPr>
                  <p:cNvSpPr txBox="1"/>
                  <p:nvPr/>
                </p:nvSpPr>
                <p:spPr>
                  <a:xfrm>
                    <a:off x="3800040" y="2875331"/>
                    <a:ext cx="748249" cy="3550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ES" dirty="0" err="1">
                        <a:latin typeface="Trebuchet MS" panose="020B0603020202020204" pitchFamily="34" charset="0"/>
                        <a:cs typeface="Arial" panose="020B0604020202020204" pitchFamily="34" charset="0"/>
                      </a:rPr>
                      <a:t>URLs</a:t>
                    </a:r>
                    <a:endParaRPr lang="es-ES" dirty="0">
                      <a:latin typeface="Trebuchet MS" panose="020B0603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11" name="Imagen 10">
                    <a:extLst>
                      <a:ext uri="{FF2B5EF4-FFF2-40B4-BE49-F238E27FC236}">
                        <a16:creationId xmlns:a16="http://schemas.microsoft.com/office/drawing/2014/main" id="{91F52B6E-23D2-4E92-8CE7-BE86F7683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77355" y="3397505"/>
                    <a:ext cx="589197" cy="589197"/>
                  </a:xfrm>
                  <a:prstGeom prst="rect">
                    <a:avLst/>
                  </a:prstGeom>
                </p:spPr>
              </p:pic>
              <p:pic>
                <p:nvPicPr>
                  <p:cNvPr id="12" name="Imagen 11">
                    <a:extLst>
                      <a:ext uri="{FF2B5EF4-FFF2-40B4-BE49-F238E27FC236}">
                        <a16:creationId xmlns:a16="http://schemas.microsoft.com/office/drawing/2014/main" id="{59C7D827-82BE-4697-8519-2CF7ED35AA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25661" y="2811272"/>
                    <a:ext cx="509332" cy="50933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1EAD90A-CEDE-4B25-AAC2-8A989C9D9EE6}"/>
                  </a:ext>
                </a:extLst>
              </p:cNvPr>
              <p:cNvSpPr txBox="1"/>
              <p:nvPr/>
            </p:nvSpPr>
            <p:spPr>
              <a:xfrm>
                <a:off x="7505171" y="5076650"/>
                <a:ext cx="8793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800" dirty="0">
                    <a:latin typeface="Trebuchet MS" panose="020B0603020202020204" pitchFamily="34" charset="0"/>
                    <a:cs typeface="Arial" panose="020B0604020202020204" pitchFamily="34" charset="0"/>
                  </a:rPr>
                  <a:t>Visual</a:t>
                </a:r>
              </a:p>
            </p:txBody>
          </p:sp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99943494-5C8F-45C6-AC4B-6CD8E93CC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5661" y="5006272"/>
                <a:ext cx="577347" cy="562578"/>
              </a:xfrm>
              <a:prstGeom prst="rect">
                <a:avLst/>
              </a:prstGeom>
            </p:spPr>
          </p:pic>
        </p:grpSp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639BFB31-94B9-4599-AE0E-BC2B1CC55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23265" y="5618280"/>
              <a:ext cx="554502" cy="554502"/>
            </a:xfrm>
            <a:prstGeom prst="rect">
              <a:avLst/>
            </a:prstGeom>
          </p:spPr>
        </p:pic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0B321083-8B9E-4E91-A00A-7DBD8D517E81}"/>
                </a:ext>
              </a:extLst>
            </p:cNvPr>
            <p:cNvSpPr txBox="1"/>
            <p:nvPr/>
          </p:nvSpPr>
          <p:spPr>
            <a:xfrm>
              <a:off x="6797081" y="5710865"/>
              <a:ext cx="1249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latin typeface="Trebuchet MS" panose="020B0603020202020204" pitchFamily="34" charset="0"/>
                  <a:cs typeface="Arial" panose="020B0604020202020204" pitchFamily="34" charset="0"/>
                </a:rPr>
                <a:t>3</a:t>
              </a:r>
              <a:r>
                <a:rPr lang="es-ES" sz="1800" baseline="30000" dirty="0">
                  <a:latin typeface="Trebuchet MS" panose="020B0603020202020204" pitchFamily="34" charset="0"/>
                  <a:cs typeface="Arial" panose="020B0604020202020204" pitchFamily="34" charset="0"/>
                </a:rPr>
                <a:t>rd</a:t>
              </a:r>
              <a:r>
                <a:rPr lang="es-ES" sz="1800" dirty="0">
                  <a:latin typeface="Trebuchet MS" panose="020B0603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800" dirty="0" err="1">
                  <a:latin typeface="Trebuchet MS" panose="020B0603020202020204" pitchFamily="34" charset="0"/>
                  <a:cs typeface="Arial" panose="020B0604020202020204" pitchFamily="34" charset="0"/>
                </a:rPr>
                <a:t>party</a:t>
              </a:r>
              <a:endParaRPr lang="es-ES" sz="1800" dirty="0">
                <a:latin typeface="Trebuchet MS" panose="020B06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6C6C6F5-6254-1148-A7BB-A1C030BB0646}"/>
              </a:ext>
            </a:extLst>
          </p:cNvPr>
          <p:cNvSpPr txBox="1">
            <a:spLocks/>
          </p:cNvSpPr>
          <p:nvPr/>
        </p:nvSpPr>
        <p:spPr>
          <a:xfrm>
            <a:off x="1091262" y="959882"/>
            <a:ext cx="6913398" cy="496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rebuchet MS" panose="020B0603020202020204" pitchFamily="34" charset="0"/>
              </a:rPr>
              <a:t>Typically it is the ”state-of-the-art”. Just one slide containing a summary of the state of the art in this problem. A table summarizing multiple papers/results would be OK</a:t>
            </a:r>
          </a:p>
          <a:p>
            <a:pPr algn="just"/>
            <a:endParaRPr lang="en-US" sz="1600" dirty="0">
              <a:latin typeface="Trebuchet MS" panose="020B0603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9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8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Selected method 01: XXXX</a:t>
            </a:r>
          </a:p>
        </p:txBody>
      </p:sp>
      <p:sp>
        <p:nvSpPr>
          <p:cNvPr id="30" name="Rectangle 7"/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96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86A0-698D-1681-4144-157F9E6A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4DDB-C69B-6D4C-6F64-0FD3B523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Selected method 02: YYYY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CFC1F6C8-1188-3E0F-BB92-6639D9E2E297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20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6560-DCC2-9B03-41EB-6798CC35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BD004-E71A-1725-92CD-1B059079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788278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3. …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DAE117DB-6809-ED14-BB17-02F602DE98AA}"/>
              </a:ext>
            </a:extLst>
          </p:cNvPr>
          <p:cNvSpPr/>
          <p:nvPr/>
        </p:nvSpPr>
        <p:spPr>
          <a:xfrm>
            <a:off x="80137" y="66509"/>
            <a:ext cx="6565636" cy="303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sz="800" b="1" dirty="0">
              <a:solidFill>
                <a:srgbClr val="535353"/>
              </a:solidFill>
              <a:latin typeface="Geneva" charset="0"/>
              <a:cs typeface="Gene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09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7. Conclusions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658CF425-7A7B-42AD-9FB2-F09E7D0442A3}"/>
              </a:ext>
            </a:extLst>
          </p:cNvPr>
          <p:cNvSpPr>
            <a:spLocks/>
          </p:cNvSpPr>
          <p:nvPr/>
        </p:nvSpPr>
        <p:spPr bwMode="auto">
          <a:xfrm>
            <a:off x="920750" y="1547444"/>
            <a:ext cx="7302500" cy="4253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best method is … because…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main drawback is…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performance decreases when..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….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Using method XX may be better than method YY in … circumstances …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…..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+mj-lt"/>
              <a:sym typeface="Tahoma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+mj-lt"/>
                <a:sym typeface="Tahoma" charset="0"/>
              </a:rPr>
              <a:t>The implementation evaluated requires a GPU for….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+mj-lt"/>
              <a:sym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799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>
            <a:normAutofit/>
          </a:bodyPr>
          <a:lstStyle/>
          <a:p>
            <a:pPr algn="l"/>
            <a:r>
              <a:rPr lang="en-GB" sz="2800" dirty="0"/>
              <a:t>8. References</a:t>
            </a:r>
          </a:p>
        </p:txBody>
      </p:sp>
      <p:sp>
        <p:nvSpPr>
          <p:cNvPr id="4" name="CuadroTexto 16">
            <a:extLst>
              <a:ext uri="{FF2B5EF4-FFF2-40B4-BE49-F238E27FC236}">
                <a16:creationId xmlns:a16="http://schemas.microsoft.com/office/drawing/2014/main" id="{C9BF06A4-D601-8F47-B4BA-6FFF01823710}"/>
              </a:ext>
            </a:extLst>
          </p:cNvPr>
          <p:cNvSpPr txBox="1"/>
          <p:nvPr/>
        </p:nvSpPr>
        <p:spPr>
          <a:xfrm>
            <a:off x="824956" y="1510859"/>
            <a:ext cx="7981420" cy="438350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/>
          <a:lstStyle>
            <a:defPPr>
              <a:defRPr lang="en-US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1">
                <a:solidFill>
                  <a:srgbClr val="002060"/>
                </a:solidFill>
                <a:latin typeface="Trebuchet MS" panose="020B0603020202020204" pitchFamily="34" charset="0"/>
              </a:defRPr>
            </a:lvl1pPr>
          </a:lstStyle>
          <a:p>
            <a:pPr marL="0" indent="0">
              <a:buNone/>
            </a:pPr>
            <a:r>
              <a:rPr lang="en-AU" sz="1200" b="0"/>
              <a:t>(</a:t>
            </a:r>
            <a:r>
              <a:rPr lang="en-AU" sz="1600"/>
              <a:t>Every paper cited in the previous slides needs to be referenced properly here)</a:t>
            </a:r>
            <a:endParaRPr lang="en-AU" sz="1200"/>
          </a:p>
          <a:p>
            <a:pPr marL="0" indent="0">
              <a:buNone/>
            </a:pPr>
            <a:r>
              <a:rPr lang="en-AU" sz="1200" b="0"/>
              <a:t>[1] Wang, K.; Belongie, S. Word spotting in the wild. In Proceedings of the 11th European Conference on Computer Vision (ECCV 2010), Heraklion, Greece, 5–11 September 2010; pp. 591–604.</a:t>
            </a:r>
          </a:p>
          <a:p>
            <a:pPr marL="0" indent="0">
              <a:buNone/>
            </a:pPr>
            <a:r>
              <a:rPr lang="en-AU" sz="1200" b="0"/>
              <a:t>[2] Karatzas, D.; Shafait, F.; Uchida, S.; Iwamura, M.; I Bigorda, L.G.; Mestre, S.R.; Mas, J.; Mota, D.F.; Almazan, J.A.; De Las Heras, L.P. ICDAR 2013 robust reading competition. In Proceedings of the 2013 12th International Conference on Document Analysis and Recognition, Washington, DC, USA, 25–28 August 2013; pp. 1484–1493.</a:t>
            </a:r>
          </a:p>
          <a:p>
            <a:pPr marL="0" indent="0">
              <a:buNone/>
            </a:pPr>
            <a:r>
              <a:rPr lang="en-AU" sz="1200" b="0"/>
              <a:t>[3] Karatzas, D.; Gomez-Bigorda, L.; Nicolaou, A.; Ghosh, S.; Bagdanov, A.; Iwamura, M.; Matas, J.; Neumann, L.; Chandrasekhar, V.R.; Lu, S.; et al. ICDAR 2015 competition on robust reading. In Proceedings of the 2015 13th International Conference on Document Analysis and Recognition (ICDAR), Tunis, Tunisia, 23–26 August 2015; pp. 1156–1160.</a:t>
            </a:r>
          </a:p>
          <a:p>
            <a:pPr marL="0" indent="0">
              <a:buNone/>
            </a:pPr>
            <a:r>
              <a:rPr lang="en-AU" sz="1200" b="0"/>
              <a:t>[4] Mishra, A.; Alahari, K.; Jawahar, C. Scene text recognition using higher order language priors. In Proceedings of the BMVC-British Machine Vision Conference 2012, Surrey, UK, 3–7 September 2012.</a:t>
            </a:r>
          </a:p>
        </p:txBody>
      </p:sp>
    </p:spTree>
    <p:extLst>
      <p:ext uri="{BB962C8B-B14F-4D97-AF65-F5344CB8AC3E}">
        <p14:creationId xmlns:p14="http://schemas.microsoft.com/office/powerpoint/2010/main" val="201081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9"/>
          <p:cNvSpPr>
            <a:spLocks/>
          </p:cNvSpPr>
          <p:nvPr/>
        </p:nvSpPr>
        <p:spPr bwMode="auto">
          <a:xfrm>
            <a:off x="2023516" y="2763084"/>
            <a:ext cx="5376520" cy="143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ctr">
              <a:spcBef>
                <a:spcPts val="425"/>
              </a:spcBef>
            </a:pPr>
            <a:r>
              <a:rPr lang="en-GB" sz="3600" b="1" dirty="0">
                <a:solidFill>
                  <a:srgbClr val="7F7F7F"/>
                </a:solidFill>
                <a:latin typeface="Tahoma" charset="0"/>
                <a:sym typeface="Tahoma" charset="0"/>
              </a:rPr>
              <a:t>Thank you for your attention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574" y="5127597"/>
            <a:ext cx="1730403" cy="173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654"/>
      </p:ext>
    </p:extLst>
  </p:cSld>
  <p:clrMapOvr>
    <a:masterClrMapping/>
  </p:clrMapOvr>
</p:sld>
</file>

<file path=ppt/theme/theme1.xml><?xml version="1.0" encoding="utf-8"?>
<a:theme xmlns:a="http://schemas.openxmlformats.org/drawingml/2006/main" name="ppt corpo">
  <a:themeElements>
    <a:clrScheme name="incibe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E73137"/>
      </a:accent1>
      <a:accent2>
        <a:srgbClr val="C5343A"/>
      </a:accent2>
      <a:accent3>
        <a:srgbClr val="8AD059"/>
      </a:accent3>
      <a:accent4>
        <a:srgbClr val="EBD000"/>
      </a:accent4>
      <a:accent5>
        <a:srgbClr val="F8DC00"/>
      </a:accent5>
      <a:accent6>
        <a:srgbClr val="009CD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S_PLL_Presentacion_extendida_ULE_v1_0.potx" id="{A04B8077-A9BE-49AA-AE55-EA6FC1C99D2C}" vid="{E2180ED5-67C8-4A5A-97FA-887F32D0F35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DES_ASL_Presentacion_seminario_INC_ULE_v1_0</Template>
  <TotalTime>2</TotalTime>
  <Words>461</Words>
  <Application>Microsoft Office PowerPoint</Application>
  <PresentationFormat>Presentación en pantalla (4:3)</PresentationFormat>
  <Paragraphs>65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Geneva</vt:lpstr>
      <vt:lpstr>Tahoma</vt:lpstr>
      <vt:lpstr>Trebuchet MS</vt:lpstr>
      <vt:lpstr>ppt corpo</vt:lpstr>
      <vt:lpstr>Title - For example: Phishing detection using Phishing kits</vt:lpstr>
      <vt:lpstr>Presentación de PowerPoint</vt:lpstr>
      <vt:lpstr>1. Introduction</vt:lpstr>
      <vt:lpstr>Presentación de PowerPoint</vt:lpstr>
      <vt:lpstr>2. Literature review</vt:lpstr>
      <vt:lpstr>3. Selected method 01: XXXX</vt:lpstr>
      <vt:lpstr>3. Selected method 02: YYYY</vt:lpstr>
      <vt:lpstr>3. …</vt:lpstr>
      <vt:lpstr>7. Conclusions</vt:lpstr>
      <vt:lpstr>8. References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VA_Template_Course_Project_Presentations</dc:title>
  <dc:creator>Eduardo Fidalgo Fernández</dc:creator>
  <cp:keywords>VA</cp:keywords>
  <cp:lastModifiedBy>EDUARDO FIDALGO FERNANDEZ</cp:lastModifiedBy>
  <cp:revision>826</cp:revision>
  <cp:lastPrinted>2017-01-11T09:40:40Z</cp:lastPrinted>
  <dcterms:created xsi:type="dcterms:W3CDTF">2016-05-17T14:50:09Z</dcterms:created>
  <dcterms:modified xsi:type="dcterms:W3CDTF">2025-02-08T18:31:07Z</dcterms:modified>
  <cp:category>EFF</cp:category>
</cp:coreProperties>
</file>