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83" r:id="rId3"/>
    <p:sldId id="348" r:id="rId4"/>
    <p:sldId id="403" r:id="rId5"/>
    <p:sldId id="318" r:id="rId6"/>
    <p:sldId id="411" r:id="rId7"/>
    <p:sldId id="414" r:id="rId8"/>
    <p:sldId id="405" r:id="rId9"/>
    <p:sldId id="409" r:id="rId10"/>
    <p:sldId id="412" r:id="rId11"/>
    <p:sldId id="413" r:id="rId12"/>
    <p:sldId id="415" r:id="rId13"/>
    <p:sldId id="416" r:id="rId14"/>
    <p:sldId id="383" r:id="rId15"/>
    <p:sldId id="404" r:id="rId16"/>
    <p:sldId id="287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055" autoAdjust="0"/>
    <p:restoredTop sz="87217" autoAdjust="0"/>
  </p:normalViewPr>
  <p:slideViewPr>
    <p:cSldViewPr snapToGrid="0" snapToObjects="1">
      <p:cViewPr varScale="1">
        <p:scale>
          <a:sx n="138" d="100"/>
          <a:sy n="138" d="100"/>
        </p:scale>
        <p:origin x="2352" y="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04/04/2026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04/04/2026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Morado -&gt; Métodos Híbridos (Detección + Segmentación)</a:t>
            </a:r>
          </a:p>
          <a:p>
            <a:pPr marL="171450" indent="-171450">
              <a:buFontTx/>
              <a:buChar char="-"/>
            </a:pPr>
            <a:r>
              <a:rPr lang="es-ES" dirty="0"/>
              <a:t>Naranja -&gt; Calibración/</a:t>
            </a:r>
            <a:r>
              <a:rPr lang="es-ES" dirty="0" err="1"/>
              <a:t>Geomtería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98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Results and discussion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For example: What is phishing?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600" dirty="0">
                <a:latin typeface="Trebuchet MS" panose="020B0603020202020204" pitchFamily="34" charset="0"/>
              </a:rPr>
              <a:t>Definition.</a:t>
            </a:r>
            <a:endParaRPr lang="en-GB" sz="900" dirty="0"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Why is important to detect phishing?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27527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Trebuchet MS" panose="020B0603020202020204" pitchFamily="34" charset="0"/>
              </a:rPr>
              <a:t>Explanation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5" y="1570137"/>
            <a:ext cx="1984728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Attack vectors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B662F074-C17E-42BD-B66E-E66ED34B91F6}"/>
              </a:ext>
            </a:extLst>
          </p:cNvPr>
          <p:cNvGrpSpPr/>
          <p:nvPr/>
        </p:nvGrpSpPr>
        <p:grpSpPr>
          <a:xfrm>
            <a:off x="1010944" y="2119401"/>
            <a:ext cx="792340" cy="1317554"/>
            <a:chOff x="1451965" y="3000248"/>
            <a:chExt cx="792340" cy="1317554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B5C72196-3EC9-45F4-9E0C-8C040064C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1965" y="3536624"/>
              <a:ext cx="781178" cy="781178"/>
            </a:xfrm>
            <a:prstGeom prst="rect">
              <a:avLst/>
            </a:prstGeom>
          </p:spPr>
        </p:pic>
        <p:sp>
          <p:nvSpPr>
            <p:cNvPr id="11" name="Rectangle 29">
              <a:extLst>
                <a:ext uri="{FF2B5EF4-FFF2-40B4-BE49-F238E27FC236}">
                  <a16:creationId xmlns:a16="http://schemas.microsoft.com/office/drawing/2014/main" id="{957F48E7-11E5-4FA5-8281-C00641C482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7352" y="3000248"/>
              <a:ext cx="736953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FFC000"/>
                  </a:solidFill>
                  <a:latin typeface="Trebuchet MS" panose="020B0603020202020204" pitchFamily="34" charset="0"/>
                  <a:sym typeface="Tahoma Bold" charset="0"/>
                </a:rPr>
                <a:t>Email</a:t>
              </a:r>
              <a:endParaRPr lang="en-US" b="1" dirty="0">
                <a:solidFill>
                  <a:srgbClr val="FFC00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6C11CE61-3C5C-47BC-86FE-F2EF421C490F}"/>
              </a:ext>
            </a:extLst>
          </p:cNvPr>
          <p:cNvGrpSpPr/>
          <p:nvPr/>
        </p:nvGrpSpPr>
        <p:grpSpPr>
          <a:xfrm>
            <a:off x="4171890" y="2061244"/>
            <a:ext cx="1297781" cy="1452437"/>
            <a:chOff x="3882237" y="2865365"/>
            <a:chExt cx="1297781" cy="145243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6B760B2A-E784-4F31-BE7D-898CF673D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5728" y="3622782"/>
              <a:ext cx="695020" cy="695020"/>
            </a:xfrm>
            <a:prstGeom prst="rect">
              <a:avLst/>
            </a:prstGeom>
          </p:spPr>
        </p:pic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DF643521-0CF7-4826-AA80-39DA39D11DD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82237" y="2865365"/>
              <a:ext cx="1297781" cy="7253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  <a:latin typeface="Trebuchet MS" panose="020B0603020202020204" pitchFamily="34" charset="0"/>
                  <a:sym typeface="Tahoma Bold" charset="0"/>
                </a:rPr>
                <a:t>Instant</a:t>
              </a:r>
            </a:p>
            <a:p>
              <a:pPr algn="ctr"/>
              <a:r>
                <a:rPr lang="en-US" b="1" dirty="0">
                  <a:solidFill>
                    <a:srgbClr val="7030A0"/>
                  </a:solidFill>
                  <a:latin typeface="Trebuchet MS" panose="020B0603020202020204" pitchFamily="34" charset="0"/>
                  <a:sym typeface="Tahoma Bold" charset="0"/>
                </a:rPr>
                <a:t>messaging</a:t>
              </a:r>
              <a:endParaRPr lang="en-US" b="1" dirty="0">
                <a:solidFill>
                  <a:srgbClr val="7030A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6BC3B53F-C5A1-4032-B6B5-C473B96A9621}"/>
              </a:ext>
            </a:extLst>
          </p:cNvPr>
          <p:cNvGrpSpPr/>
          <p:nvPr/>
        </p:nvGrpSpPr>
        <p:grpSpPr>
          <a:xfrm>
            <a:off x="5867039" y="2239205"/>
            <a:ext cx="946006" cy="1274476"/>
            <a:chOff x="5525108" y="3028823"/>
            <a:chExt cx="946006" cy="1274476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CE408DA7-3E69-4DDD-B1FD-F4B793DF9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29329" y="3608278"/>
              <a:ext cx="695021" cy="695021"/>
            </a:xfrm>
            <a:prstGeom prst="rect">
              <a:avLst/>
            </a:prstGeom>
          </p:spPr>
        </p:pic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C9B50A1F-2F1E-4602-9716-8AD87BD376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525108" y="3028823"/>
              <a:ext cx="946006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chemeClr val="bg1">
                      <a:lumMod val="50000"/>
                    </a:schemeClr>
                  </a:solidFill>
                  <a:latin typeface="Trebuchet MS" panose="020B0603020202020204" pitchFamily="34" charset="0"/>
                  <a:sym typeface="Tahoma Bold" charset="0"/>
                </a:rPr>
                <a:t>Vishing</a:t>
              </a:r>
              <a:endParaRPr lang="en-US" b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4733B88-1BB5-47AD-B78E-B823C943364D}"/>
              </a:ext>
            </a:extLst>
          </p:cNvPr>
          <p:cNvGrpSpPr/>
          <p:nvPr/>
        </p:nvGrpSpPr>
        <p:grpSpPr>
          <a:xfrm>
            <a:off x="7392122" y="2277433"/>
            <a:ext cx="736953" cy="1236248"/>
            <a:chOff x="7001963" y="3038475"/>
            <a:chExt cx="736953" cy="1236248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B8B7AD61-E156-4C46-9050-C5EE6A5CE8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2930" y="3579703"/>
              <a:ext cx="695020" cy="695020"/>
            </a:xfrm>
            <a:prstGeom prst="rect">
              <a:avLst/>
            </a:prstGeom>
          </p:spPr>
        </p:pic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3E99EBD0-9176-4EC7-B559-5B06AD4FC2DF}"/>
                </a:ext>
              </a:extLst>
            </p:cNvPr>
            <p:cNvSpPr>
              <a:spLocks/>
            </p:cNvSpPr>
            <p:nvPr/>
          </p:nvSpPr>
          <p:spPr bwMode="auto">
            <a:xfrm>
              <a:off x="7001963" y="3038475"/>
              <a:ext cx="736953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0070C0"/>
                  </a:solidFill>
                  <a:latin typeface="Trebuchet MS" panose="020B0603020202020204" pitchFamily="34" charset="0"/>
                  <a:sym typeface="Tahoma Bold" charset="0"/>
                </a:rPr>
                <a:t>Wi-Fi</a:t>
              </a:r>
              <a:endParaRPr lang="en-US" b="1" dirty="0">
                <a:solidFill>
                  <a:srgbClr val="0070C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22B1D300-FF36-4D1F-91D3-DA872E9E889E}"/>
              </a:ext>
            </a:extLst>
          </p:cNvPr>
          <p:cNvGrpSpPr/>
          <p:nvPr/>
        </p:nvGrpSpPr>
        <p:grpSpPr>
          <a:xfrm>
            <a:off x="2635649" y="2123041"/>
            <a:ext cx="1078924" cy="1317554"/>
            <a:chOff x="2630768" y="3000248"/>
            <a:chExt cx="1078924" cy="1317554"/>
          </a:xfrm>
        </p:grpSpPr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3D7BEBA0-4048-4C14-8411-005573BC1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55969" y="3536624"/>
              <a:ext cx="781178" cy="781178"/>
            </a:xfrm>
            <a:prstGeom prst="rect">
              <a:avLst/>
            </a:prstGeom>
          </p:spPr>
        </p:pic>
        <p:sp>
          <p:nvSpPr>
            <p:cNvPr id="25" name="Rectangle 29">
              <a:extLst>
                <a:ext uri="{FF2B5EF4-FFF2-40B4-BE49-F238E27FC236}">
                  <a16:creationId xmlns:a16="http://schemas.microsoft.com/office/drawing/2014/main" id="{9683CA6B-FF53-40C3-AA8E-5EBC2BEF484F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0768" y="3000248"/>
              <a:ext cx="1078924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00B050"/>
                  </a:solidFill>
                  <a:latin typeface="Trebuchet MS" panose="020B0603020202020204" pitchFamily="34" charset="0"/>
                  <a:sym typeface="Tahoma Bold" charset="0"/>
                </a:rPr>
                <a:t>Smishing</a:t>
              </a:r>
              <a:endParaRPr lang="en-US" b="1" dirty="0">
                <a:solidFill>
                  <a:srgbClr val="00B05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pic>
        <p:nvPicPr>
          <p:cNvPr id="26" name="Imagen 25">
            <a:extLst>
              <a:ext uri="{FF2B5EF4-FFF2-40B4-BE49-F238E27FC236}">
                <a16:creationId xmlns:a16="http://schemas.microsoft.com/office/drawing/2014/main" id="{4A994537-493A-44A7-BD7A-B8125071B7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269" y="3832159"/>
            <a:ext cx="1920820" cy="129871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B9778695-37B1-45C4-83ED-5CA3B793B8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91127" y="3832159"/>
            <a:ext cx="1724780" cy="1298718"/>
          </a:xfrm>
          <a:prstGeom prst="rect">
            <a:avLst/>
          </a:prstGeom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E4B95E15-3418-49DD-91A9-F5D2D2F0863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8272"/>
          <a:stretch/>
        </p:blipFill>
        <p:spPr>
          <a:xfrm>
            <a:off x="5971260" y="3832159"/>
            <a:ext cx="1896239" cy="129871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/>
              <a:t>1</a:t>
            </a:r>
            <a:r>
              <a:rPr lang="en-GB" sz="2800" dirty="0"/>
              <a:t>. Introduction</a:t>
            </a: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 fontScale="90000"/>
          </a:bodyPr>
          <a:lstStyle/>
          <a:p>
            <a:pPr algn="l"/>
            <a:r>
              <a:rPr lang="en-GB" sz="2800" dirty="0"/>
              <a:t>2. Literature review (Una </a:t>
            </a:r>
            <a:r>
              <a:rPr lang="en-GB" sz="2800" dirty="0" err="1"/>
              <a:t>vez</a:t>
            </a:r>
            <a:r>
              <a:rPr lang="en-GB" sz="2800" dirty="0"/>
              <a:t> </a:t>
            </a:r>
            <a:r>
              <a:rPr lang="en-GB" sz="2800" dirty="0" err="1"/>
              <a:t>añadidos</a:t>
            </a:r>
            <a:r>
              <a:rPr lang="en-GB" sz="2800" dirty="0"/>
              <a:t> </a:t>
            </a:r>
            <a:r>
              <a:rPr lang="en-GB" sz="2800" dirty="0" err="1"/>
              <a:t>todos</a:t>
            </a:r>
            <a:r>
              <a:rPr lang="en-GB" sz="2800" dirty="0"/>
              <a:t> lo </a:t>
            </a:r>
            <a:r>
              <a:rPr lang="en-GB" sz="2800" dirty="0" err="1"/>
              <a:t>ajustamos</a:t>
            </a:r>
            <a:r>
              <a:rPr lang="en-GB" sz="2800" dirty="0"/>
              <a:t>)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B3AFAE-265D-4C6E-B580-8A6A7C527BB1}"/>
              </a:ext>
            </a:extLst>
          </p:cNvPr>
          <p:cNvGrpSpPr/>
          <p:nvPr/>
        </p:nvGrpSpPr>
        <p:grpSpPr>
          <a:xfrm>
            <a:off x="1021783" y="3032277"/>
            <a:ext cx="1676725" cy="1836445"/>
            <a:chOff x="1719783" y="3732939"/>
            <a:chExt cx="1676725" cy="1836445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7180B0AD-6593-415F-9B6D-15E2273B2827}"/>
                </a:ext>
              </a:extLst>
            </p:cNvPr>
            <p:cNvGrpSpPr/>
            <p:nvPr/>
          </p:nvGrpSpPr>
          <p:grpSpPr>
            <a:xfrm>
              <a:off x="2153648" y="3732939"/>
              <a:ext cx="1242860" cy="1717526"/>
              <a:chOff x="1860952" y="4649909"/>
              <a:chExt cx="1163643" cy="1770468"/>
            </a:xfrm>
          </p:grpSpPr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45A733E-B96C-4242-9ED5-74067C9B4313}"/>
                  </a:ext>
                </a:extLst>
              </p:cNvPr>
              <p:cNvSpPr txBox="1"/>
              <p:nvPr/>
            </p:nvSpPr>
            <p:spPr>
              <a:xfrm>
                <a:off x="1860952" y="4649909"/>
                <a:ext cx="890916" cy="380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b="1" dirty="0" err="1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rPr>
                  <a:t>Lists</a:t>
                </a:r>
                <a:endParaRPr lang="es-ES" sz="1800" b="1" dirty="0">
                  <a:solidFill>
                    <a:srgbClr val="002060"/>
                  </a:solidFill>
                  <a:latin typeface="Trebuchet MS" panose="020B0603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39DDF6E7-F022-4E3A-B66F-B960B4B660AF}"/>
                  </a:ext>
                </a:extLst>
              </p:cNvPr>
              <p:cNvGrpSpPr/>
              <p:nvPr/>
            </p:nvGrpSpPr>
            <p:grpSpPr>
              <a:xfrm>
                <a:off x="1975435" y="5383070"/>
                <a:ext cx="1049160" cy="1037307"/>
                <a:chOff x="1975435" y="5383070"/>
                <a:chExt cx="1049160" cy="1037307"/>
              </a:xfrm>
            </p:grpSpPr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5B1B2DEE-AF2E-4B77-A680-329D4EC1B363}"/>
                    </a:ext>
                  </a:extLst>
                </p:cNvPr>
                <p:cNvSpPr txBox="1"/>
                <p:nvPr/>
              </p:nvSpPr>
              <p:spPr>
                <a:xfrm>
                  <a:off x="1975435" y="5383070"/>
                  <a:ext cx="1049160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</a:rPr>
                    <a:t>Whitelist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2792D8AC-0F15-479C-9B17-E91452DB2E67}"/>
                    </a:ext>
                  </a:extLst>
                </p:cNvPr>
                <p:cNvSpPr txBox="1"/>
                <p:nvPr/>
              </p:nvSpPr>
              <p:spPr>
                <a:xfrm>
                  <a:off x="1984894" y="6071387"/>
                  <a:ext cx="1030244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  <a:cs typeface="Arial" panose="020B0604020202020204" pitchFamily="34" charset="0"/>
                    </a:rPr>
                    <a:t>Blacklist</a:t>
                  </a:r>
                </a:p>
              </p:txBody>
            </p:sp>
          </p:grpSp>
        </p:grp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C4FC2959-91F3-4AEA-8B51-C5AF65F10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315085"/>
              <a:ext cx="577347" cy="57734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DEBF5DA-E621-45D6-B760-C89D7F3C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992036"/>
              <a:ext cx="577348" cy="57734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130A9BE-4670-442B-A8BB-E38CCAD44C4C}"/>
              </a:ext>
            </a:extLst>
          </p:cNvPr>
          <p:cNvGrpSpPr/>
          <p:nvPr/>
        </p:nvGrpSpPr>
        <p:grpSpPr>
          <a:xfrm>
            <a:off x="3675613" y="3052899"/>
            <a:ext cx="1250448" cy="1099433"/>
            <a:chOff x="9336835" y="3044017"/>
            <a:chExt cx="971149" cy="1099433"/>
          </a:xfrm>
        </p:grpSpPr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4F5255EA-8536-4C3C-BEDC-8986989C6F86}"/>
                </a:ext>
              </a:extLst>
            </p:cNvPr>
            <p:cNvSpPr txBox="1"/>
            <p:nvPr/>
          </p:nvSpPr>
          <p:spPr>
            <a:xfrm>
              <a:off x="9336835" y="3044017"/>
              <a:ext cx="9711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800" b="1" dirty="0" err="1">
                  <a:solidFill>
                    <a:srgbClr val="002060"/>
                  </a:solidFill>
                  <a:latin typeface="Trebuchet MS" panose="020B0603020202020204" pitchFamily="34" charset="0"/>
                </a:rPr>
                <a:t>Heuristics</a:t>
              </a:r>
              <a:endParaRPr lang="es-ES" sz="1800" b="1" dirty="0">
                <a:solidFill>
                  <a:srgbClr val="002060"/>
                </a:solidFill>
                <a:latin typeface="Trebuchet MS" panose="020B0603020202020204" pitchFamily="34" charset="0"/>
              </a:endParaRP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898C6ED8-79D2-4B23-AE54-50BC566B6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2733" y="3530628"/>
              <a:ext cx="612822" cy="612822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70DF145-9971-4A95-BD69-E4ABE0122FDF}"/>
              </a:ext>
            </a:extLst>
          </p:cNvPr>
          <p:cNvSpPr txBox="1"/>
          <p:nvPr/>
        </p:nvSpPr>
        <p:spPr>
          <a:xfrm>
            <a:off x="2467255" y="1643907"/>
            <a:ext cx="3756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>
                <a:solidFill>
                  <a:srgbClr val="002060"/>
                </a:solidFill>
                <a:latin typeface="Trebuchet MS" panose="020B0603020202020204" pitchFamily="34" charset="0"/>
                <a:cs typeface="Arial" panose="020B0604020202020204" pitchFamily="34" charset="0"/>
              </a:rPr>
              <a:t>Software detection</a:t>
            </a:r>
          </a:p>
        </p:txBody>
      </p: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A2F9FFB5-3F7F-4FFD-838D-87072AC8D5A9}"/>
              </a:ext>
            </a:extLst>
          </p:cNvPr>
          <p:cNvCxnSpPr>
            <a:cxnSpLocks/>
          </p:cNvCxnSpPr>
          <p:nvPr/>
        </p:nvCxnSpPr>
        <p:spPr>
          <a:xfrm>
            <a:off x="1953459" y="2375728"/>
            <a:ext cx="5260896" cy="540161"/>
          </a:xfrm>
          <a:prstGeom prst="bentConnector3">
            <a:avLst>
              <a:gd name="adj1" fmla="val 9997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: angular 25">
            <a:extLst>
              <a:ext uri="{FF2B5EF4-FFF2-40B4-BE49-F238E27FC236}">
                <a16:creationId xmlns:a16="http://schemas.microsoft.com/office/drawing/2014/main" id="{8211793F-DA4A-4B2D-BC5F-E86074F8E3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3459" y="2375255"/>
            <a:ext cx="3756010" cy="4782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71700A71-0659-4F8D-A60C-AD26F7DCF41A}"/>
              </a:ext>
            </a:extLst>
          </p:cNvPr>
          <p:cNvCxnSpPr>
            <a:cxnSpLocks/>
          </p:cNvCxnSpPr>
          <p:nvPr/>
        </p:nvCxnSpPr>
        <p:spPr>
          <a:xfrm>
            <a:off x="4291978" y="2389523"/>
            <a:ext cx="0" cy="5323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CDFAFAA-759D-4FEE-B66E-32C81FDF4CFF}"/>
              </a:ext>
            </a:extLst>
          </p:cNvPr>
          <p:cNvSpPr/>
          <p:nvPr/>
        </p:nvSpPr>
        <p:spPr>
          <a:xfrm>
            <a:off x="5555754" y="2583508"/>
            <a:ext cx="2924152" cy="3883967"/>
          </a:xfrm>
          <a:prstGeom prst="rect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779138B-8C20-4222-8245-C9BD0E7095A5}"/>
              </a:ext>
            </a:extLst>
          </p:cNvPr>
          <p:cNvGrpSpPr/>
          <p:nvPr/>
        </p:nvGrpSpPr>
        <p:grpSpPr>
          <a:xfrm>
            <a:off x="5695920" y="3001388"/>
            <a:ext cx="2643816" cy="3171394"/>
            <a:chOff x="5695920" y="3001388"/>
            <a:chExt cx="2643816" cy="317139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2D63005F-0EC0-4A87-B885-1CDC093FF0C6}"/>
                </a:ext>
              </a:extLst>
            </p:cNvPr>
            <p:cNvGrpSpPr/>
            <p:nvPr/>
          </p:nvGrpSpPr>
          <p:grpSpPr>
            <a:xfrm>
              <a:off x="5695920" y="3001388"/>
              <a:ext cx="2643816" cy="2538186"/>
              <a:chOff x="6330049" y="3030664"/>
              <a:chExt cx="2643816" cy="2538186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E7AA841-1355-4980-A72A-A7D4504CA693}"/>
                  </a:ext>
                </a:extLst>
              </p:cNvPr>
              <p:cNvGrpSpPr/>
              <p:nvPr/>
            </p:nvGrpSpPr>
            <p:grpSpPr>
              <a:xfrm>
                <a:off x="6330049" y="3030664"/>
                <a:ext cx="2643816" cy="1900689"/>
                <a:chOff x="2661345" y="2159288"/>
                <a:chExt cx="2476870" cy="1827414"/>
              </a:xfrm>
            </p:grpSpPr>
            <p:sp>
              <p:nvSpPr>
                <p:cNvPr id="7" name="CuadroTexto 6">
                  <a:extLst>
                    <a:ext uri="{FF2B5EF4-FFF2-40B4-BE49-F238E27FC236}">
                      <a16:creationId xmlns:a16="http://schemas.microsoft.com/office/drawing/2014/main" id="{CE8E6761-5A9C-4D71-8042-7BFDCA018672}"/>
                    </a:ext>
                  </a:extLst>
                </p:cNvPr>
                <p:cNvSpPr txBox="1"/>
                <p:nvPr/>
              </p:nvSpPr>
              <p:spPr>
                <a:xfrm>
                  <a:off x="2661345" y="2159288"/>
                  <a:ext cx="2476870" cy="355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800" b="1" dirty="0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Artificial </a:t>
                  </a:r>
                  <a:r>
                    <a:rPr lang="es-ES" sz="1800" b="1" dirty="0" err="1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Intelligence</a:t>
                  </a:r>
                  <a:endParaRPr lang="es-ES" sz="1800" b="1" dirty="0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8" name="Grupo 7">
                  <a:extLst>
                    <a:ext uri="{FF2B5EF4-FFF2-40B4-BE49-F238E27FC236}">
                      <a16:creationId xmlns:a16="http://schemas.microsoft.com/office/drawing/2014/main" id="{6BED224B-C832-4538-B134-ED1F64EED682}"/>
                    </a:ext>
                  </a:extLst>
                </p:cNvPr>
                <p:cNvGrpSpPr/>
                <p:nvPr/>
              </p:nvGrpSpPr>
              <p:grpSpPr>
                <a:xfrm>
                  <a:off x="3077355" y="2811272"/>
                  <a:ext cx="1778705" cy="1175430"/>
                  <a:chOff x="3077355" y="2811272"/>
                  <a:chExt cx="1778705" cy="1175430"/>
                </a:xfrm>
              </p:grpSpPr>
              <p:sp>
                <p:nvSpPr>
                  <p:cNvPr id="9" name="CuadroTexto 8">
                    <a:extLst>
                      <a:ext uri="{FF2B5EF4-FFF2-40B4-BE49-F238E27FC236}">
                        <a16:creationId xmlns:a16="http://schemas.microsoft.com/office/drawing/2014/main" id="{BEA50637-12DC-4CAC-AE3A-54D9D116F173}"/>
                      </a:ext>
                    </a:extLst>
                  </p:cNvPr>
                  <p:cNvSpPr txBox="1"/>
                  <p:nvPr/>
                </p:nvSpPr>
                <p:spPr>
                  <a:xfrm>
                    <a:off x="3587392" y="3469536"/>
                    <a:ext cx="1268668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Content</a:t>
                    </a:r>
                  </a:p>
                </p:txBody>
              </p: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79A3BFD8-2BF6-416B-B806-B69576C3D1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00040" y="2875331"/>
                    <a:ext cx="748249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 err="1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URLs</a:t>
                    </a:r>
                    <a:endParaRPr lang="es-ES" dirty="0">
                      <a:latin typeface="Trebuchet MS" panose="020B0603020202020204" pitchFamily="34" charset="0"/>
                      <a:cs typeface="Arial" panose="020B0604020202020204" pitchFamily="34" charset="0"/>
                    </a:endParaRPr>
                  </a:p>
                </p:txBody>
              </p:sp>
              <p:pic>
                <p:nvPicPr>
                  <p:cNvPr id="11" name="Imagen 10">
                    <a:extLst>
                      <a:ext uri="{FF2B5EF4-FFF2-40B4-BE49-F238E27FC236}">
                        <a16:creationId xmlns:a16="http://schemas.microsoft.com/office/drawing/2014/main" id="{91F52B6E-23D2-4E92-8CE7-BE86F76839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077355" y="3397505"/>
                    <a:ext cx="589197" cy="589197"/>
                  </a:xfrm>
                  <a:prstGeom prst="rect">
                    <a:avLst/>
                  </a:prstGeom>
                </p:spPr>
              </p:pic>
              <p:pic>
                <p:nvPicPr>
                  <p:cNvPr id="12" name="Imagen 11">
                    <a:extLst>
                      <a:ext uri="{FF2B5EF4-FFF2-40B4-BE49-F238E27FC236}">
                        <a16:creationId xmlns:a16="http://schemas.microsoft.com/office/drawing/2014/main" id="{59C7D827-82BE-4697-8519-2CF7ED35AA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25661" y="2811272"/>
                    <a:ext cx="509332" cy="509330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41EAD90A-CEDE-4B25-AAC2-8A989C9D9EE6}"/>
                  </a:ext>
                </a:extLst>
              </p:cNvPr>
              <p:cNvSpPr txBox="1"/>
              <p:nvPr/>
            </p:nvSpPr>
            <p:spPr>
              <a:xfrm>
                <a:off x="7505171" y="5076650"/>
                <a:ext cx="8793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dirty="0">
                    <a:latin typeface="Trebuchet MS" panose="020B0603020202020204" pitchFamily="34" charset="0"/>
                    <a:cs typeface="Arial" panose="020B0604020202020204" pitchFamily="34" charset="0"/>
                  </a:rPr>
                  <a:t>Visual</a:t>
                </a:r>
              </a:p>
            </p:txBody>
          </p:sp>
          <p:pic>
            <p:nvPicPr>
              <p:cNvPr id="31" name="Imagen 30">
                <a:extLst>
                  <a:ext uri="{FF2B5EF4-FFF2-40B4-BE49-F238E27FC236}">
                    <a16:creationId xmlns:a16="http://schemas.microsoft.com/office/drawing/2014/main" id="{99943494-5C8F-45C6-AC4B-6CD8E93CC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25661" y="5006272"/>
                <a:ext cx="577347" cy="562578"/>
              </a:xfrm>
              <a:prstGeom prst="rect">
                <a:avLst/>
              </a:prstGeom>
            </p:spPr>
          </p:pic>
        </p:grpSp>
        <p:pic>
          <p:nvPicPr>
            <p:cNvPr id="41" name="Imagen 40">
              <a:extLst>
                <a:ext uri="{FF2B5EF4-FFF2-40B4-BE49-F238E27FC236}">
                  <a16:creationId xmlns:a16="http://schemas.microsoft.com/office/drawing/2014/main" id="{639BFB31-94B9-4599-AE0E-BC2B1CC55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223265" y="5618280"/>
              <a:ext cx="554502" cy="554502"/>
            </a:xfrm>
            <a:prstGeom prst="rect">
              <a:avLst/>
            </a:prstGeom>
          </p:spPr>
        </p:pic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0B321083-8B9E-4E91-A00A-7DBD8D517E81}"/>
                </a:ext>
              </a:extLst>
            </p:cNvPr>
            <p:cNvSpPr txBox="1"/>
            <p:nvPr/>
          </p:nvSpPr>
          <p:spPr>
            <a:xfrm>
              <a:off x="6797081" y="5710865"/>
              <a:ext cx="1249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3</a:t>
              </a:r>
              <a:r>
                <a:rPr lang="es-ES" sz="1800" baseline="30000" dirty="0">
                  <a:latin typeface="Trebuchet MS" panose="020B0603020202020204" pitchFamily="34" charset="0"/>
                  <a:cs typeface="Arial" panose="020B0604020202020204" pitchFamily="34" charset="0"/>
                </a:rPr>
                <a:t>rd</a:t>
              </a:r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 </a:t>
              </a:r>
              <a:r>
                <a:rPr lang="es-ES" sz="1800" dirty="0" err="1">
                  <a:latin typeface="Trebuchet MS" panose="020B0603020202020204" pitchFamily="34" charset="0"/>
                  <a:cs typeface="Arial" panose="020B0604020202020204" pitchFamily="34" charset="0"/>
                </a:rPr>
                <a:t>party</a:t>
              </a:r>
              <a:endParaRPr lang="es-ES" sz="1800" dirty="0">
                <a:latin typeface="Trebuchet MS" panose="020B06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F6C6C6F5-6254-1148-A7BB-A1C030BB0646}"/>
              </a:ext>
            </a:extLst>
          </p:cNvPr>
          <p:cNvSpPr txBox="1">
            <a:spLocks/>
          </p:cNvSpPr>
          <p:nvPr/>
        </p:nvSpPr>
        <p:spPr>
          <a:xfrm>
            <a:off x="1091262" y="959882"/>
            <a:ext cx="6913398" cy="496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Trebuchet MS" panose="020B0603020202020204" pitchFamily="34" charset="0"/>
              </a:rPr>
              <a:t>Typically it is the ”state-of-the-art”. Just one slide containing a summary of the state of the art in this problem. A table summarizing multiple papers/results would be OK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18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(Jaime)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41422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/>
              <a:t>Main method categories: </a:t>
            </a:r>
            <a:r>
              <a:rPr lang="es-ES" sz="2100" b="1" dirty="0">
                <a:solidFill>
                  <a:schemeClr val="accent3">
                    <a:lumMod val="75000"/>
                  </a:schemeClr>
                </a:solidFill>
              </a:rPr>
              <a:t>Segmentation</a:t>
            </a:r>
            <a:r>
              <a:rPr lang="es-ES" sz="2000" dirty="0"/>
              <a:t>,</a:t>
            </a:r>
            <a:r>
              <a:rPr lang="es-E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1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Detection</a:t>
            </a:r>
            <a:r>
              <a:rPr lang="es-E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000" b="1" dirty="0"/>
              <a:t>and</a:t>
            </a:r>
            <a:r>
              <a:rPr lang="es-ES" sz="2000" dirty="0"/>
              <a:t> </a:t>
            </a:r>
            <a:r>
              <a:rPr lang="es-ES" sz="2100" b="1" dirty="0">
                <a:solidFill>
                  <a:schemeClr val="accent1">
                    <a:lumMod val="75000"/>
                  </a:schemeClr>
                </a:solidFill>
              </a:rPr>
              <a:t>Anomaly Detection</a:t>
            </a:r>
            <a:endParaRPr lang="es-ES" sz="2100" b="1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27" y="1964367"/>
            <a:ext cx="8497957" cy="3717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(Pablo)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41422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/>
              <a:t>Main method categories: </a:t>
            </a:r>
            <a:r>
              <a:rPr lang="es-ES" sz="2100" b="1" dirty="0">
                <a:solidFill>
                  <a:schemeClr val="accent3">
                    <a:lumMod val="75000"/>
                  </a:schemeClr>
                </a:solidFill>
              </a:rPr>
              <a:t>Segmentation</a:t>
            </a:r>
            <a:r>
              <a:rPr lang="es-ES" sz="2000" dirty="0"/>
              <a:t>,</a:t>
            </a:r>
            <a:r>
              <a:rPr lang="es-E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1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Detection</a:t>
            </a:r>
            <a:r>
              <a:rPr lang="es-E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000" b="1" dirty="0"/>
              <a:t>and</a:t>
            </a:r>
            <a:r>
              <a:rPr lang="es-ES" sz="2000" dirty="0"/>
              <a:t> </a:t>
            </a:r>
            <a:r>
              <a:rPr lang="es-ES" sz="2100" b="1" dirty="0">
                <a:solidFill>
                  <a:schemeClr val="accent1">
                    <a:lumMod val="75000"/>
                  </a:schemeClr>
                </a:solidFill>
              </a:rPr>
              <a:t>Anomaly Detection</a:t>
            </a:r>
            <a:endParaRPr lang="es-ES" sz="2100" b="1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2AFB3648-5E3E-D6B1-A84A-32FA8CFFE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1227" y="2552032"/>
            <a:ext cx="8497957" cy="254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01: XXXX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(Deep 02):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🔗</a:t>
            </a:r>
            <a:r>
              <a:rPr lang="es-ES" altLang="es-ES" sz="2000" dirty="0" err="1">
                <a:latin typeface="Arial" panose="020B0604020202020204" pitchFamily="34" charset="0"/>
              </a:rPr>
              <a:t>Detection</a:t>
            </a:r>
            <a:r>
              <a:rPr lang="es-ES" altLang="es-ES" sz="2000" dirty="0">
                <a:latin typeface="Arial" panose="020B0604020202020204" pitchFamily="34" charset="0"/>
              </a:rPr>
              <a:t> + </a:t>
            </a:r>
            <a:r>
              <a:rPr lang="es-ES" altLang="es-ES" sz="2000" dirty="0" err="1">
                <a:latin typeface="Arial" panose="020B0604020202020204" pitchFamily="34" charset="0"/>
              </a:rPr>
              <a:t>segmentation</a:t>
            </a:r>
            <a:r>
              <a:rPr lang="es-ES" altLang="es-ES" sz="2000" dirty="0">
                <a:latin typeface="Arial" panose="020B0604020202020204" pitchFamily="34" charset="0"/>
              </a:rPr>
              <a:t> pipeline (2-stage)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📝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Open-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vocabulary</a:t>
            </a:r>
            <a:endParaRPr lang="es-ES" altLang="es-ES" sz="20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📦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Object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detection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dirty="0"/>
              <a:t>🎯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Precise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segmentation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masks</a:t>
            </a:r>
            <a:endParaRPr lang="es-ES" altLang="es-ES" sz="20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dirty="0">
                <a:latin typeface="Arial" panose="020B0604020202020204" pitchFamily="34" charset="0"/>
              </a:rPr>
              <a:t> </a:t>
            </a:r>
            <a:r>
              <a:rPr lang="es-ES" dirty="0"/>
              <a:t>🚫</a:t>
            </a:r>
            <a:r>
              <a:rPr lang="es-ES" altLang="es-ES" sz="2000" dirty="0">
                <a:latin typeface="Arial" panose="020B0604020202020204" pitchFamily="34" charset="0"/>
              </a:rPr>
              <a:t>Zero-</a:t>
            </a:r>
            <a:r>
              <a:rPr lang="es-ES" altLang="es-ES" sz="2000" dirty="0" err="1">
                <a:latin typeface="Arial" panose="020B0604020202020204" pitchFamily="34" charset="0"/>
              </a:rPr>
              <a:t>shot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03: ZZZZ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Datasets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5000"/>
          </a:blip>
          <a:stretch>
            <a:fillRect/>
          </a:stretch>
        </p:blipFill>
        <p:spPr>
          <a:xfrm>
            <a:off x="2211552" y="-1273662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5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5000"/>
          </a:blip>
          <a:stretch>
            <a:fillRect/>
          </a:stretch>
        </p:blipFill>
        <p:spPr>
          <a:xfrm>
            <a:off x="41840" y="2209932"/>
            <a:ext cx="1811024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5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5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9B3B48B-9993-B496-C19C-444175ABBD00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5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5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5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486698" y="1416337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📦</a:t>
            </a:r>
            <a:r>
              <a:rPr lang="es-ES" sz="2000" dirty="0"/>
              <a:t>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</a:t>
            </a:r>
            <a:r>
              <a:rPr lang="es-ES" dirty="0"/>
              <a:t>🎯</a:t>
            </a:r>
            <a:r>
              <a:rPr lang="es-ES" sz="2000" dirty="0"/>
              <a:t>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</a:t>
            </a:r>
            <a:r>
              <a:rPr lang="es-ES" dirty="0"/>
              <a:t>📊</a:t>
            </a:r>
            <a:r>
              <a:rPr lang="es-ES" sz="2000" dirty="0"/>
              <a:t>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497001" y="283584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📈</a:t>
            </a:r>
            <a:r>
              <a:rPr lang="es-ES" sz="2000" dirty="0"/>
              <a:t>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dirty="0"/>
              <a:t>📏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457200" y="3802485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</a:t>
            </a:r>
            <a:r>
              <a:rPr lang="es-ES" dirty="0"/>
              <a:t>📉</a:t>
            </a:r>
            <a:r>
              <a:rPr lang="es-ES" sz="2000" dirty="0"/>
              <a:t> RMSE / MAE</a:t>
            </a:r>
          </a:p>
          <a:p>
            <a:pPr>
              <a:buNone/>
            </a:pPr>
            <a:r>
              <a:rPr lang="es-ES" sz="2000" dirty="0"/>
              <a:t>- </a:t>
            </a:r>
            <a:r>
              <a:rPr lang="es-ES" dirty="0"/>
              <a:t>📏</a:t>
            </a:r>
            <a:r>
              <a:rPr lang="es-ES" sz="2000" dirty="0"/>
              <a:t>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7. Conclusions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658CF425-7A7B-42AD-9FB2-F09E7D0442A3}"/>
              </a:ext>
            </a:extLst>
          </p:cNvPr>
          <p:cNvSpPr>
            <a:spLocks/>
          </p:cNvSpPr>
          <p:nvPr/>
        </p:nvSpPr>
        <p:spPr bwMode="auto">
          <a:xfrm>
            <a:off x="920750" y="1547444"/>
            <a:ext cx="7302500" cy="4253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best method is … because…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main drawback is…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performance decreases when..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Using method XX may be better than method YY in … circumstances 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implementation evaluated requires a GPU for….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8. 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b="0" dirty="0"/>
              <a:t>(</a:t>
            </a:r>
            <a:r>
              <a:rPr lang="en-AU" sz="1600" dirty="0"/>
              <a:t>Every paper cited in the previous slides needs to be referenced properly here)</a:t>
            </a:r>
            <a:endParaRPr lang="en-AU" sz="1200" dirty="0"/>
          </a:p>
          <a:p>
            <a:pPr marL="0" indent="0">
              <a:buNone/>
            </a:pPr>
            <a:r>
              <a:rPr lang="en-AU" sz="1200" b="0" dirty="0"/>
              <a:t>[1] Wang, K.; Belongie, S. Word spotting in the wild. In Proceedings of the 11th European Conference on Computer Vision (ECCV 2010), Heraklion, Greece, 5–11 September 2010; pp. 591–604.</a:t>
            </a:r>
          </a:p>
          <a:p>
            <a:pPr marL="0" indent="0">
              <a:buNone/>
            </a:pPr>
            <a:r>
              <a:rPr lang="en-AU" sz="1200" b="0" dirty="0"/>
              <a:t>[2] Karatzas, D.; Shafait, F.; Uchida, S.; Iwamura, M.; I Bigorda, L.G.; Mestre, S.R.; Mas, J.; Mota, D.F.; Almazan, J.A.; De Las Heras, L.P. ICDAR 2013 robust reading competition. In Proceedings of the 2013 12th International Conference on Document Analysis and Recognition, Washington, DC, USA, 25–28 August 2013; pp. 1484–1493.</a:t>
            </a:r>
          </a:p>
          <a:p>
            <a:pPr marL="0" indent="0">
              <a:buNone/>
            </a:pPr>
            <a:r>
              <a:rPr lang="en-AU" sz="1200" b="0" dirty="0"/>
              <a:t>[3] Karatzas, D.; Gomez-Bigorda, L.; Nicolaou, A.; Ghosh, S.; Bagdanov, A.; Iwamura, M.; Matas, J.; Neumann, L.; Chandrasekhar, V.R.; Lu, S.; et al. ICDAR 2015 competition on robust reading. In Proceedings of the 2015 13th International Conference on Document Analysis and Recognition (ICDAR), Tunis, Tunisia, 23–26 August 2015; pp. 1156–1160.</a:t>
            </a:r>
          </a:p>
          <a:p>
            <a:pPr marL="0" indent="0">
              <a:buNone/>
            </a:pPr>
            <a:r>
              <a:rPr lang="en-AU" sz="1200" b="0" dirty="0"/>
              <a:t>[4] Mishra, A.; </a:t>
            </a:r>
            <a:r>
              <a:rPr lang="en-AU" sz="1200" b="0" dirty="0" err="1"/>
              <a:t>Alahari</a:t>
            </a:r>
            <a:r>
              <a:rPr lang="en-AU" sz="1200" b="0" dirty="0"/>
              <a:t>, K.; Jawahar, C. Scene text recognition using higher order language priors. In Proceedings of the BMVC-British Machine Vision Conference 2012, Surrey, UK, 3–7 September 2012.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164</TotalTime>
  <Words>636</Words>
  <Application>Microsoft Office PowerPoint</Application>
  <PresentationFormat>Presentación en pantalla (4:3)</PresentationFormat>
  <Paragraphs>96</Paragraphs>
  <Slides>16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Arial</vt:lpstr>
      <vt:lpstr>Calibri</vt:lpstr>
      <vt:lpstr>Geneva</vt:lpstr>
      <vt:lpstr>Tahoma</vt:lpstr>
      <vt:lpstr>Trebuchet MS</vt:lpstr>
      <vt:lpstr>ppt corpo</vt:lpstr>
      <vt:lpstr>Presentación de PowerPoint</vt:lpstr>
      <vt:lpstr>Presentación de PowerPoint</vt:lpstr>
      <vt:lpstr>1. Introduction</vt:lpstr>
      <vt:lpstr>Presentación de PowerPoint</vt:lpstr>
      <vt:lpstr>2. Literature review (Una vez añadidos todos lo ajustamos)</vt:lpstr>
      <vt:lpstr>2. Literature review – Deep Learning (Jaime)</vt:lpstr>
      <vt:lpstr>2. Literature review – Deep Learning (Pablo)</vt:lpstr>
      <vt:lpstr>3. Selected method 01: XXXX</vt:lpstr>
      <vt:lpstr>3. Selected method (Deep 02): Grounded-SAM</vt:lpstr>
      <vt:lpstr>3. Selected method 03: ZZZZ</vt:lpstr>
      <vt:lpstr>3. Selected method 04: WWWW</vt:lpstr>
      <vt:lpstr>4. Datasets </vt:lpstr>
      <vt:lpstr>5. Performance Metrics</vt:lpstr>
      <vt:lpstr>7. Conclusions</vt:lpstr>
      <vt:lpstr>8. References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Pablo Ruíz Morán</cp:lastModifiedBy>
  <cp:revision>829</cp:revision>
  <cp:lastPrinted>2017-01-11T09:40:40Z</cp:lastPrinted>
  <dcterms:created xsi:type="dcterms:W3CDTF">2016-05-17T14:50:09Z</dcterms:created>
  <dcterms:modified xsi:type="dcterms:W3CDTF">2026-04-04T21:37:54Z</dcterms:modified>
  <cp:category>EFF</cp:category>
</cp:coreProperties>
</file>