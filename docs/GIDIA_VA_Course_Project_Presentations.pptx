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7" r:id="rId2"/>
    <p:sldId id="283" r:id="rId3"/>
    <p:sldId id="348" r:id="rId4"/>
    <p:sldId id="403" r:id="rId5"/>
    <p:sldId id="414" r:id="rId6"/>
    <p:sldId id="411" r:id="rId7"/>
    <p:sldId id="420" r:id="rId8"/>
    <p:sldId id="421" r:id="rId9"/>
    <p:sldId id="409" r:id="rId10"/>
    <p:sldId id="405" r:id="rId11"/>
    <p:sldId id="412" r:id="rId12"/>
    <p:sldId id="413" r:id="rId13"/>
    <p:sldId id="415" r:id="rId14"/>
    <p:sldId id="416" r:id="rId15"/>
    <p:sldId id="383" r:id="rId16"/>
    <p:sldId id="287" r:id="rId17"/>
    <p:sldId id="404" r:id="rId18"/>
    <p:sldId id="417" r:id="rId19"/>
    <p:sldId id="419" r:id="rId20"/>
    <p:sldId id="422" r:id="rId21"/>
    <p:sldId id="423" r:id="rId22"/>
    <p:sldId id="424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duardo Fidalgo Fernández" initials="EFF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405"/>
    <a:srgbClr val="DA7D00"/>
    <a:srgbClr val="B46700"/>
    <a:srgbClr val="E731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265" autoAdjust="0"/>
    <p:restoredTop sz="87217" autoAdjust="0"/>
  </p:normalViewPr>
  <p:slideViewPr>
    <p:cSldViewPr snapToGrid="0" snapToObjects="1">
      <p:cViewPr varScale="1">
        <p:scale>
          <a:sx n="72" d="100"/>
          <a:sy n="72" d="100"/>
        </p:scale>
        <p:origin x="1181" y="6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56" d="100"/>
          <a:sy n="56" d="100"/>
        </p:scale>
        <p:origin x="258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DD89B-4A46-4028-8866-1E86EFBC0DEE}" type="datetimeFigureOut">
              <a:rPr lang="es-ES" smtClean="0"/>
              <a:t>07/04/2026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63320-C517-4111-B5EF-92285AC8AC4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52898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EA62F-3719-438F-A310-6434B1FA2AEA}" type="datetimeFigureOut">
              <a:rPr lang="es-ES" smtClean="0"/>
              <a:t>07/04/2026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D135E5-457A-4183-A722-09BD01DC125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97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9982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52293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3E4B4-2AD9-5E21-26AB-66ABCDF3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DBB4248-D368-6261-88B3-E392ADDA0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4BD80B-23D5-11C7-01A2-C039937E8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570D81-D34D-8768-2617-AEB56BA0BB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257812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8BE88-AC6E-27BA-41D1-018915484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DEDD5A2-70F8-C098-864B-CC56B40F4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ED028F-4A11-594A-446B-33F3871CB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5C3057B-0C6F-1BE7-8F94-67E2D8ECD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413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002A0-B535-68A6-C4D8-9F6DDE336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4DF22F0-3C6C-D102-66FC-B67EF26AC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72AA00-98CC-6D28-C9F8-4C71803B85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44DE488-AE1E-F107-31AA-D7DECD7149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84967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90415-2139-D218-B58C-89276DD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7DF7D6B-154E-2130-B797-B060F06C5A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5C60EB-8640-2E93-17D8-90A883E96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00B5ACC-464F-C319-B8C2-29E940E1D6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95774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77ABA-3E86-EECD-401B-31AADFCEC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EA23A6-7687-F950-AF86-7BF998D2A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406A04D-79C9-0FE3-EAAE-A7CC777AC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 err="1"/>
              <a:t>Grounding</a:t>
            </a:r>
            <a:r>
              <a:rPr lang="es-ES" dirty="0"/>
              <a:t> DINO -&gt; </a:t>
            </a:r>
            <a:r>
              <a:rPr lang="es-ES" dirty="0" err="1"/>
              <a:t>Object</a:t>
            </a:r>
            <a:r>
              <a:rPr lang="es-ES" dirty="0"/>
              <a:t> </a:t>
            </a:r>
            <a:r>
              <a:rPr lang="es-ES" dirty="0" err="1"/>
              <a:t>Detection</a:t>
            </a:r>
            <a:endParaRPr lang="es-ES" dirty="0"/>
          </a:p>
          <a:p>
            <a:pPr marL="171450" indent="-171450">
              <a:buFontTx/>
              <a:buChar char="-"/>
            </a:pPr>
            <a:r>
              <a:rPr lang="es-ES" dirty="0"/>
              <a:t>SAM -&gt; precise </a:t>
            </a:r>
            <a:r>
              <a:rPr lang="es-ES" dirty="0" err="1"/>
              <a:t>segmentation</a:t>
            </a:r>
            <a:r>
              <a:rPr lang="es-ES" dirty="0"/>
              <a:t> </a:t>
            </a:r>
            <a:r>
              <a:rPr lang="es-ES" dirty="0" err="1"/>
              <a:t>masks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09B82A-7C39-755B-1996-4031C35D32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2198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794766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1021F-9291-8AA6-C05A-67104B6A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51BB37-2B1A-C638-B349-69AD65095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353F086-08B1-CA1E-4955-6981BAE45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A049D-3266-6C40-425A-8859D057F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17464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5DE2-E161-A922-A53A-2BBB2C0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E6B9E1-9A9B-EEAE-4A29-FF03737F5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0F7D8E4-E731-10BA-F9FD-DAB94C627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9D92C2-E9A9-0745-CAD2-7BBED785EA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307711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270A-DA4B-D6B3-1A4F-AC85BE5F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00F5546-FA97-3766-B1FC-A47DE9795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D4517E9-EA07-54A2-DBB7-3635C5A64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74EE48-B9C3-3420-C006-3474E81ED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215935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E4D33-155B-BD0B-9082-931E380F7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2CE4934-B702-5646-10D4-1D649A658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8B3B6D4-DA43-3FB4-35B2-4951DB410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FF2683-54CE-3710-F794-F81D49D4B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234443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566987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653252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0D285-10E2-9119-E602-49B3A21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DC83E1-DBB7-D310-57FC-69C9B3DFE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A9754C-6E69-7AF6-F056-E7B1ACAE6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C3B433-C701-2D43-B964-72586B3E81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03125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6F89F-82DF-7B87-14A5-74E9461CE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ECC67E-3429-8BF3-1853-63448974E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DDB763E-8A4A-AC8E-7230-20A762155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48D358-73A8-C199-664A-B3BA6F742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18765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1D50D-D9D7-EF81-5719-A09A8D1F3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ABA6A81-507D-AA60-095A-8E15DF482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4C2C0F0-11BD-4A42-2B4A-6240025F49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E297D48-FFD1-4C5F-376B-8D4EFEE57B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20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482606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79EFA-8E68-F32C-4348-1DA1F77B5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F3A8B35-C4F6-646B-9DCF-A4E0923CD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B07C582-577C-85AC-9AFF-9D49B4C98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72B87D6-376A-5A53-0AED-22DFB3CB96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21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76220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196EA-6CBB-F5BE-FFE1-721D41F1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B2B8191-2AE9-21A4-347A-30E482FA3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48BD5E4-8FCD-DB22-6EED-EC5B84D5A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5C5741-6F0C-65FB-17AF-532E0311EC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22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074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987694" y="995667"/>
            <a:ext cx="7772400" cy="1470025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028" y="5986914"/>
            <a:ext cx="1271065" cy="69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42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sp>
        <p:nvSpPr>
          <p:cNvPr id="16" name="Slide Number Placeholder 5"/>
          <p:cNvSpPr txBox="1">
            <a:spLocks/>
          </p:cNvSpPr>
          <p:nvPr userDrawn="1"/>
        </p:nvSpPr>
        <p:spPr>
          <a:xfrm>
            <a:off x="8542616" y="12700"/>
            <a:ext cx="601384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9CD5851-AB72-2A4E-BF39-9AE9062A8BE5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42616" y="0"/>
            <a:ext cx="601384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7DD67960-623A-4448-9D8E-D71BF77CB3CA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52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87" name="Oval 7"/>
          <p:cNvSpPr/>
          <p:nvPr userDrawn="1"/>
        </p:nvSpPr>
        <p:spPr>
          <a:xfrm>
            <a:off x="1711340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Oval 7"/>
          <p:cNvSpPr/>
          <p:nvPr userDrawn="1"/>
        </p:nvSpPr>
        <p:spPr>
          <a:xfrm>
            <a:off x="1820185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7"/>
          <p:cNvSpPr/>
          <p:nvPr userDrawn="1"/>
        </p:nvSpPr>
        <p:spPr>
          <a:xfrm>
            <a:off x="1927687" y="6513331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7"/>
          <p:cNvSpPr/>
          <p:nvPr userDrawn="1"/>
        </p:nvSpPr>
        <p:spPr>
          <a:xfrm>
            <a:off x="2036532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7"/>
          <p:cNvSpPr/>
          <p:nvPr userDrawn="1"/>
        </p:nvSpPr>
        <p:spPr>
          <a:xfrm>
            <a:off x="2146069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Oval 7"/>
          <p:cNvSpPr/>
          <p:nvPr userDrawn="1"/>
        </p:nvSpPr>
        <p:spPr>
          <a:xfrm>
            <a:off x="2254914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pic>
        <p:nvPicPr>
          <p:cNvPr id="14" name="Imagen 13" descr="INCIBE_logo.pn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00558" y="6469892"/>
            <a:ext cx="588999" cy="16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02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tipo INCIBE" title="Logotipo INCIBE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4750" y="5248133"/>
            <a:ext cx="2304000" cy="543685"/>
          </a:xfrm>
          <a:prstGeom prst="rect">
            <a:avLst/>
          </a:prstGeom>
        </p:spPr>
      </p:pic>
      <p:sp>
        <p:nvSpPr>
          <p:cNvPr id="5" name="TextBox 4"/>
          <p:cNvSpPr txBox="1"/>
          <p:nvPr userDrawn="1"/>
        </p:nvSpPr>
        <p:spPr>
          <a:xfrm>
            <a:off x="2288357" y="3098422"/>
            <a:ext cx="4579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E73137"/>
                </a:solidFill>
              </a:rPr>
              <a:t>Gracias </a:t>
            </a:r>
            <a:r>
              <a:rPr lang="en-US" sz="3600" dirty="0" err="1">
                <a:solidFill>
                  <a:srgbClr val="E73137"/>
                </a:solidFill>
              </a:rPr>
              <a:t>por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su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atención</a:t>
            </a:r>
            <a:endParaRPr lang="en-US" sz="3600" dirty="0">
              <a:solidFill>
                <a:srgbClr val="E73137"/>
              </a:solidFill>
            </a:endParaRPr>
          </a:p>
        </p:txBody>
      </p:sp>
      <p:pic>
        <p:nvPicPr>
          <p:cNvPr id="6" name="5 Imagen" descr="Logotipo Ministerio de Industria, Energía y Turismo" title="Logotipo Ministerio de Industria, Energía y Turismo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76325" y="5234606"/>
            <a:ext cx="2024063" cy="557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6645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286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60" r:id="rId4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1638" y="895149"/>
            <a:ext cx="8564786" cy="2423891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  <a:latin typeface="Trebuchet MS" panose="020B0603020202020204" pitchFamily="34" charset="0"/>
              </a:rPr>
              <a:t>Detection, Segmentation and Calibration of Rubber Strips</a:t>
            </a: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3403600" y="3319040"/>
            <a:ext cx="5343794" cy="736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dirty="0">
                <a:solidFill>
                  <a:srgbClr val="FF0000"/>
                </a:solidFill>
              </a:rPr>
              <a:t>Computer Vision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5251466" y="3774502"/>
            <a:ext cx="3492374" cy="16010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457200" indent="-457200" algn="l" defTabSz="457200" rtl="0" eaLnBrk="1" latinLnBrk="0" hangingPunct="1">
              <a:spcBef>
                <a:spcPct val="20000"/>
              </a:spcBef>
              <a:buFont typeface="+mj-lt"/>
              <a:buAutoNum type="arabicPeriod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Jaime Alvarado Fernández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David Morán </a:t>
            </a:r>
            <a:r>
              <a:rPr lang="en-GB" sz="1200" dirty="0" err="1">
                <a:solidFill>
                  <a:schemeClr val="bg1">
                    <a:lumMod val="75000"/>
                  </a:schemeClr>
                </a:solidFill>
              </a:rPr>
              <a:t>Gorgojo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Pablo Ruíz Morán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Miguel Sánchez Rodríguez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15/03/2026</a:t>
            </a: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00" y="5052933"/>
            <a:ext cx="1819835" cy="181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22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711200" y="566648"/>
            <a:ext cx="500795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311276" y="1709648"/>
            <a:ext cx="7121524" cy="38582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Introduction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Literature review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Selected method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Datasets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Performance metrics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Conclusions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973021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29"/>
          <p:cNvSpPr>
            <a:spLocks/>
          </p:cNvSpPr>
          <p:nvPr/>
        </p:nvSpPr>
        <p:spPr bwMode="auto">
          <a:xfrm>
            <a:off x="910871" y="1206787"/>
            <a:ext cx="478654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the problem?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88" name="Title 1"/>
          <p:cNvSpPr>
            <a:spLocks noGrp="1"/>
          </p:cNvSpPr>
          <p:nvPr>
            <p:ph type="title"/>
          </p:nvPr>
        </p:nvSpPr>
        <p:spPr>
          <a:xfrm>
            <a:off x="457200" y="344978"/>
            <a:ext cx="7302500" cy="779794"/>
          </a:xfrm>
        </p:spPr>
        <p:txBody>
          <a:bodyPr>
            <a:normAutofit/>
          </a:bodyPr>
          <a:lstStyle/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2777849-8341-4340-A9FD-6211C0DC1D24}"/>
              </a:ext>
            </a:extLst>
          </p:cNvPr>
          <p:cNvSpPr txBox="1">
            <a:spLocks/>
          </p:cNvSpPr>
          <p:nvPr/>
        </p:nvSpPr>
        <p:spPr>
          <a:xfrm>
            <a:off x="1434904" y="1749712"/>
            <a:ext cx="6913397" cy="7459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latin typeface="Trebuchet MS" panose="020B0603020202020204" pitchFamily="34" charset="0"/>
              </a:rPr>
              <a:t>Detection</a:t>
            </a:r>
            <a:r>
              <a:rPr lang="en-US" dirty="0">
                <a:latin typeface="Trebuchet MS" panose="020B0603020202020204" pitchFamily="34" charset="0"/>
              </a:rPr>
              <a:t>, </a:t>
            </a:r>
            <a:r>
              <a:rPr lang="en-US" b="1" dirty="0">
                <a:latin typeface="Trebuchet MS" panose="020B0603020202020204" pitchFamily="34" charset="0"/>
              </a:rPr>
              <a:t>segmentation</a:t>
            </a:r>
            <a:r>
              <a:rPr lang="en-US" dirty="0">
                <a:latin typeface="Trebuchet MS" panose="020B0603020202020204" pitchFamily="34" charset="0"/>
              </a:rPr>
              <a:t> and </a:t>
            </a:r>
            <a:r>
              <a:rPr lang="en-US" b="1" dirty="0">
                <a:latin typeface="Trebuchet MS" panose="020B0603020202020204" pitchFamily="34" charset="0"/>
              </a:rPr>
              <a:t>distance estimation </a:t>
            </a:r>
            <a:r>
              <a:rPr lang="en-US" dirty="0">
                <a:latin typeface="Trebuchet MS" panose="020B0603020202020204" pitchFamily="34" charset="0"/>
              </a:rPr>
              <a:t>of rubber strips from </a:t>
            </a:r>
            <a:r>
              <a:rPr lang="en-US" i="1" dirty="0">
                <a:solidFill>
                  <a:srgbClr val="FF0000"/>
                </a:solidFill>
                <a:latin typeface="Trebuchet MS" panose="020B0603020202020204" pitchFamily="34" charset="0"/>
              </a:rPr>
              <a:t>smartphone images</a:t>
            </a:r>
            <a:endParaRPr lang="en-GB" sz="1000" i="1" dirty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4" name="Rectangle 29">
            <a:extLst>
              <a:ext uri="{FF2B5EF4-FFF2-40B4-BE49-F238E27FC236}">
                <a16:creationId xmlns:a16="http://schemas.microsoft.com/office/drawing/2014/main" id="{1BB6DED6-A609-4E6A-A08F-CE8734D0EE63}"/>
              </a:ext>
            </a:extLst>
          </p:cNvPr>
          <p:cNvSpPr>
            <a:spLocks/>
          </p:cNvSpPr>
          <p:nvPr/>
        </p:nvSpPr>
        <p:spPr bwMode="auto">
          <a:xfrm>
            <a:off x="910871" y="2752769"/>
            <a:ext cx="445170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it challenging?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8634DC9-A463-4D2E-81FD-B18665B84695}"/>
              </a:ext>
            </a:extLst>
          </p:cNvPr>
          <p:cNvSpPr txBox="1">
            <a:spLocks/>
          </p:cNvSpPr>
          <p:nvPr/>
        </p:nvSpPr>
        <p:spPr>
          <a:xfrm>
            <a:off x="1434904" y="3324224"/>
            <a:ext cx="6913398" cy="12477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Real-world smartphone images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Precise distance estimation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Perspective, noise, variability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/>
            <a:r>
              <a:rPr lang="es-ES" altLang="es-E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  <a:r>
              <a:rPr lang="es-ES" alt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Classical</a:t>
            </a:r>
            <a:r>
              <a:rPr lang="es-ES" altLang="es-ES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Deep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5F4D240-A666-B060-7926-33ACC95C3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613" y="2752769"/>
            <a:ext cx="1804031" cy="181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11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9">
            <a:extLst>
              <a:ext uri="{FF2B5EF4-FFF2-40B4-BE49-F238E27FC236}">
                <a16:creationId xmlns:a16="http://schemas.microsoft.com/office/drawing/2014/main" id="{EDE23C0F-F9F8-43AD-A256-B477D11D6111}"/>
              </a:ext>
            </a:extLst>
          </p:cNvPr>
          <p:cNvSpPr>
            <a:spLocks/>
          </p:cNvSpPr>
          <p:nvPr/>
        </p:nvSpPr>
        <p:spPr bwMode="auto">
          <a:xfrm>
            <a:off x="855314" y="1360587"/>
            <a:ext cx="268671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Main approaches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7D829BE-3474-4D82-BCAD-D4054917C56B}"/>
              </a:ext>
            </a:extLst>
          </p:cNvPr>
          <p:cNvSpPr txBox="1">
            <a:spLocks/>
          </p:cNvSpPr>
          <p:nvPr/>
        </p:nvSpPr>
        <p:spPr>
          <a:xfrm>
            <a:off x="457200" y="344978"/>
            <a:ext cx="7302500" cy="779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Introduction:</a:t>
            </a:r>
            <a:r>
              <a:rPr lang="en-GB" sz="2800" dirty="0"/>
              <a:t> </a:t>
            </a:r>
            <a:r>
              <a:rPr lang="en-GB" sz="2800" b="1" i="1" dirty="0"/>
              <a:t>State of the art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583089D-923E-3164-3740-208DFD3D09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789" b="12342"/>
          <a:stretch>
            <a:fillRect/>
          </a:stretch>
        </p:blipFill>
        <p:spPr>
          <a:xfrm>
            <a:off x="2785730" y="3154290"/>
            <a:ext cx="6358270" cy="3173562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6EFA760-A147-EC20-DAA4-501D805D6A9C}"/>
              </a:ext>
            </a:extLst>
          </p:cNvPr>
          <p:cNvSpPr txBox="1">
            <a:spLocks/>
          </p:cNvSpPr>
          <p:nvPr/>
        </p:nvSpPr>
        <p:spPr>
          <a:xfrm>
            <a:off x="846302" y="1892212"/>
            <a:ext cx="6913398" cy="2736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🟢 </a:t>
            </a:r>
            <a:r>
              <a:rPr lang="en-US" b="1" i="1" dirty="0">
                <a:latin typeface="Trebuchet MS" panose="020B0603020202020204" pitchFamily="34" charset="0"/>
              </a:rPr>
              <a:t>Segmentation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🔵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🔴 </a:t>
            </a:r>
            <a:r>
              <a:rPr lang="en-US" b="1" i="1" dirty="0">
                <a:latin typeface="Trebuchet MS" panose="020B0603020202020204" pitchFamily="34" charset="0"/>
              </a:rPr>
              <a:t>Anomaly</a:t>
            </a:r>
            <a:r>
              <a:rPr lang="en-US" dirty="0"/>
              <a:t>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r>
              <a:rPr lang="en-US" dirty="0"/>
              <a:t>  </a:t>
            </a: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🟠 </a:t>
            </a:r>
            <a:r>
              <a:rPr lang="en-US" b="1" i="1" dirty="0">
                <a:latin typeface="Trebuchet MS" panose="020B0603020202020204" pitchFamily="34" charset="0"/>
              </a:rPr>
              <a:t>Calibration</a:t>
            </a:r>
            <a:endParaRPr lang="en-US" sz="1600" b="1" i="1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83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16D71-5974-0503-CBCB-9203F054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E8495-DCDD-44BF-A761-F1C09DFC7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2998411-BBE1-1077-A886-49B61CE6AF9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F2551BD6-4841-68EE-055C-26F68C85CC3F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E4014664-BCB9-9774-26A6-1444E36CBB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599" y="164805"/>
            <a:ext cx="3416595" cy="3416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9EA1990-2F13-A99A-49E8-620D246CD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916" y="2014854"/>
            <a:ext cx="8676167" cy="3352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304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D5ED9-EB87-B90D-5D58-70046D4E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97436-644A-B3C0-DD2C-E40DACB7F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605F0CC-5DC1-3756-9F9B-80A99BA944B6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DF9936A-29CE-83FA-0C0E-46FC68337743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FBC620A9-8D70-1904-4CA7-634361E353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84"/>
          <a:stretch>
            <a:fillRect/>
          </a:stretch>
        </p:blipFill>
        <p:spPr>
          <a:xfrm>
            <a:off x="260400" y="2066474"/>
            <a:ext cx="8497957" cy="3086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175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6C6E-AAD7-0BAD-FFFC-9F3863F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20EB4-D9FC-F989-9FB5-467A6C8FD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Classical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C99AEF1-E88B-6990-265C-51DB309527C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ABBE90FD-56C0-7A40-7A24-48DFBBFEF2E4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421C191-EC7F-2257-C952-51390A813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556" y="1753423"/>
            <a:ext cx="7062887" cy="4392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5256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B15CD-B685-484A-547C-1CC01ED5E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D90ED-19C6-BD26-1B0A-933CF8DC3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Classical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D0FE719-7BC9-781F-A616-EF8FD6F700C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711FA34E-F6F1-C340-0722-A6D32E3045AC}"/>
              </a:ext>
            </a:extLst>
          </p:cNvPr>
          <p:cNvSpPr txBox="1"/>
          <p:nvPr/>
        </p:nvSpPr>
        <p:spPr>
          <a:xfrm>
            <a:off x="423164" y="1271045"/>
            <a:ext cx="7331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latin typeface="Trebuchet MS" panose="020B0603020202020204" pitchFamily="34" charset="0"/>
              </a:rPr>
              <a:t>and </a:t>
            </a:r>
            <a:r>
              <a:rPr lang="es-ES" b="1" dirty="0" err="1">
                <a:solidFill>
                  <a:srgbClr val="FF9405"/>
                </a:solidFill>
                <a:latin typeface="Trebuchet MS" panose="020B0603020202020204" pitchFamily="34" charset="0"/>
              </a:rPr>
              <a:t>Calibracion</a:t>
            </a:r>
            <a:endParaRPr lang="es-ES" b="1" dirty="0">
              <a:solidFill>
                <a:srgbClr val="FF9405"/>
              </a:solidFill>
              <a:latin typeface="Trebuchet MS" panose="020B0603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D3A68D-BF50-5B55-DE72-53CA01F67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728" y="1640377"/>
            <a:ext cx="6302982" cy="514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600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586A0-698D-1681-4144-157F9E6AF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C4DDB-C69B-6D4C-6F64-0FD3B523A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(Deep 1): Grounded-SAM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CFC1F6C8-1188-3E0F-BB92-6639D9E2E29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DA4DB5B-7178-9422-2D2D-DE06F57C9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018" y="2134759"/>
            <a:ext cx="4965700" cy="4393185"/>
          </a:xfrm>
          <a:prstGeom prst="rect">
            <a:avLst/>
          </a:prstGeom>
        </p:spPr>
      </p:pic>
      <p:sp>
        <p:nvSpPr>
          <p:cNvPr id="3" name="Rectangle 9">
            <a:extLst>
              <a:ext uri="{FF2B5EF4-FFF2-40B4-BE49-F238E27FC236}">
                <a16:creationId xmlns:a16="http://schemas.microsoft.com/office/drawing/2014/main" id="{9432D02F-CFEC-0CCD-2E78-CC886AAA6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0871" y="1501092"/>
            <a:ext cx="5734902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es-ES" altLang="es-ES" b="1" dirty="0" err="1"/>
              <a:t>Detection</a:t>
            </a:r>
            <a:r>
              <a:rPr lang="es-ES" altLang="es-ES" b="1" dirty="0"/>
              <a:t> + </a:t>
            </a:r>
            <a:r>
              <a:rPr lang="es-ES" altLang="es-ES" b="1" dirty="0" err="1"/>
              <a:t>segmentation</a:t>
            </a:r>
            <a:r>
              <a:rPr lang="es-ES" altLang="es-ES" b="1" dirty="0"/>
              <a:t> pipeline (2-stage)</a:t>
            </a:r>
            <a:endParaRPr kumimoji="0" lang="es-ES" altLang="es-E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Open-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vocabulary</a:t>
            </a:r>
            <a:endParaRPr lang="es-ES" altLang="es-ES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Object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detection</a:t>
            </a:r>
            <a:endParaRPr kumimoji="0" lang="es-ES" altLang="es-E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Precise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segmentation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masks</a:t>
            </a:r>
            <a:endParaRPr lang="es-ES" altLang="es-ES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ES" altLang="es-ES" sz="2000" b="1" dirty="0"/>
              <a:t> </a:t>
            </a:r>
            <a:r>
              <a:rPr lang="es-ES" altLang="es-ES" b="1" dirty="0"/>
              <a:t>Zero-</a:t>
            </a:r>
            <a:r>
              <a:rPr lang="es-ES" altLang="es-ES" b="1" dirty="0" err="1"/>
              <a:t>shot</a:t>
            </a:r>
            <a:endParaRPr kumimoji="0" lang="es-ES" altLang="es-E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50205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74638"/>
            <a:ext cx="8417859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3</a:t>
            </a:r>
            <a:r>
              <a:rPr lang="en-GB" sz="2800" dirty="0"/>
              <a:t>. </a:t>
            </a:r>
            <a:r>
              <a:rPr lang="en-GB" sz="2800" b="1" dirty="0"/>
              <a:t>Selected method (Deep 2): YOLOv9 + </a:t>
            </a:r>
            <a:r>
              <a:rPr lang="en-GB" sz="2800" b="1" dirty="0" err="1"/>
              <a:t>EfficientSAM</a:t>
            </a:r>
            <a:endParaRPr lang="en-GB" sz="2800" b="1" dirty="0"/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EBEBC6F-D661-5B46-7539-43DB6B7696D2}"/>
              </a:ext>
            </a:extLst>
          </p:cNvPr>
          <p:cNvSpPr txBox="1"/>
          <p:nvPr/>
        </p:nvSpPr>
        <p:spPr>
          <a:xfrm>
            <a:off x="457199" y="1097961"/>
            <a:ext cx="464845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Detection</a:t>
            </a:r>
            <a:r>
              <a:rPr lang="es-ES" b="1" dirty="0"/>
              <a:t> + </a:t>
            </a:r>
            <a:r>
              <a:rPr lang="es-ES" b="1" dirty="0" err="1"/>
              <a:t>segmentation</a:t>
            </a:r>
            <a:r>
              <a:rPr lang="es-ES" b="1" dirty="0"/>
              <a:t> pipeline (2-stage)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Real-time </a:t>
            </a:r>
            <a:r>
              <a:rPr lang="es-ES" b="1" dirty="0" err="1"/>
              <a:t>object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(YOLOv9)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Lightweight</a:t>
            </a:r>
            <a:r>
              <a:rPr lang="es-ES" b="1" dirty="0"/>
              <a:t> </a:t>
            </a:r>
            <a:r>
              <a:rPr lang="es-ES" b="1" dirty="0" err="1"/>
              <a:t>segmentation</a:t>
            </a:r>
            <a:r>
              <a:rPr lang="es-ES" b="1" dirty="0"/>
              <a:t> (</a:t>
            </a:r>
            <a:r>
              <a:rPr lang="es-ES" b="1" dirty="0" err="1"/>
              <a:t>EfficientSAM</a:t>
            </a:r>
            <a:r>
              <a:rPr lang="es-ES" b="1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QR-</a:t>
            </a:r>
            <a:r>
              <a:rPr lang="es-ES" b="1" dirty="0" err="1"/>
              <a:t>based</a:t>
            </a:r>
            <a:r>
              <a:rPr lang="es-ES" b="1" dirty="0"/>
              <a:t> </a:t>
            </a:r>
            <a:r>
              <a:rPr lang="es-ES" b="1" dirty="0" err="1"/>
              <a:t>calibration</a:t>
            </a:r>
            <a:r>
              <a:rPr lang="es-ES" b="1" dirty="0"/>
              <a:t> + </a:t>
            </a:r>
            <a:r>
              <a:rPr lang="es-ES" b="1" dirty="0" err="1"/>
              <a:t>homography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Precise Edge </a:t>
            </a:r>
            <a:r>
              <a:rPr lang="es-ES" b="1" dirty="0" err="1"/>
              <a:t>localization</a:t>
            </a:r>
            <a:r>
              <a:rPr lang="es-ES" b="1" dirty="0"/>
              <a:t> and </a:t>
            </a:r>
            <a:r>
              <a:rPr lang="es-ES" b="1" dirty="0" err="1"/>
              <a:t>measurement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real-</a:t>
            </a:r>
            <a:r>
              <a:rPr lang="es-ES" b="1" dirty="0" err="1"/>
              <a:t>world</a:t>
            </a:r>
            <a:r>
              <a:rPr lang="es-ES" b="1" dirty="0"/>
              <a:t> </a:t>
            </a:r>
            <a:r>
              <a:rPr lang="es-ES" b="1" dirty="0" err="1"/>
              <a:t>conditions</a:t>
            </a:r>
            <a:endParaRPr lang="es-ES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95A306A-3247-0863-2D92-4BF070204B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2" t="36270" b="16250"/>
          <a:stretch>
            <a:fillRect/>
          </a:stretch>
        </p:blipFill>
        <p:spPr>
          <a:xfrm>
            <a:off x="471535" y="3429000"/>
            <a:ext cx="8200930" cy="264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68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D17D0-6AE0-335D-DCCB-779C22440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9FD54-E3E9-1AA0-9DD9-0517F99B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(Classical 1): 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36C84E96-7653-5D12-E6C6-A76E4A341C6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C43AF03-BA1F-F710-D362-247CCB97115D}"/>
              </a:ext>
            </a:extLst>
          </p:cNvPr>
          <p:cNvSpPr txBox="1"/>
          <p:nvPr/>
        </p:nvSpPr>
        <p:spPr>
          <a:xfrm>
            <a:off x="723014" y="1095321"/>
            <a:ext cx="54442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Multi-scale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pipeline (</a:t>
            </a:r>
            <a:r>
              <a:rPr lang="es-ES" b="1" dirty="0" err="1"/>
              <a:t>classical</a:t>
            </a:r>
            <a:r>
              <a:rPr lang="es-ES" b="1" dirty="0"/>
              <a:t>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Noise-robust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extraction</a:t>
            </a:r>
            <a:r>
              <a:rPr lang="es-ES" b="1" dirty="0"/>
              <a:t> (AMDD)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Anisotropic</a:t>
            </a:r>
            <a:r>
              <a:rPr lang="es-ES" b="1" dirty="0"/>
              <a:t> </a:t>
            </a:r>
            <a:r>
              <a:rPr lang="es-ES" b="1" dirty="0" err="1"/>
              <a:t>morphological</a:t>
            </a:r>
            <a:r>
              <a:rPr lang="es-ES" b="1" dirty="0"/>
              <a:t> </a:t>
            </a:r>
            <a:r>
              <a:rPr lang="es-ES" b="1" dirty="0" err="1"/>
              <a:t>filtering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Directional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analysis</a:t>
            </a:r>
            <a:r>
              <a:rPr lang="es-ES" b="1" dirty="0"/>
              <a:t> (ESM + EDM)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Edge </a:t>
            </a:r>
            <a:r>
              <a:rPr lang="es-ES" b="1" dirty="0" err="1"/>
              <a:t>fusion</a:t>
            </a:r>
            <a:r>
              <a:rPr lang="es-ES" b="1" dirty="0"/>
              <a:t> </a:t>
            </a:r>
            <a:r>
              <a:rPr lang="es-ES" b="1" dirty="0" err="1"/>
              <a:t>for</a:t>
            </a:r>
            <a:r>
              <a:rPr lang="es-ES" b="1" dirty="0"/>
              <a:t> </a:t>
            </a:r>
            <a:r>
              <a:rPr lang="es-ES" b="1" dirty="0" err="1"/>
              <a:t>continuity</a:t>
            </a:r>
            <a:r>
              <a:rPr lang="es-ES" b="1" dirty="0"/>
              <a:t> and </a:t>
            </a:r>
            <a:r>
              <a:rPr lang="es-ES" b="1" dirty="0" err="1"/>
              <a:t>accuracy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</a:t>
            </a:r>
            <a:r>
              <a:rPr lang="es-ES" b="1" dirty="0" err="1"/>
              <a:t>low</a:t>
            </a:r>
            <a:r>
              <a:rPr lang="es-ES" b="1" dirty="0"/>
              <a:t> </a:t>
            </a:r>
            <a:r>
              <a:rPr lang="es-ES" b="1" dirty="0" err="1"/>
              <a:t>contrast</a:t>
            </a:r>
            <a:r>
              <a:rPr lang="es-ES" b="1" dirty="0"/>
              <a:t> and industrial </a:t>
            </a:r>
            <a:r>
              <a:rPr lang="es-ES" b="1" dirty="0" err="1"/>
              <a:t>noise</a:t>
            </a:r>
            <a:r>
              <a:rPr lang="es-ES" dirty="0"/>
              <a:t> </a:t>
            </a:r>
          </a:p>
          <a:p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756F560-322D-29C9-75C0-297A07E99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66" y="3126646"/>
            <a:ext cx="8639468" cy="2892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1048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F38C-1117-7442-9501-12F9402F6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D98C6-BDC8-D6F4-B87B-6824EA060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8444345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(Classical 2): Adaptative Canny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F29AF45-B7A0-D799-1DFC-41449FE07E8D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B24B476-CFD3-96DA-0AEE-272C6ACEB243}"/>
              </a:ext>
            </a:extLst>
          </p:cNvPr>
          <p:cNvSpPr txBox="1"/>
          <p:nvPr/>
        </p:nvSpPr>
        <p:spPr>
          <a:xfrm>
            <a:off x="723014" y="1095321"/>
            <a:ext cx="54442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• Adaptive </a:t>
            </a:r>
            <a:r>
              <a:rPr lang="es-ES" b="1" dirty="0" err="1"/>
              <a:t>Canny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(</a:t>
            </a:r>
            <a:r>
              <a:rPr lang="es-ES" b="1" dirty="0" err="1"/>
              <a:t>Otsu-based</a:t>
            </a:r>
            <a:r>
              <a:rPr lang="es-ES" b="1" dirty="0"/>
              <a:t> </a:t>
            </a:r>
            <a:r>
              <a:rPr lang="es-ES" b="1" dirty="0" err="1"/>
              <a:t>thresholds</a:t>
            </a:r>
            <a:r>
              <a:rPr lang="es-ES" b="1" dirty="0"/>
              <a:t>)</a:t>
            </a:r>
          </a:p>
          <a:p>
            <a:r>
              <a:rPr lang="es-ES" b="1" dirty="0"/>
              <a:t>• QR-</a:t>
            </a:r>
            <a:r>
              <a:rPr lang="es-ES" b="1" dirty="0" err="1"/>
              <a:t>based</a:t>
            </a:r>
            <a:r>
              <a:rPr lang="es-ES" b="1" dirty="0"/>
              <a:t> </a:t>
            </a:r>
            <a:r>
              <a:rPr lang="es-ES" b="1" dirty="0" err="1"/>
              <a:t>homography</a:t>
            </a:r>
            <a:r>
              <a:rPr lang="es-ES" b="1" dirty="0"/>
              <a:t> </a:t>
            </a:r>
            <a:r>
              <a:rPr lang="es-ES" b="1" dirty="0" err="1"/>
              <a:t>calibration</a:t>
            </a:r>
            <a:r>
              <a:rPr lang="es-ES" b="1" dirty="0"/>
              <a:t> (mm </a:t>
            </a:r>
            <a:r>
              <a:rPr lang="es-ES" b="1" dirty="0" err="1"/>
              <a:t>estimation</a:t>
            </a:r>
            <a:r>
              <a:rPr lang="es-ES" b="1" dirty="0"/>
              <a:t>)</a:t>
            </a:r>
          </a:p>
          <a:p>
            <a:r>
              <a:rPr lang="es-ES" b="1" dirty="0"/>
              <a:t>• </a:t>
            </a:r>
            <a:r>
              <a:rPr lang="es-ES" b="1" dirty="0" err="1"/>
              <a:t>Perspective</a:t>
            </a:r>
            <a:r>
              <a:rPr lang="es-ES" b="1" dirty="0"/>
              <a:t> </a:t>
            </a:r>
            <a:r>
              <a:rPr lang="es-ES" b="1" dirty="0" err="1"/>
              <a:t>correction</a:t>
            </a:r>
            <a:r>
              <a:rPr lang="es-ES" b="1" dirty="0"/>
              <a:t> + </a:t>
            </a:r>
            <a:r>
              <a:rPr lang="es-ES" b="1" dirty="0" err="1"/>
              <a:t>lens</a:t>
            </a:r>
            <a:r>
              <a:rPr lang="es-ES" b="1" dirty="0"/>
              <a:t> </a:t>
            </a:r>
            <a:r>
              <a:rPr lang="es-ES" b="1" dirty="0" err="1"/>
              <a:t>distortion</a:t>
            </a:r>
            <a:r>
              <a:rPr lang="es-ES" b="1" dirty="0"/>
              <a:t> </a:t>
            </a:r>
            <a:r>
              <a:rPr lang="es-ES" b="1" dirty="0" err="1"/>
              <a:t>removal</a:t>
            </a:r>
            <a:endParaRPr lang="es-ES" b="1" dirty="0"/>
          </a:p>
          <a:p>
            <a:r>
              <a:rPr lang="es-ES" b="1" dirty="0"/>
              <a:t>• ROI </a:t>
            </a:r>
            <a:r>
              <a:rPr lang="es-ES" b="1" dirty="0" err="1"/>
              <a:t>filtering</a:t>
            </a:r>
            <a:r>
              <a:rPr lang="es-ES" b="1" dirty="0"/>
              <a:t> + </a:t>
            </a:r>
            <a:r>
              <a:rPr lang="es-ES" b="1" dirty="0" err="1"/>
              <a:t>Hough</a:t>
            </a:r>
            <a:r>
              <a:rPr lang="es-ES" b="1" dirty="0"/>
              <a:t> line </a:t>
            </a:r>
            <a:r>
              <a:rPr lang="es-ES" b="1" dirty="0" err="1"/>
              <a:t>extraction</a:t>
            </a:r>
            <a:endParaRPr lang="es-ES" b="1" dirty="0"/>
          </a:p>
          <a:p>
            <a:r>
              <a:rPr lang="es-ES" b="1" dirty="0"/>
              <a:t>• </a:t>
            </a:r>
            <a:r>
              <a:rPr lang="es-ES" b="1" dirty="0" err="1"/>
              <a:t>Geometric</a:t>
            </a:r>
            <a:r>
              <a:rPr lang="es-ES" b="1" dirty="0"/>
              <a:t> </a:t>
            </a:r>
            <a:r>
              <a:rPr lang="es-ES" b="1" dirty="0" err="1"/>
              <a:t>filtering</a:t>
            </a:r>
            <a:r>
              <a:rPr lang="es-ES" b="1" dirty="0"/>
              <a:t> and line </a:t>
            </a:r>
            <a:r>
              <a:rPr lang="es-ES" b="1" dirty="0" err="1"/>
              <a:t>merging</a:t>
            </a:r>
            <a:endParaRPr lang="es-ES" b="1" dirty="0"/>
          </a:p>
          <a:p>
            <a:r>
              <a:rPr lang="es-ES" b="1" dirty="0"/>
              <a:t>• </a:t>
            </a: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</a:t>
            </a:r>
            <a:r>
              <a:rPr lang="es-ES" b="1" dirty="0" err="1"/>
              <a:t>illumination</a:t>
            </a:r>
            <a:r>
              <a:rPr lang="es-ES" b="1" dirty="0"/>
              <a:t>, </a:t>
            </a:r>
            <a:r>
              <a:rPr lang="es-ES" b="1" dirty="0" err="1"/>
              <a:t>perspective</a:t>
            </a:r>
            <a:r>
              <a:rPr lang="es-ES" b="1" dirty="0"/>
              <a:t> and </a:t>
            </a:r>
            <a:r>
              <a:rPr lang="es-ES" b="1" dirty="0" err="1"/>
              <a:t>noise</a:t>
            </a:r>
            <a:endParaRPr lang="es-ES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C17F26-D305-280C-192D-8CAB2043B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3036592"/>
            <a:ext cx="8087118" cy="326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792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58EEF-EC96-D69C-B8E5-BD64FE03A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BDD58-B60F-FD54-CD00-99A6A589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4. </a:t>
            </a:r>
            <a:r>
              <a:rPr lang="en-GB" sz="2800" b="1" dirty="0"/>
              <a:t>Datasets</a:t>
            </a:r>
            <a:r>
              <a:rPr lang="en-GB" sz="2800" dirty="0"/>
              <a:t> 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52A72436-A003-CA2F-05BA-D66E839936B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4E22E7E-51E3-8075-D64E-9C8AF62CA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01" y="1908266"/>
            <a:ext cx="8595198" cy="27386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260E61C-CF0C-CBB4-6FFE-05A177CE504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1830070" y="2214693"/>
            <a:ext cx="5144218" cy="268230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FAAF5DB-34BF-083D-22DF-62A069380D9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2211552" y="-1286231"/>
            <a:ext cx="3505689" cy="349616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55580D9-C421-EBC4-5246-EC8668D6803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20000"/>
          </a:blip>
          <a:stretch>
            <a:fillRect/>
          </a:stretch>
        </p:blipFill>
        <p:spPr>
          <a:xfrm>
            <a:off x="6974288" y="2214693"/>
            <a:ext cx="2256189" cy="26823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2486E68-9CF4-504D-368A-620B23577FC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20000"/>
          </a:blip>
          <a:stretch>
            <a:fillRect/>
          </a:stretch>
        </p:blipFill>
        <p:spPr>
          <a:xfrm>
            <a:off x="-44637" y="2209932"/>
            <a:ext cx="1897501" cy="26870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D638B83-C0BC-277A-2A30-FC389C17D3B2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2481544" y="4896997"/>
            <a:ext cx="4677428" cy="3524742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3C26A960-DB73-47B8-43F0-D6BBE57C2BE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5717241" y="-1254609"/>
            <a:ext cx="4505954" cy="3464541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30A69AC1-C53D-33B4-105A-AD149AD6C994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270" y="4896997"/>
            <a:ext cx="2481545" cy="2586646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FA96640A-2C49-3A0D-2C3B-3C04FF71F173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20000"/>
          </a:blip>
          <a:stretch>
            <a:fillRect/>
          </a:stretch>
        </p:blipFill>
        <p:spPr>
          <a:xfrm>
            <a:off x="7155717" y="4896997"/>
            <a:ext cx="3067478" cy="2267266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DF1DD48-EBCE-957F-3213-3D7391EB2EDB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20000"/>
          </a:blip>
          <a:stretch>
            <a:fillRect/>
          </a:stretch>
        </p:blipFill>
        <p:spPr>
          <a:xfrm>
            <a:off x="-55714" y="-1283188"/>
            <a:ext cx="2267266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116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E997-3538-A49B-7E42-C15AFC38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4654-C0D8-35E6-FFE3-2CA8A0583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5. </a:t>
            </a:r>
            <a:r>
              <a:rPr lang="en-GB" sz="2800" b="1" dirty="0"/>
              <a:t>Performance Metrics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0CE30BE0-5015-91ED-40F7-A8727B8688D9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30589-8C05-AEC0-1C75-C4A06851FC0A}"/>
              </a:ext>
            </a:extLst>
          </p:cNvPr>
          <p:cNvSpPr txBox="1">
            <a:spLocks/>
          </p:cNvSpPr>
          <p:nvPr/>
        </p:nvSpPr>
        <p:spPr>
          <a:xfrm>
            <a:off x="880351" y="1416336"/>
            <a:ext cx="3920249" cy="20126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Detection</a:t>
            </a:r>
            <a:r>
              <a:rPr lang="es-ES" sz="2000" b="1" dirty="0"/>
              <a:t> &amp; </a:t>
            </a:r>
            <a:r>
              <a:rPr lang="es-ES" sz="2000" b="1" dirty="0" err="1"/>
              <a:t>Segmentation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Precision</a:t>
            </a:r>
            <a:r>
              <a:rPr lang="es-ES" sz="2000" dirty="0"/>
              <a:t> / </a:t>
            </a:r>
            <a:r>
              <a:rPr lang="es-ES" sz="2000" dirty="0" err="1"/>
              <a:t>Recall</a:t>
            </a:r>
            <a:r>
              <a:rPr lang="es-ES" sz="2000" dirty="0"/>
              <a:t> / F1-Score</a:t>
            </a:r>
          </a:p>
          <a:p>
            <a:r>
              <a:rPr lang="es-ES" sz="2000" dirty="0"/>
              <a:t>-  </a:t>
            </a:r>
            <a:r>
              <a:rPr lang="es-ES" sz="2000" dirty="0" err="1"/>
              <a:t>IoU</a:t>
            </a:r>
            <a:r>
              <a:rPr lang="es-ES" sz="2000" dirty="0"/>
              <a:t> (</a:t>
            </a:r>
            <a:r>
              <a:rPr lang="es-ES" sz="2000" dirty="0" err="1"/>
              <a:t>overlap</a:t>
            </a:r>
            <a:r>
              <a:rPr lang="es-ES" sz="2000" dirty="0"/>
              <a:t> </a:t>
            </a:r>
            <a:r>
              <a:rPr lang="es-ES" sz="2000" dirty="0" err="1"/>
              <a:t>quality</a:t>
            </a:r>
            <a:r>
              <a:rPr lang="es-ES" sz="2000" dirty="0"/>
              <a:t>)</a:t>
            </a:r>
          </a:p>
          <a:p>
            <a:r>
              <a:rPr lang="es-ES" sz="2000" dirty="0"/>
              <a:t>-  AP / </a:t>
            </a:r>
            <a:r>
              <a:rPr lang="es-ES" sz="2000" dirty="0" err="1"/>
              <a:t>mAP</a:t>
            </a:r>
            <a:r>
              <a:rPr lang="es-ES" sz="2000" dirty="0"/>
              <a:t> (</a:t>
            </a:r>
            <a:r>
              <a:rPr lang="es-ES" sz="2000" dirty="0" err="1"/>
              <a:t>overall</a:t>
            </a:r>
            <a:r>
              <a:rPr lang="es-ES" sz="2000" dirty="0"/>
              <a:t> </a:t>
            </a:r>
            <a:r>
              <a:rPr lang="es-ES" sz="2000" dirty="0" err="1"/>
              <a:t>detection</a:t>
            </a:r>
            <a:r>
              <a:rPr lang="es-ES" sz="2000" dirty="0"/>
              <a:t> performance)</a:t>
            </a:r>
          </a:p>
          <a:p>
            <a:pPr>
              <a:buNone/>
            </a:pPr>
            <a:endParaRPr lang="es-ES" sz="1600" noProof="0" dirty="0">
              <a:latin typeface="Trebuchet MS" panose="020B0603020202020204" pitchFamily="34" charset="0"/>
            </a:endParaRPr>
          </a:p>
          <a:p>
            <a:pPr algn="just"/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2CADF1-86A6-9CD6-A003-031D19C36CA4}"/>
              </a:ext>
            </a:extLst>
          </p:cNvPr>
          <p:cNvSpPr txBox="1">
            <a:spLocks/>
          </p:cNvSpPr>
          <p:nvPr/>
        </p:nvSpPr>
        <p:spPr>
          <a:xfrm>
            <a:off x="4907554" y="3089221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/>
              <a:t>Edge </a:t>
            </a:r>
            <a:r>
              <a:rPr lang="es-ES" sz="2000" b="1" dirty="0" err="1"/>
              <a:t>Detection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Precison-Recall</a:t>
            </a:r>
            <a:r>
              <a:rPr lang="es-ES" sz="2000" dirty="0"/>
              <a:t> Curve</a:t>
            </a:r>
          </a:p>
          <a:p>
            <a:pPr>
              <a:buNone/>
            </a:pPr>
            <a:r>
              <a:rPr lang="es-ES" sz="2000" noProof="0" dirty="0">
                <a:latin typeface="Trebuchet MS" panose="020B0603020202020204" pitchFamily="34" charset="0"/>
              </a:rPr>
              <a:t>- </a:t>
            </a:r>
            <a:r>
              <a:rPr lang="es-ES" sz="2000" dirty="0"/>
              <a:t> </a:t>
            </a:r>
            <a:r>
              <a:rPr lang="es-ES" sz="2000" noProof="0" dirty="0">
                <a:latin typeface="Trebuchet MS" panose="020B0603020202020204" pitchFamily="34" charset="0"/>
              </a:rPr>
              <a:t>FOM (Edge </a:t>
            </a:r>
            <a:r>
              <a:rPr lang="es-ES" sz="2000" noProof="0" dirty="0" err="1">
                <a:latin typeface="Trebuchet MS" panose="020B0603020202020204" pitchFamily="34" charset="0"/>
              </a:rPr>
              <a:t>accuracy</a:t>
            </a:r>
            <a:r>
              <a:rPr lang="es-ES" sz="2000" noProof="0" dirty="0">
                <a:latin typeface="Trebuchet MS" panose="020B0603020202020204" pitchFamily="34" charset="0"/>
              </a:rPr>
              <a:t>)</a:t>
            </a:r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8B06AEC-8D2C-DD00-AF90-35FAD079210B}"/>
              </a:ext>
            </a:extLst>
          </p:cNvPr>
          <p:cNvSpPr txBox="1">
            <a:spLocks/>
          </p:cNvSpPr>
          <p:nvPr/>
        </p:nvSpPr>
        <p:spPr>
          <a:xfrm>
            <a:off x="880351" y="3908810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Measurement</a:t>
            </a:r>
            <a:br>
              <a:rPr lang="es-ES" sz="2000" dirty="0"/>
            </a:br>
            <a:r>
              <a:rPr lang="es-ES" sz="2000" dirty="0"/>
              <a:t>-  RMSE / MAE</a:t>
            </a:r>
          </a:p>
          <a:p>
            <a:pPr>
              <a:buNone/>
            </a:pPr>
            <a:r>
              <a:rPr lang="es-ES" sz="2000" dirty="0"/>
              <a:t>-  </a:t>
            </a:r>
            <a:r>
              <a:rPr lang="es-ES" sz="2000" dirty="0" err="1"/>
              <a:t>Distance</a:t>
            </a:r>
            <a:r>
              <a:rPr lang="es-ES" sz="2000" dirty="0"/>
              <a:t> Error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5BA3EA6-4AA0-9D59-FDEB-23377676DED4}"/>
              </a:ext>
            </a:extLst>
          </p:cNvPr>
          <p:cNvSpPr/>
          <p:nvPr/>
        </p:nvSpPr>
        <p:spPr>
          <a:xfrm>
            <a:off x="865660" y="1416336"/>
            <a:ext cx="3706340" cy="1672885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32995D7-536F-7479-E593-9419C9A958C9}"/>
              </a:ext>
            </a:extLst>
          </p:cNvPr>
          <p:cNvSpPr/>
          <p:nvPr/>
        </p:nvSpPr>
        <p:spPr>
          <a:xfrm>
            <a:off x="4792603" y="2949190"/>
            <a:ext cx="3471046" cy="1410159"/>
          </a:xfrm>
          <a:prstGeom prst="rect">
            <a:avLst/>
          </a:prstGeom>
          <a:noFill/>
          <a:ln w="762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8584F29-59F0-2BC5-6F6A-FCB8016A0416}"/>
              </a:ext>
            </a:extLst>
          </p:cNvPr>
          <p:cNvSpPr/>
          <p:nvPr/>
        </p:nvSpPr>
        <p:spPr>
          <a:xfrm>
            <a:off x="880351" y="3891956"/>
            <a:ext cx="3706340" cy="1307365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866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just"/>
            <a:r>
              <a:rPr lang="en-GB" sz="2800" b="1" dirty="0"/>
              <a:t>6. Conclusions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FE16A73-F2E1-CC62-FF07-708C25A46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69" y="1166846"/>
            <a:ext cx="8971367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requires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+ GPU.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s-ES" altLang="es-ES" b="1" dirty="0" err="1">
                <a:latin typeface="Arial" panose="020B0604020202020204" pitchFamily="34" charset="0"/>
              </a:rPr>
              <a:t>Classical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methods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efficient</a:t>
            </a:r>
            <a:r>
              <a:rPr lang="es-ES" altLang="es-ES" dirty="0">
                <a:latin typeface="Arial" panose="020B0604020202020204" pitchFamily="34" charset="0"/>
              </a:rPr>
              <a:t> and no data </a:t>
            </a:r>
            <a:r>
              <a:rPr lang="es-ES" altLang="es-ES" dirty="0" err="1">
                <a:latin typeface="Arial" panose="020B0604020202020204" pitchFamily="34" charset="0"/>
              </a:rPr>
              <a:t>needde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but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less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robust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to</a:t>
            </a:r>
            <a:r>
              <a:rPr lang="es-ES" altLang="es-ES" dirty="0">
                <a:latin typeface="Arial" panose="020B0604020202020204" pitchFamily="34" charset="0"/>
              </a:rPr>
              <a:t> real </a:t>
            </a:r>
            <a:r>
              <a:rPr lang="es-ES" altLang="es-ES" dirty="0" err="1">
                <a:latin typeface="Arial" panose="020B0604020202020204" pitchFamily="34" charset="0"/>
              </a:rPr>
              <a:t>conditions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s-ES" altLang="es-ES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Grounded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flexible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approach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zero</a:t>
            </a:r>
            <a:r>
              <a:rPr lang="es-ES" altLang="es-ES" b="1" dirty="0" err="1">
                <a:latin typeface="Arial" panose="020B0604020202020204" pitchFamily="34" charset="0"/>
              </a:rPr>
              <a:t>-shot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detection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br>
              <a:rPr lang="es-ES" altLang="es-ES" dirty="0">
                <a:latin typeface="Arial" panose="020B0604020202020204" pitchFamily="34" charset="0"/>
              </a:rPr>
            </a:br>
            <a:r>
              <a:rPr lang="es-ES" altLang="es-ES" dirty="0">
                <a:latin typeface="Arial" panose="020B0604020202020204" pitchFamily="34" charset="0"/>
              </a:rPr>
              <a:t>and </a:t>
            </a:r>
            <a:r>
              <a:rPr lang="es-ES" altLang="es-ES" b="1" dirty="0" err="1">
                <a:latin typeface="Arial" panose="020B0604020202020204" pitchFamily="34" charset="0"/>
              </a:rPr>
              <a:t>segmentation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making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suitable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when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labeled</a:t>
            </a:r>
            <a:r>
              <a:rPr lang="es-ES" altLang="es-ES" dirty="0">
                <a:latin typeface="Arial" panose="020B0604020202020204" pitchFamily="34" charset="0"/>
              </a:rPr>
              <a:t> data </a:t>
            </a:r>
            <a:r>
              <a:rPr lang="es-ES" altLang="es-ES" dirty="0" err="1">
                <a:latin typeface="Arial" panose="020B0604020202020204" pitchFamily="34" charset="0"/>
              </a:rPr>
              <a:t>is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unavailable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br>
              <a:rPr lang="es-ES" altLang="es-ES" dirty="0">
                <a:latin typeface="Arial" panose="020B0604020202020204" pitchFamily="34" charset="0"/>
              </a:rPr>
            </a:br>
            <a:endParaRPr lang="es-ES" altLang="es-ES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YOLOv9 +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EfficientsSAM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accuracy-speed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trade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-off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b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depends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fine-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tunning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training data.</a:t>
            </a:r>
            <a:b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b="1" dirty="0">
                <a:latin typeface="Arial" panose="020B0604020202020204" pitchFamily="34" charset="0"/>
              </a:rPr>
              <a:t>MAMDD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enhances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classical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edge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detection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with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robustness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to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noise</a:t>
            </a:r>
            <a:r>
              <a:rPr lang="es-ES" altLang="es-ES" b="1" dirty="0">
                <a:latin typeface="Arial" panose="020B0604020202020204" pitchFamily="34" charset="0"/>
              </a:rPr>
              <a:t> and</a:t>
            </a:r>
            <a:br>
              <a:rPr lang="es-ES" altLang="es-ES" b="1" dirty="0">
                <a:latin typeface="Arial" panose="020B0604020202020204" pitchFamily="34" charset="0"/>
              </a:rPr>
            </a:b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low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contrast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although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still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relies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handcrafted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processing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br>
              <a:rPr lang="es-ES" altLang="es-ES" dirty="0">
                <a:latin typeface="Arial" panose="020B0604020202020204" pitchFamily="34" charset="0"/>
              </a:rPr>
            </a:br>
            <a:endParaRPr lang="es-ES" altLang="es-ES" dirty="0"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b="1" dirty="0">
                <a:latin typeface="Arial" panose="020B0604020202020204" pitchFamily="34" charset="0"/>
              </a:rPr>
              <a:t>Adaptive </a:t>
            </a:r>
            <a:r>
              <a:rPr lang="es-ES" altLang="es-ES" b="1" dirty="0" err="1">
                <a:latin typeface="Arial" panose="020B0604020202020204" pitchFamily="34" charset="0"/>
              </a:rPr>
              <a:t>Canny</a:t>
            </a:r>
            <a:r>
              <a:rPr lang="es-ES" altLang="es-ES" b="1" dirty="0">
                <a:latin typeface="Arial" panose="020B0604020202020204" pitchFamily="34" charset="0"/>
              </a:rPr>
              <a:t> pipeline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the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most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practical</a:t>
            </a:r>
            <a:r>
              <a:rPr lang="es-ES" altLang="es-ES" b="1" dirty="0">
                <a:latin typeface="Arial" panose="020B0604020202020204" pitchFamily="34" charset="0"/>
              </a:rPr>
              <a:t> and </a:t>
            </a:r>
            <a:r>
              <a:rPr lang="es-ES" altLang="es-ES" b="1" dirty="0" err="1">
                <a:latin typeface="Arial" panose="020B0604020202020204" pitchFamily="34" charset="0"/>
              </a:rPr>
              <a:t>deployable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solution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br>
              <a:rPr lang="es-ES" altLang="es-ES" dirty="0">
                <a:latin typeface="Arial" panose="020B0604020202020204" pitchFamily="34" charset="0"/>
              </a:rPr>
            </a:br>
            <a:r>
              <a:rPr lang="es-ES" altLang="es-ES" dirty="0" err="1">
                <a:latin typeface="Arial" panose="020B0604020202020204" pitchFamily="34" charset="0"/>
              </a:rPr>
              <a:t>requiring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>
                <a:latin typeface="Arial" panose="020B0604020202020204" pitchFamily="34" charset="0"/>
              </a:rPr>
              <a:t>no training and </a:t>
            </a:r>
            <a:r>
              <a:rPr lang="es-ES" altLang="es-ES" b="1" dirty="0" err="1">
                <a:latin typeface="Arial" panose="020B0604020202020204" pitchFamily="34" charset="0"/>
              </a:rPr>
              <a:t>only</a:t>
            </a:r>
            <a:r>
              <a:rPr lang="es-ES" altLang="es-ES" b="1" dirty="0">
                <a:latin typeface="Arial" panose="020B0604020202020204" pitchFamily="34" charset="0"/>
              </a:rPr>
              <a:t> CPU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but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with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lower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robustness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20D86B5-030A-2A1A-E3CD-E8306D9E88F4}"/>
              </a:ext>
            </a:extLst>
          </p:cNvPr>
          <p:cNvSpPr txBox="1"/>
          <p:nvPr/>
        </p:nvSpPr>
        <p:spPr>
          <a:xfrm>
            <a:off x="1329397" y="31019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697990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9"/>
          <p:cNvSpPr>
            <a:spLocks/>
          </p:cNvSpPr>
          <p:nvPr/>
        </p:nvSpPr>
        <p:spPr bwMode="auto">
          <a:xfrm>
            <a:off x="2023516" y="2763084"/>
            <a:ext cx="5376520" cy="14323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 algn="ctr">
              <a:spcBef>
                <a:spcPts val="425"/>
              </a:spcBef>
            </a:pPr>
            <a:r>
              <a:rPr lang="en-GB" sz="3600" b="1" dirty="0">
                <a:solidFill>
                  <a:srgbClr val="7F7F7F"/>
                </a:solidFill>
                <a:latin typeface="Tahoma" charset="0"/>
                <a:sym typeface="Tahoma" charset="0"/>
              </a:rPr>
              <a:t>Thank you for your attention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574" y="5127597"/>
            <a:ext cx="1730403" cy="1730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0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C9BF06A4-D601-8F47-B4BA-6FFF01823710}"/>
              </a:ext>
            </a:extLst>
          </p:cNvPr>
          <p:cNvSpPr txBox="1"/>
          <p:nvPr/>
        </p:nvSpPr>
        <p:spPr>
          <a:xfrm>
            <a:off x="824956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[1] </a:t>
            </a:r>
            <a:r>
              <a:rPr lang="en-AU" sz="1200" dirty="0" err="1"/>
              <a:t>Jocher</a:t>
            </a:r>
            <a:r>
              <a:rPr lang="en-AU" sz="1200" dirty="0"/>
              <a:t>, G.; Chaurasia, A.; Qiu, J. </a:t>
            </a:r>
            <a:r>
              <a:rPr lang="en-AU" sz="1200" dirty="0" err="1"/>
              <a:t>Ultralytics</a:t>
            </a:r>
            <a:r>
              <a:rPr lang="en-AU" sz="1200" dirty="0"/>
              <a:t> YOLOv8. 2023. Available online: https://github.com/ultralytics/ultralytics</a:t>
            </a:r>
          </a:p>
          <a:p>
            <a:pPr marL="0" indent="0">
              <a:buNone/>
            </a:pPr>
            <a:r>
              <a:rPr lang="en-AU" sz="1200" dirty="0"/>
              <a:t>[2] Liao, Z. et al. RT-DETRv4: Painlessly furthering real-time object detection with vision foundation models. 2025.</a:t>
            </a:r>
          </a:p>
          <a:p>
            <a:pPr marL="0" indent="0">
              <a:buNone/>
            </a:pPr>
            <a:r>
              <a:rPr lang="en-AU" sz="1200" dirty="0"/>
              <a:t>[3] Ren, T.; Liu, S.; Zeng, A.; Lin, J.; Li, K.; Cao, H.; Chen, J.; Huang, X.; Chen, Y.; Yan, F.; et al. Grounded SAM: Assembling open-world models for diverse visual tasks. 2024.</a:t>
            </a:r>
          </a:p>
          <a:p>
            <a:pPr marL="0" indent="0">
              <a:buNone/>
            </a:pPr>
            <a:r>
              <a:rPr lang="en-AU" sz="1200" dirty="0"/>
              <a:t>[4] Kirillov, A.; Mintun, E.; Ravi, N.; Mao, H.; Rolland, C.; Gustafson, L.; Xiao, T.; Whitehead, S.; Berg, A.C.; Lo, W.-Y.; et al. Segment Anything. 2023.</a:t>
            </a:r>
          </a:p>
          <a:p>
            <a:pPr marL="0" indent="0">
              <a:buNone/>
            </a:pPr>
            <a:r>
              <a:rPr lang="en-AU" sz="1200" dirty="0"/>
              <a:t>[5] Damm, S.; </a:t>
            </a:r>
            <a:r>
              <a:rPr lang="en-AU" sz="1200" dirty="0" err="1"/>
              <a:t>Laszkiewicz</a:t>
            </a:r>
            <a:r>
              <a:rPr lang="en-AU" sz="1200" dirty="0"/>
              <a:t>, M.; Lederer, J.; Fischer, A. Anomaly DINO: Boosting patch-based few-shot anomaly detection with DINOv2. 2024.</a:t>
            </a:r>
          </a:p>
          <a:p>
            <a:pPr marL="0" indent="0">
              <a:buNone/>
            </a:pPr>
            <a:r>
              <a:rPr lang="en-AU" sz="1200" dirty="0"/>
              <a:t>[6] Kienzle, D.; </a:t>
            </a:r>
            <a:r>
              <a:rPr lang="en-AU" sz="1200" dirty="0" err="1"/>
              <a:t>Kantarelis</a:t>
            </a:r>
            <a:r>
              <a:rPr lang="en-AU" sz="1200" dirty="0"/>
              <a:t>, K.; Barthel, K. </a:t>
            </a:r>
            <a:r>
              <a:rPr lang="en-AU" sz="1200" dirty="0" err="1"/>
              <a:t>Segformer</a:t>
            </a:r>
            <a:r>
              <a:rPr lang="en-AU" sz="1200" dirty="0"/>
              <a:t>++: Efficient token-merging strategies for high-resolution semantic segmentation. 2024.</a:t>
            </a:r>
          </a:p>
          <a:p>
            <a:pPr marL="0" indent="0">
              <a:buNone/>
            </a:pPr>
            <a:r>
              <a:rPr lang="en-AU" sz="1200" dirty="0"/>
              <a:t>[7] </a:t>
            </a:r>
            <a:r>
              <a:rPr lang="en-AU" sz="1200" dirty="0" err="1"/>
              <a:t>Cavagnero</a:t>
            </a:r>
            <a:r>
              <a:rPr lang="en-AU" sz="1200" dirty="0"/>
              <a:t>, N.; Rosi, G.; </a:t>
            </a:r>
            <a:r>
              <a:rPr lang="en-AU" sz="1200" dirty="0" err="1"/>
              <a:t>Averta</a:t>
            </a:r>
            <a:r>
              <a:rPr lang="en-AU" sz="1200" dirty="0"/>
              <a:t>, G.; Lamberti, F.; Tommasi, T. PEM: Prototype-based efficient </a:t>
            </a:r>
            <a:r>
              <a:rPr lang="en-AU" sz="1200" dirty="0" err="1"/>
              <a:t>MaskFormer</a:t>
            </a:r>
            <a:r>
              <a:rPr lang="en-AU" sz="1200" dirty="0"/>
              <a:t> for image segmentation. 2024.</a:t>
            </a:r>
          </a:p>
          <a:p>
            <a:pPr marL="0" indent="0">
              <a:buNone/>
            </a:pPr>
            <a:r>
              <a:rPr lang="en-AU" sz="1200" dirty="0"/>
              <a:t>[8] Hou, X.; Ma, M.; Fan, B.; Luo, P.; Wan, Y. Relation-DETR: Exploring explicit position relation prior for object detection. 2024.</a:t>
            </a:r>
          </a:p>
          <a:p>
            <a:pPr marL="0" indent="0">
              <a:buNone/>
            </a:pPr>
            <a:r>
              <a:rPr lang="en-AU" sz="1200" dirty="0"/>
              <a:t>[9] Heidari, M. et al. A study on the performance of U-Net modifications in retroperitoneal </a:t>
            </a:r>
            <a:r>
              <a:rPr lang="en-AU" sz="1200" dirty="0" err="1"/>
              <a:t>tumor</a:t>
            </a:r>
            <a:r>
              <a:rPr lang="en-AU" sz="1200" dirty="0"/>
              <a:t> segmentation. 2025.</a:t>
            </a:r>
          </a:p>
        </p:txBody>
      </p:sp>
    </p:spTree>
    <p:extLst>
      <p:ext uri="{BB962C8B-B14F-4D97-AF65-F5344CB8AC3E}">
        <p14:creationId xmlns:p14="http://schemas.microsoft.com/office/powerpoint/2010/main" val="2010810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2305C-936E-E4C6-006A-352A25FBA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B9437-46B9-465C-57A9-651DC005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EE7C02DD-2117-6C1F-43CB-14B908E8234E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[10] Cheng, T.; Song, L.; Ge, Y.; Liu, W.; Wang, X.; Shan, Y. YOLO-World: Real-time open-vocabulary object detection. In Proceedings of CVPR 2024; pp. 16901–16911.</a:t>
            </a:r>
          </a:p>
          <a:p>
            <a:pPr marL="0" indent="0">
              <a:buNone/>
            </a:pPr>
            <a:r>
              <a:rPr lang="en-AU" sz="1200" dirty="0"/>
              <a:t>[11] Wyatt, J.; Leach, A.; </a:t>
            </a:r>
            <a:r>
              <a:rPr lang="en-AU" sz="1200" dirty="0" err="1"/>
              <a:t>Schmon</a:t>
            </a:r>
            <a:r>
              <a:rPr lang="en-AU" sz="1200" dirty="0"/>
              <a:t>, S.M.; Willcocks, C.G. </a:t>
            </a:r>
            <a:r>
              <a:rPr lang="en-AU" sz="1200" dirty="0" err="1"/>
              <a:t>AnoDDPM</a:t>
            </a:r>
            <a:r>
              <a:rPr lang="en-AU" sz="1200" dirty="0"/>
              <a:t>: Anomaly detection with denoising diffusion probabilistic models. In Proceedings of CVPR Workshops 2022; pp. 650–656.</a:t>
            </a:r>
          </a:p>
          <a:p>
            <a:pPr marL="0" indent="0">
              <a:buNone/>
            </a:pPr>
            <a:r>
              <a:rPr lang="en-AU" sz="1200" dirty="0"/>
              <a:t>[12] Ren, T. et al. Grounding DINO 1.5: Advance the edge of open-set object detection. 2024.</a:t>
            </a:r>
          </a:p>
          <a:p>
            <a:pPr marL="0" indent="0">
              <a:buNone/>
            </a:pPr>
            <a:r>
              <a:rPr lang="en-AU" sz="1200" dirty="0"/>
              <a:t>[13] Ravi, N.; </a:t>
            </a:r>
            <a:r>
              <a:rPr lang="en-AU" sz="1200" dirty="0" err="1"/>
              <a:t>Gabeur</a:t>
            </a:r>
            <a:r>
              <a:rPr lang="en-AU" sz="1200" dirty="0"/>
              <a:t>, V.; Hu, Y.-T.; Hu, R.; </a:t>
            </a:r>
            <a:r>
              <a:rPr lang="en-AU" sz="1200" dirty="0" err="1"/>
              <a:t>Ryali</a:t>
            </a:r>
            <a:r>
              <a:rPr lang="en-AU" sz="1200" dirty="0"/>
              <a:t>, C.; Ma, T.; Khedr, H.; Rädle, R.; Rolland, C.; Gustafson, L.; et al. SAM 2: Segment anything in images and videos. </a:t>
            </a:r>
            <a:r>
              <a:rPr lang="en-AU" sz="1200" dirty="0" err="1"/>
              <a:t>arXiv</a:t>
            </a:r>
            <a:r>
              <a:rPr lang="en-AU" sz="1200" dirty="0"/>
              <a:t> preprint, 2024.</a:t>
            </a:r>
          </a:p>
          <a:p>
            <a:pPr marL="0" indent="0">
              <a:buNone/>
            </a:pPr>
            <a:r>
              <a:rPr lang="en-AU" sz="1200" dirty="0"/>
              <a:t>[14] Xiong, Y.; Varadarajan, B.; Wu, L.; Xiang, X.; Xiao, F.; Zhu, C.; Dai, X.; Wang, D.; Sun, F.; </a:t>
            </a:r>
            <a:r>
              <a:rPr lang="en-AU" sz="1200" dirty="0" err="1"/>
              <a:t>Iandola</a:t>
            </a:r>
            <a:r>
              <a:rPr lang="en-AU" sz="1200" dirty="0"/>
              <a:t>, F.; et al. </a:t>
            </a:r>
            <a:r>
              <a:rPr lang="en-AU" sz="1200" dirty="0" err="1"/>
              <a:t>EfficientSAM</a:t>
            </a:r>
            <a:r>
              <a:rPr lang="en-AU" sz="1200" dirty="0"/>
              <a:t>: Leveraged masked image pretraining for efficient segment anything. 2023.</a:t>
            </a:r>
          </a:p>
          <a:p>
            <a:pPr marL="0" indent="0">
              <a:buNone/>
            </a:pPr>
            <a:r>
              <a:rPr lang="en-AU" sz="1200" dirty="0"/>
              <a:t>[15] Wang, C.-Y.; Yeh, I.-H.; Liao, H.-Y.M. YOLOv9: Learning what you want to learn using programmable gradient information. 2024.</a:t>
            </a:r>
          </a:p>
          <a:p>
            <a:pPr marL="0" indent="0">
              <a:buNone/>
            </a:pPr>
            <a:r>
              <a:rPr lang="en-AU" sz="1200" dirty="0"/>
              <a:t>[16] Shi, R.; Li, Z.; Wu, Z.; Zhang, W.; Xu, Y.; Luo, G.; Ma, P.; Zhang, Z. An industrial carbon block instance segmentation algorithm based on improved YOLOv8. Scientific Reports, 2025.</a:t>
            </a:r>
          </a:p>
          <a:p>
            <a:pPr marL="0" indent="0">
              <a:buNone/>
            </a:pPr>
            <a:r>
              <a:rPr lang="en-AU" sz="1200" dirty="0"/>
              <a:t>[17] Jiang, J.; He, Z.; Wan, A.; AL-</a:t>
            </a:r>
            <a:r>
              <a:rPr lang="en-AU" sz="1200" dirty="0" err="1"/>
              <a:t>Bukhaiti</a:t>
            </a:r>
            <a:r>
              <a:rPr lang="en-AU" sz="1200" dirty="0"/>
              <a:t>, K.; Wang, K.; Zhu, P.; Cheng, X. Zero-shot industrial anomaly detection via CLIP-DINOv2 multimodal fusion. Electronics, 2025.</a:t>
            </a:r>
          </a:p>
          <a:p>
            <a:pPr marL="0" indent="0">
              <a:buNone/>
            </a:pPr>
            <a:r>
              <a:rPr lang="en-AU" sz="1200" dirty="0"/>
              <a:t>[18] Xiong, X.; Wu, Z.; Tan, S.; Li, W.; Tang, F.; Chen, Y.; Li, S.; Ma, J.; Li, G. SAM2-UNet: Segment anything 2 as a strong encoder. 2026.</a:t>
            </a:r>
          </a:p>
        </p:txBody>
      </p:sp>
    </p:spTree>
    <p:extLst>
      <p:ext uri="{BB962C8B-B14F-4D97-AF65-F5344CB8AC3E}">
        <p14:creationId xmlns:p14="http://schemas.microsoft.com/office/powerpoint/2010/main" val="1473679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26998-D806-ADE6-ECD8-9D9A77D9C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E5B20-BC59-7A28-0485-A407D1CB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1488EC34-EB99-4A8A-242D-64E9877187FC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[19] Shi, C.; Wang, K.; Zhang, G.; Li, Z.; Zhu, C. Semi-supervised semantic segmentation for industrial surface defects. Scientific Reports, 2024.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[20] Liao, K.; Nie, L.; Huang, S.; Lin, C.; Zhang, J.; Zhao, Y.; </a:t>
            </a:r>
            <a:r>
              <a:rPr lang="en-AU" sz="1200" dirty="0" err="1"/>
              <a:t>Gabbouj</a:t>
            </a:r>
            <a:r>
              <a:rPr lang="en-AU" sz="1200" dirty="0"/>
              <a:t>, M.; Tao, D. Deep learning for camera calibration and beyond: A survey. 2025.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[21] Heckler-Kram, L.; Neudeck, J.-H.; Scheler, U.; König, R.; Steger, C. The </a:t>
            </a:r>
            <a:r>
              <a:rPr lang="en-AU" sz="1200" dirty="0" err="1"/>
              <a:t>MVTec</a:t>
            </a:r>
            <a:r>
              <a:rPr lang="en-AU" sz="1200" dirty="0"/>
              <a:t> AD 2 dataset: Advanced scenarios for anomaly detection . 2025.</a:t>
            </a:r>
          </a:p>
          <a:p>
            <a:pPr marL="0" indent="0">
              <a:buNone/>
            </a:pPr>
            <a:r>
              <a:rPr lang="es-ES" sz="1200" dirty="0"/>
              <a:t>[22] Kang </a:t>
            </a:r>
            <a:r>
              <a:rPr lang="es-ES" sz="1200" dirty="0" err="1"/>
              <a:t>Liao</a:t>
            </a:r>
            <a:r>
              <a:rPr lang="es-ES" sz="1200" dirty="0"/>
              <a:t>, Lang Nie, </a:t>
            </a:r>
            <a:r>
              <a:rPr lang="es-ES" sz="1200" dirty="0" err="1"/>
              <a:t>Shujuan</a:t>
            </a:r>
            <a:r>
              <a:rPr lang="es-ES" sz="1200" dirty="0"/>
              <a:t> Huang, </a:t>
            </a:r>
            <a:r>
              <a:rPr lang="es-ES" sz="1200" dirty="0" err="1"/>
              <a:t>Chunyu</a:t>
            </a:r>
            <a:r>
              <a:rPr lang="es-ES" sz="1200" dirty="0"/>
              <a:t> Lin, Jing Zhang, Yao Zhao, </a:t>
            </a:r>
            <a:r>
              <a:rPr lang="es-ES" sz="1200" dirty="0" err="1"/>
              <a:t>Moncef</a:t>
            </a:r>
            <a:r>
              <a:rPr lang="es-ES" sz="1200" dirty="0"/>
              <a:t> </a:t>
            </a:r>
            <a:r>
              <a:rPr lang="es-ES" sz="1200" dirty="0" err="1"/>
              <a:t>Gabbouj</a:t>
            </a:r>
            <a:r>
              <a:rPr lang="es-ES" sz="1200" dirty="0"/>
              <a:t>, and </a:t>
            </a:r>
            <a:r>
              <a:rPr lang="es-ES" sz="1200" dirty="0" err="1"/>
              <a:t>Dacheng</a:t>
            </a:r>
            <a:r>
              <a:rPr lang="es-ES" sz="1200" dirty="0"/>
              <a:t> Tao. Deep </a:t>
            </a:r>
            <a:r>
              <a:rPr lang="es-ES" sz="1200" dirty="0" err="1"/>
              <a:t>learning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camera </a:t>
            </a:r>
            <a:r>
              <a:rPr lang="es-ES" sz="1200" dirty="0" err="1"/>
              <a:t>calibration</a:t>
            </a:r>
            <a:r>
              <a:rPr lang="es-ES" sz="1200" dirty="0"/>
              <a:t> and </a:t>
            </a:r>
            <a:r>
              <a:rPr lang="es-ES" sz="1200" dirty="0" err="1"/>
              <a:t>beyond</a:t>
            </a:r>
            <a:r>
              <a:rPr lang="es-ES" sz="1200" dirty="0"/>
              <a:t>: A </a:t>
            </a:r>
            <a:r>
              <a:rPr lang="es-ES" sz="1200" dirty="0" err="1"/>
              <a:t>survey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[23] Lars </a:t>
            </a:r>
            <a:r>
              <a:rPr lang="es-ES" sz="1200" dirty="0" err="1"/>
              <a:t>Heckler-Kram</a:t>
            </a:r>
            <a:r>
              <a:rPr lang="es-ES" sz="1200" dirty="0"/>
              <a:t>, Jan-</a:t>
            </a:r>
            <a:r>
              <a:rPr lang="es-ES" sz="1200" dirty="0" err="1"/>
              <a:t>Hendrik</a:t>
            </a:r>
            <a:r>
              <a:rPr lang="es-ES" sz="1200" dirty="0"/>
              <a:t> </a:t>
            </a:r>
            <a:r>
              <a:rPr lang="es-ES" sz="1200" dirty="0" err="1"/>
              <a:t>Neudeck</a:t>
            </a:r>
            <a:r>
              <a:rPr lang="es-ES" sz="1200" dirty="0"/>
              <a:t>, Ulla Scheler, Rebecca </a:t>
            </a:r>
            <a:r>
              <a:rPr lang="es-ES" sz="1200" dirty="0" err="1"/>
              <a:t>König</a:t>
            </a:r>
            <a:r>
              <a:rPr lang="es-ES" sz="1200" dirty="0"/>
              <a:t>, and </a:t>
            </a:r>
            <a:r>
              <a:rPr lang="es-ES" sz="1200" dirty="0" err="1"/>
              <a:t>Carsten</a:t>
            </a:r>
            <a:r>
              <a:rPr lang="es-ES" sz="1200" dirty="0"/>
              <a:t> </a:t>
            </a:r>
            <a:r>
              <a:rPr lang="es-ES" sz="1200" dirty="0" err="1"/>
              <a:t>Steger</a:t>
            </a:r>
            <a:r>
              <a:rPr lang="es-ES" sz="1200" dirty="0"/>
              <a:t>. </a:t>
            </a:r>
            <a:r>
              <a:rPr lang="es-ES" sz="1200" dirty="0" err="1"/>
              <a:t>The</a:t>
            </a:r>
            <a:r>
              <a:rPr lang="es-ES" sz="1200" dirty="0"/>
              <a:t> </a:t>
            </a:r>
            <a:r>
              <a:rPr lang="es-ES" sz="1200" dirty="0" err="1"/>
              <a:t>MVTec</a:t>
            </a:r>
            <a:r>
              <a:rPr lang="es-ES" sz="1200" dirty="0"/>
              <a:t> AD 2 </a:t>
            </a:r>
            <a:r>
              <a:rPr lang="es-ES" sz="1200" dirty="0" err="1"/>
              <a:t>dataset</a:t>
            </a:r>
            <a:r>
              <a:rPr lang="es-ES" sz="1200" dirty="0"/>
              <a:t>: </a:t>
            </a:r>
            <a:r>
              <a:rPr lang="es-ES" sz="1200" dirty="0" err="1"/>
              <a:t>Advanced</a:t>
            </a:r>
            <a:r>
              <a:rPr lang="es-ES" sz="1200" dirty="0"/>
              <a:t> </a:t>
            </a:r>
            <a:r>
              <a:rPr lang="es-ES" sz="1200" dirty="0" err="1"/>
              <a:t>scenarios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unsupervised</a:t>
            </a:r>
            <a:r>
              <a:rPr lang="es-ES" sz="1200" dirty="0"/>
              <a:t> </a:t>
            </a:r>
            <a:r>
              <a:rPr lang="es-ES" sz="1200" dirty="0" err="1"/>
              <a:t>anomaly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[24] S. </a:t>
            </a:r>
            <a:r>
              <a:rPr lang="es-ES" sz="1200" dirty="0" err="1"/>
              <a:t>Yesmin</a:t>
            </a:r>
            <a:r>
              <a:rPr lang="es-ES" sz="1200" dirty="0"/>
              <a:t> et al.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and </a:t>
            </a:r>
            <a:r>
              <a:rPr lang="es-ES" sz="1200" dirty="0" err="1"/>
              <a:t>noise</a:t>
            </a:r>
            <a:r>
              <a:rPr lang="es-ES" sz="1200" dirty="0"/>
              <a:t> </a:t>
            </a:r>
            <a:r>
              <a:rPr lang="es-ES" sz="1200" dirty="0" err="1"/>
              <a:t>removal</a:t>
            </a:r>
            <a:r>
              <a:rPr lang="es-ES" sz="1200" dirty="0"/>
              <a:t> </a:t>
            </a:r>
            <a:r>
              <a:rPr lang="es-ES" sz="1200" dirty="0" err="1"/>
              <a:t>process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cancerous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cell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liver</a:t>
            </a:r>
            <a:r>
              <a:rPr lang="es-ES" sz="1200" dirty="0"/>
              <a:t> </a:t>
            </a:r>
            <a:r>
              <a:rPr lang="es-ES" sz="1200" dirty="0" err="1"/>
              <a:t>through</a:t>
            </a:r>
            <a:r>
              <a:rPr lang="es-ES" sz="1200" dirty="0"/>
              <a:t> </a:t>
            </a:r>
            <a:r>
              <a:rPr lang="es-ES" sz="1200" dirty="0" err="1"/>
              <a:t>modified</a:t>
            </a:r>
            <a:r>
              <a:rPr lang="es-ES" sz="1200" dirty="0"/>
              <a:t> </a:t>
            </a:r>
            <a:r>
              <a:rPr lang="es-ES" sz="1200" dirty="0" err="1"/>
              <a:t>marker-controlled</a:t>
            </a:r>
            <a:r>
              <a:rPr lang="es-ES" sz="1200" dirty="0"/>
              <a:t> </a:t>
            </a:r>
            <a:r>
              <a:rPr lang="es-ES" sz="1200" dirty="0" err="1"/>
              <a:t>watershed</a:t>
            </a:r>
            <a:r>
              <a:rPr lang="es-ES" sz="1200" dirty="0"/>
              <a:t> </a:t>
            </a:r>
            <a:r>
              <a:rPr lang="es-ES" sz="1200" dirty="0" err="1"/>
              <a:t>approach</a:t>
            </a:r>
            <a:r>
              <a:rPr lang="es-ES" sz="1200" dirty="0"/>
              <a:t>. Springer,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[25] A. Sen et al. </a:t>
            </a:r>
            <a:r>
              <a:rPr lang="es-ES" sz="1200" dirty="0" err="1"/>
              <a:t>Feature</a:t>
            </a:r>
            <a:r>
              <a:rPr lang="es-ES" sz="1200" dirty="0"/>
              <a:t> </a:t>
            </a:r>
            <a:r>
              <a:rPr lang="es-ES" sz="1200" dirty="0" err="1"/>
              <a:t>engineering</a:t>
            </a:r>
            <a:r>
              <a:rPr lang="es-ES" sz="1200" dirty="0"/>
              <a:t> </a:t>
            </a:r>
            <a:r>
              <a:rPr lang="es-ES" sz="1200" dirty="0" err="1"/>
              <a:t>is</a:t>
            </a:r>
            <a:r>
              <a:rPr lang="es-ES" sz="1200" dirty="0"/>
              <a:t> </a:t>
            </a:r>
            <a:r>
              <a:rPr lang="es-ES" sz="1200" dirty="0" err="1"/>
              <a:t>not</a:t>
            </a:r>
            <a:r>
              <a:rPr lang="es-ES" sz="1200" dirty="0"/>
              <a:t> </a:t>
            </a:r>
            <a:r>
              <a:rPr lang="es-ES" sz="1200" dirty="0" err="1"/>
              <a:t>dead</a:t>
            </a:r>
            <a:r>
              <a:rPr lang="es-ES" sz="1200" dirty="0"/>
              <a:t>: </a:t>
            </a:r>
            <a:r>
              <a:rPr lang="es-ES" sz="1200" dirty="0" err="1"/>
              <a:t>Reviving</a:t>
            </a:r>
            <a:r>
              <a:rPr lang="es-ES" sz="1200" dirty="0"/>
              <a:t> </a:t>
            </a:r>
            <a:r>
              <a:rPr lang="es-ES" sz="1200" dirty="0" err="1"/>
              <a:t>classical</a:t>
            </a:r>
            <a:r>
              <a:rPr lang="es-ES" sz="1200" dirty="0"/>
              <a:t> machine </a:t>
            </a:r>
            <a:r>
              <a:rPr lang="es-ES" sz="1200" dirty="0" err="1"/>
              <a:t>learning</a:t>
            </a:r>
            <a:r>
              <a:rPr lang="es-ES" sz="1200" dirty="0"/>
              <a:t> </a:t>
            </a:r>
            <a:r>
              <a:rPr lang="es-ES" sz="1200" dirty="0" err="1"/>
              <a:t>with</a:t>
            </a:r>
            <a:r>
              <a:rPr lang="es-ES" sz="1200" dirty="0"/>
              <a:t> </a:t>
            </a:r>
            <a:r>
              <a:rPr lang="es-ES" sz="1200" dirty="0" err="1"/>
              <a:t>entropy</a:t>
            </a:r>
            <a:r>
              <a:rPr lang="es-ES" sz="1200" dirty="0"/>
              <a:t>, HOG, and LBP </a:t>
            </a:r>
            <a:r>
              <a:rPr lang="es-ES" sz="1200" dirty="0" err="1"/>
              <a:t>feature</a:t>
            </a:r>
            <a:r>
              <a:rPr lang="es-ES" sz="1200" dirty="0"/>
              <a:t> </a:t>
            </a:r>
            <a:r>
              <a:rPr lang="es-ES" sz="1200" dirty="0" err="1"/>
              <a:t>fusion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classification</a:t>
            </a:r>
            <a:r>
              <a:rPr lang="es-ES" sz="1200" dirty="0"/>
              <a:t>. </a:t>
            </a:r>
            <a:r>
              <a:rPr lang="es-ES" sz="1200" dirty="0" err="1"/>
              <a:t>arXiv</a:t>
            </a:r>
            <a:r>
              <a:rPr lang="es-ES" sz="1200" dirty="0"/>
              <a:t> </a:t>
            </a:r>
            <a:r>
              <a:rPr lang="es-ES" sz="1200" dirty="0" err="1"/>
              <a:t>preprint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[26] X. </a:t>
            </a:r>
            <a:r>
              <a:rPr lang="es-ES" sz="1200" dirty="0" err="1"/>
              <a:t>Xu</a:t>
            </a:r>
            <a:r>
              <a:rPr lang="es-ES" sz="1200" dirty="0"/>
              <a:t>. </a:t>
            </a:r>
            <a:r>
              <a:rPr lang="es-ES" sz="1200" dirty="0" err="1"/>
              <a:t>The</a:t>
            </a:r>
            <a:r>
              <a:rPr lang="es-ES" sz="1200" dirty="0"/>
              <a:t> </a:t>
            </a:r>
            <a:r>
              <a:rPr lang="es-ES" sz="1200" dirty="0" err="1"/>
              <a:t>application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automated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processing</a:t>
            </a:r>
            <a:r>
              <a:rPr lang="es-ES" sz="1200" dirty="0"/>
              <a:t> </a:t>
            </a:r>
            <a:r>
              <a:rPr lang="es-ES" sz="1200" dirty="0" err="1"/>
              <a:t>technology</a:t>
            </a:r>
            <a:r>
              <a:rPr lang="es-ES" sz="1200" dirty="0"/>
              <a:t> in industrial </a:t>
            </a:r>
            <a:r>
              <a:rPr lang="es-ES" sz="1200" dirty="0" err="1"/>
              <a:t>inspection</a:t>
            </a:r>
            <a:r>
              <a:rPr lang="es-ES" sz="1200" dirty="0"/>
              <a:t>. </a:t>
            </a:r>
            <a:r>
              <a:rPr lang="es-ES" sz="1200" dirty="0" err="1"/>
              <a:t>Journal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the</a:t>
            </a:r>
            <a:r>
              <a:rPr lang="es-ES" sz="1200" dirty="0"/>
              <a:t> </a:t>
            </a:r>
            <a:r>
              <a:rPr lang="es-ES" sz="1200" dirty="0" err="1"/>
              <a:t>corresponding</a:t>
            </a:r>
            <a:r>
              <a:rPr lang="es-ES" sz="1200" dirty="0"/>
              <a:t> </a:t>
            </a:r>
            <a:r>
              <a:rPr lang="es-ES" sz="1200" dirty="0" err="1"/>
              <a:t>venue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[27] Hua </a:t>
            </a:r>
            <a:r>
              <a:rPr lang="es-ES" sz="1200" dirty="0" err="1"/>
              <a:t>Song</a:t>
            </a:r>
            <a:r>
              <a:rPr lang="es-ES" sz="1200" dirty="0"/>
              <a:t> and </a:t>
            </a:r>
            <a:r>
              <a:rPr lang="es-ES" sz="1200" dirty="0" err="1"/>
              <a:t>Ziqiao</a:t>
            </a:r>
            <a:r>
              <a:rPr lang="es-ES" sz="1200" dirty="0"/>
              <a:t> </a:t>
            </a:r>
            <a:r>
              <a:rPr lang="es-ES" sz="1200" dirty="0" err="1"/>
              <a:t>Wen</a:t>
            </a:r>
            <a:r>
              <a:rPr lang="es-ES" sz="1200" dirty="0"/>
              <a:t>. Interactive </a:t>
            </a:r>
            <a:r>
              <a:rPr lang="es-ES" sz="1200" dirty="0" err="1"/>
              <a:t>design</a:t>
            </a:r>
            <a:r>
              <a:rPr lang="es-ES" sz="1200" dirty="0"/>
              <a:t> </a:t>
            </a:r>
            <a:r>
              <a:rPr lang="es-ES" sz="1200" dirty="0" err="1"/>
              <a:t>modeling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3D </a:t>
            </a:r>
            <a:r>
              <a:rPr lang="es-ES" sz="1200" dirty="0" err="1"/>
              <a:t>styling</a:t>
            </a:r>
            <a:r>
              <a:rPr lang="es-ES" sz="1200" dirty="0"/>
              <a:t> </a:t>
            </a:r>
            <a:r>
              <a:rPr lang="es-ES" sz="1200" dirty="0" err="1"/>
              <a:t>combining</a:t>
            </a:r>
            <a:r>
              <a:rPr lang="es-ES" sz="1200" dirty="0"/>
              <a:t> </a:t>
            </a:r>
            <a:r>
              <a:rPr lang="es-ES" sz="1200" dirty="0" err="1"/>
              <a:t>Bezier</a:t>
            </a:r>
            <a:r>
              <a:rPr lang="es-ES" sz="1200" dirty="0"/>
              <a:t> curve and Harris </a:t>
            </a:r>
            <a:r>
              <a:rPr lang="es-ES" sz="1200" dirty="0" err="1"/>
              <a:t>corner</a:t>
            </a:r>
            <a:r>
              <a:rPr lang="es-ES" sz="1200" dirty="0"/>
              <a:t> </a:t>
            </a:r>
            <a:r>
              <a:rPr lang="es-ES" sz="1200" dirty="0" err="1"/>
              <a:t>point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algorithm</a:t>
            </a:r>
            <a:r>
              <a:rPr lang="es-ES" sz="1200" dirty="0"/>
              <a:t>. PLOS ONE, 2025.</a:t>
            </a:r>
            <a:br>
              <a:rPr lang="es-ES" sz="1200" dirty="0"/>
            </a:b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9160365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1645B-C1E4-79A5-5D3C-43E461374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CFE35-F66B-E620-AEFA-B67674AC2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59594F04-331E-71AB-B24C-47FB0DD8A955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s-ES" sz="1200" dirty="0"/>
              <a:t>[28] </a:t>
            </a:r>
            <a:r>
              <a:rPr lang="es-ES" sz="1200" dirty="0" err="1"/>
              <a:t>Ibrar</a:t>
            </a:r>
            <a:r>
              <a:rPr lang="es-ES" sz="1200" dirty="0"/>
              <a:t> </a:t>
            </a:r>
            <a:r>
              <a:rPr lang="es-ES" sz="1200" dirty="0" err="1"/>
              <a:t>Hussain</a:t>
            </a:r>
            <a:r>
              <a:rPr lang="es-ES" sz="1200" dirty="0"/>
              <a:t>. A </a:t>
            </a:r>
            <a:r>
              <a:rPr lang="es-ES" sz="1200" dirty="0" err="1"/>
              <a:t>stable</a:t>
            </a:r>
            <a:r>
              <a:rPr lang="es-ES" sz="1200" dirty="0"/>
              <a:t> </a:t>
            </a:r>
            <a:r>
              <a:rPr lang="es-ES" sz="1200" dirty="0" err="1"/>
              <a:t>region-based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</a:t>
            </a:r>
            <a:r>
              <a:rPr lang="es-ES" sz="1200" dirty="0" err="1"/>
              <a:t>model</a:t>
            </a:r>
            <a:r>
              <a:rPr lang="es-ES" sz="1200" dirty="0"/>
              <a:t> </a:t>
            </a:r>
            <a:r>
              <a:rPr lang="es-ES" sz="1200" dirty="0" err="1"/>
              <a:t>integrating</a:t>
            </a:r>
            <a:r>
              <a:rPr lang="es-ES" sz="1200" dirty="0"/>
              <a:t> </a:t>
            </a:r>
            <a:r>
              <a:rPr lang="es-ES" sz="1200" dirty="0" err="1"/>
              <a:t>fuzzy</a:t>
            </a:r>
            <a:r>
              <a:rPr lang="es-ES" sz="1200" dirty="0"/>
              <a:t> </a:t>
            </a:r>
            <a:r>
              <a:rPr lang="es-ES" sz="1200" dirty="0" err="1"/>
              <a:t>logic</a:t>
            </a:r>
            <a:r>
              <a:rPr lang="es-ES" sz="1200" dirty="0"/>
              <a:t> and </a:t>
            </a:r>
            <a:r>
              <a:rPr lang="es-ES" sz="1200" dirty="0" err="1"/>
              <a:t>geometric</a:t>
            </a:r>
            <a:r>
              <a:rPr lang="es-ES" sz="1200" dirty="0"/>
              <a:t> </a:t>
            </a:r>
            <a:r>
              <a:rPr lang="es-ES" sz="1200" dirty="0" err="1"/>
              <a:t>principles</a:t>
            </a:r>
            <a:r>
              <a:rPr lang="es-ES" sz="1200" dirty="0"/>
              <a:t>. </a:t>
            </a:r>
            <a:r>
              <a:rPr lang="es-ES" sz="1200" dirty="0" err="1"/>
              <a:t>Acadlore</a:t>
            </a:r>
            <a:r>
              <a:rPr lang="es-ES" sz="1200" dirty="0"/>
              <a:t> </a:t>
            </a:r>
            <a:r>
              <a:rPr lang="es-ES" sz="1200" dirty="0" err="1"/>
              <a:t>Transactions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AI and Machine </a:t>
            </a:r>
            <a:r>
              <a:rPr lang="es-ES" sz="1200" dirty="0" err="1"/>
              <a:t>Learning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[29] Ibrahim </a:t>
            </a:r>
            <a:r>
              <a:rPr lang="es-ES" sz="1200" dirty="0" err="1"/>
              <a:t>Almohimeed</a:t>
            </a:r>
            <a:r>
              <a:rPr lang="es-ES" sz="1200" dirty="0"/>
              <a:t> et al. </a:t>
            </a:r>
            <a:r>
              <a:rPr lang="es-ES" sz="1200" dirty="0" err="1"/>
              <a:t>Sandpiper</a:t>
            </a:r>
            <a:r>
              <a:rPr lang="es-ES" sz="1200" dirty="0"/>
              <a:t> </a:t>
            </a:r>
            <a:r>
              <a:rPr lang="es-ES" sz="1200" dirty="0" err="1"/>
              <a:t>optimization</a:t>
            </a:r>
            <a:r>
              <a:rPr lang="es-ES" sz="1200" dirty="0"/>
              <a:t> </a:t>
            </a:r>
            <a:r>
              <a:rPr lang="es-ES" sz="1200" dirty="0" err="1"/>
              <a:t>algorithm</a:t>
            </a:r>
            <a:r>
              <a:rPr lang="es-ES" sz="1200" dirty="0"/>
              <a:t> </a:t>
            </a:r>
            <a:r>
              <a:rPr lang="es-ES" sz="1200" dirty="0" err="1"/>
              <a:t>with</a:t>
            </a:r>
            <a:r>
              <a:rPr lang="es-ES" sz="1200" dirty="0"/>
              <a:t> </a:t>
            </a:r>
            <a:r>
              <a:rPr lang="es-ES" sz="1200" dirty="0" err="1"/>
              <a:t>region</a:t>
            </a:r>
            <a:r>
              <a:rPr lang="es-ES" sz="1200" dirty="0"/>
              <a:t> </a:t>
            </a:r>
            <a:r>
              <a:rPr lang="es-ES" sz="1200" dirty="0" err="1"/>
              <a:t>growing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robust</a:t>
            </a:r>
            <a:r>
              <a:rPr lang="es-ES" sz="1200" dirty="0"/>
              <a:t> retinal </a:t>
            </a:r>
            <a:r>
              <a:rPr lang="es-ES" sz="1200" dirty="0" err="1"/>
              <a:t>blood</a:t>
            </a:r>
            <a:r>
              <a:rPr lang="es-ES" sz="1200" dirty="0"/>
              <a:t> </a:t>
            </a:r>
            <a:r>
              <a:rPr lang="es-ES" sz="1200" dirty="0" err="1"/>
              <a:t>vessel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</a:t>
            </a:r>
            <a:r>
              <a:rPr lang="es-ES" sz="1200" dirty="0" err="1"/>
              <a:t>approach</a:t>
            </a:r>
            <a:r>
              <a:rPr lang="es-ES" sz="1200" dirty="0"/>
              <a:t>. IEEE Access,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[30] </a:t>
            </a:r>
            <a:r>
              <a:rPr lang="es-ES" sz="1200" dirty="0" err="1"/>
              <a:t>Ran</a:t>
            </a:r>
            <a:r>
              <a:rPr lang="es-ES" sz="1200" dirty="0"/>
              <a:t> Jia et al. </a:t>
            </a:r>
            <a:r>
              <a:rPr lang="es-ES" sz="1200" dirty="0" err="1"/>
              <a:t>Robust</a:t>
            </a:r>
            <a:r>
              <a:rPr lang="es-ES" sz="1200" dirty="0"/>
              <a:t> </a:t>
            </a:r>
            <a:r>
              <a:rPr lang="es-ES" sz="1200" dirty="0" err="1"/>
              <a:t>ridge-patterned</a:t>
            </a:r>
            <a:r>
              <a:rPr lang="es-ES" sz="1200" dirty="0"/>
              <a:t> </a:t>
            </a:r>
            <a:r>
              <a:rPr lang="es-ES" sz="1200" dirty="0" err="1"/>
              <a:t>instance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high-resolution</a:t>
            </a:r>
            <a:r>
              <a:rPr lang="es-ES" sz="1200" dirty="0"/>
              <a:t> </a:t>
            </a:r>
            <a:r>
              <a:rPr lang="es-ES" sz="1200" dirty="0" err="1"/>
              <a:t>point</a:t>
            </a:r>
            <a:r>
              <a:rPr lang="es-ES" sz="1200" dirty="0"/>
              <a:t> </a:t>
            </a:r>
            <a:r>
              <a:rPr lang="es-ES" sz="1200" dirty="0" err="1"/>
              <a:t>cloud</a:t>
            </a:r>
            <a:r>
              <a:rPr lang="es-ES" sz="1200" dirty="0"/>
              <a:t> </a:t>
            </a:r>
            <a:r>
              <a:rPr lang="es-ES" sz="1200" dirty="0" err="1"/>
              <a:t>measurement</a:t>
            </a:r>
            <a:r>
              <a:rPr lang="es-ES" sz="1200" dirty="0"/>
              <a:t>. IEEE </a:t>
            </a:r>
            <a:r>
              <a:rPr lang="es-ES" sz="1200" dirty="0" err="1"/>
              <a:t>Transactions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Instrumentation</a:t>
            </a:r>
            <a:r>
              <a:rPr lang="es-ES" sz="1200" dirty="0"/>
              <a:t> and </a:t>
            </a:r>
            <a:r>
              <a:rPr lang="es-ES" sz="1200" dirty="0" err="1"/>
              <a:t>Measurement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[31] Jun </a:t>
            </a:r>
            <a:r>
              <a:rPr lang="es-ES" sz="1200" dirty="0" err="1"/>
              <a:t>Guo</a:t>
            </a:r>
            <a:r>
              <a:rPr lang="es-ES" sz="1200" dirty="0"/>
              <a:t>, Yang </a:t>
            </a:r>
            <a:r>
              <a:rPr lang="es-ES" sz="1200" dirty="0" err="1"/>
              <a:t>Yang</a:t>
            </a:r>
            <a:r>
              <a:rPr lang="es-ES" sz="1200" dirty="0"/>
              <a:t>, and </a:t>
            </a:r>
            <a:r>
              <a:rPr lang="es-ES" sz="1200" dirty="0" err="1"/>
              <a:t>Yuxin</a:t>
            </a:r>
            <a:r>
              <a:rPr lang="es-ES" sz="1200" dirty="0"/>
              <a:t> Chen. </a:t>
            </a:r>
            <a:r>
              <a:rPr lang="es-ES" sz="1200" dirty="0" err="1"/>
              <a:t>Research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sub-pixel</a:t>
            </a:r>
            <a:r>
              <a:rPr lang="es-ES" sz="1200" dirty="0"/>
              <a:t> </a:t>
            </a:r>
            <a:r>
              <a:rPr lang="es-ES" sz="1200" dirty="0" err="1"/>
              <a:t>accuracy</a:t>
            </a:r>
            <a:r>
              <a:rPr lang="es-ES" sz="1200" dirty="0"/>
              <a:t> </a:t>
            </a:r>
            <a:r>
              <a:rPr lang="es-ES" sz="1200" dirty="0" err="1"/>
              <a:t>flange</a:t>
            </a:r>
            <a:r>
              <a:rPr lang="es-ES" sz="1200" dirty="0"/>
              <a:t> disk </a:t>
            </a:r>
            <a:r>
              <a:rPr lang="es-ES" sz="1200" dirty="0" err="1"/>
              <a:t>dimension</a:t>
            </a:r>
            <a:r>
              <a:rPr lang="es-ES" sz="1200" dirty="0"/>
              <a:t> </a:t>
            </a:r>
            <a:r>
              <a:rPr lang="es-ES" sz="1200" dirty="0" err="1"/>
              <a:t>measurement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machine </a:t>
            </a:r>
            <a:r>
              <a:rPr lang="es-ES" sz="1200" dirty="0" err="1"/>
              <a:t>vision</a:t>
            </a:r>
            <a:r>
              <a:rPr lang="es-ES" sz="1200" dirty="0"/>
              <a:t>. </a:t>
            </a:r>
            <a:r>
              <a:rPr lang="es-ES" sz="1200" dirty="0" err="1"/>
              <a:t>Signal</a:t>
            </a:r>
            <a:r>
              <a:rPr lang="es-ES" sz="1200" dirty="0"/>
              <a:t>, </a:t>
            </a:r>
            <a:r>
              <a:rPr lang="es-ES" sz="1200" dirty="0" err="1"/>
              <a:t>Image</a:t>
            </a:r>
            <a:r>
              <a:rPr lang="es-ES" sz="1200" dirty="0"/>
              <a:t> and Video Processing,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[32] </a:t>
            </a:r>
            <a:r>
              <a:rPr lang="es-ES" sz="1200" dirty="0" err="1"/>
              <a:t>Hewa</a:t>
            </a:r>
            <a:r>
              <a:rPr lang="es-ES" sz="1200" dirty="0"/>
              <a:t> </a:t>
            </a:r>
            <a:r>
              <a:rPr lang="es-ES" sz="1200" dirty="0" err="1"/>
              <a:t>Majeed</a:t>
            </a:r>
            <a:r>
              <a:rPr lang="es-ES" sz="1200" dirty="0"/>
              <a:t> </a:t>
            </a:r>
            <a:r>
              <a:rPr lang="es-ES" sz="1200" dirty="0" err="1"/>
              <a:t>Zangana</a:t>
            </a:r>
            <a:r>
              <a:rPr lang="es-ES" sz="1200" dirty="0"/>
              <a:t>, </a:t>
            </a:r>
            <a:r>
              <a:rPr lang="es-ES" sz="1200" dirty="0" err="1"/>
              <a:t>Ayaz</a:t>
            </a:r>
            <a:r>
              <a:rPr lang="es-ES" sz="1200" dirty="0"/>
              <a:t> </a:t>
            </a:r>
            <a:r>
              <a:rPr lang="es-ES" sz="1200" dirty="0" err="1"/>
              <a:t>Khalid</a:t>
            </a:r>
            <a:r>
              <a:rPr lang="es-ES" sz="1200" dirty="0"/>
              <a:t> Mohammed, and </a:t>
            </a:r>
            <a:r>
              <a:rPr lang="es-ES" sz="1200" dirty="0" err="1"/>
              <a:t>Firas</a:t>
            </a:r>
            <a:r>
              <a:rPr lang="es-ES" sz="1200" dirty="0"/>
              <a:t> Mahmood </a:t>
            </a:r>
            <a:r>
              <a:rPr lang="es-ES" sz="1200" dirty="0" err="1"/>
              <a:t>Mustafa</a:t>
            </a:r>
            <a:r>
              <a:rPr lang="es-ES" sz="1200" dirty="0"/>
              <a:t>. </a:t>
            </a:r>
            <a:r>
              <a:rPr lang="es-ES" sz="1200" dirty="0" err="1"/>
              <a:t>Advancements</a:t>
            </a:r>
            <a:r>
              <a:rPr lang="es-ES" sz="1200" dirty="0"/>
              <a:t> in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techniques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enhancement</a:t>
            </a:r>
            <a:r>
              <a:rPr lang="es-ES" sz="1200" dirty="0"/>
              <a:t>: A comprehensive </a:t>
            </a:r>
            <a:r>
              <a:rPr lang="es-ES" sz="1200" dirty="0" err="1"/>
              <a:t>review</a:t>
            </a:r>
            <a:r>
              <a:rPr lang="es-ES" sz="1200" dirty="0"/>
              <a:t>. International </a:t>
            </a:r>
            <a:r>
              <a:rPr lang="es-ES" sz="1200" dirty="0" err="1"/>
              <a:t>Journal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Artificial </a:t>
            </a:r>
            <a:r>
              <a:rPr lang="es-ES" sz="1200" dirty="0" err="1"/>
              <a:t>Intelligence</a:t>
            </a:r>
            <a:r>
              <a:rPr lang="es-ES" sz="1200" dirty="0"/>
              <a:t> &amp; </a:t>
            </a:r>
            <a:r>
              <a:rPr lang="es-ES" sz="1200" dirty="0" err="1"/>
              <a:t>Robotics</a:t>
            </a:r>
            <a:r>
              <a:rPr lang="es-ES" sz="1200" dirty="0"/>
              <a:t>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[33] José L. Mira et al. Benchmarking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computer</a:t>
            </a:r>
            <a:r>
              <a:rPr lang="es-ES" sz="1200" dirty="0"/>
              <a:t> </a:t>
            </a:r>
            <a:r>
              <a:rPr lang="es-ES" sz="1200" dirty="0" err="1"/>
              <a:t>vision</a:t>
            </a:r>
            <a:r>
              <a:rPr lang="es-ES" sz="1200" dirty="0"/>
              <a:t> </a:t>
            </a:r>
            <a:r>
              <a:rPr lang="es-ES" sz="1200" dirty="0" err="1"/>
              <a:t>methods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energy-efficient</a:t>
            </a:r>
            <a:r>
              <a:rPr lang="es-ES" sz="1200" dirty="0"/>
              <a:t> </a:t>
            </a:r>
            <a:r>
              <a:rPr lang="es-ES" sz="1200" dirty="0" err="1"/>
              <a:t>high-accuracy</a:t>
            </a:r>
            <a:r>
              <a:rPr lang="es-ES" sz="1200" dirty="0"/>
              <a:t> olive </a:t>
            </a:r>
            <a:r>
              <a:rPr lang="es-ES" sz="1200" dirty="0" err="1"/>
              <a:t>fly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devices</a:t>
            </a:r>
            <a:r>
              <a:rPr lang="es-ES" sz="1200" dirty="0"/>
              <a:t>. Multimedia Tools and </a:t>
            </a:r>
            <a:r>
              <a:rPr lang="es-ES" sz="1200" dirty="0" err="1"/>
              <a:t>Applications</a:t>
            </a:r>
            <a:r>
              <a:rPr lang="es-ES" sz="1200" dirty="0"/>
              <a:t>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[34] Mikel González et al. Adaptive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finishing</a:t>
            </a:r>
            <a:r>
              <a:rPr lang="es-ES" sz="1200" dirty="0"/>
              <a:t> </a:t>
            </a:r>
            <a:r>
              <a:rPr lang="es-ES" sz="1200" dirty="0" err="1"/>
              <a:t>process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distorted</a:t>
            </a:r>
            <a:r>
              <a:rPr lang="es-ES" sz="1200" dirty="0"/>
              <a:t> </a:t>
            </a:r>
            <a:r>
              <a:rPr lang="es-ES" sz="1200" dirty="0" err="1"/>
              <a:t>features</a:t>
            </a:r>
            <a:r>
              <a:rPr lang="es-ES" sz="1200" dirty="0"/>
              <a:t> </a:t>
            </a:r>
            <a:r>
              <a:rPr lang="es-ES" sz="1200" dirty="0" err="1"/>
              <a:t>through</a:t>
            </a:r>
            <a:r>
              <a:rPr lang="es-ES" sz="1200" dirty="0"/>
              <a:t> robot-</a:t>
            </a:r>
            <a:r>
              <a:rPr lang="es-ES" sz="1200" dirty="0" err="1"/>
              <a:t>assisted</a:t>
            </a:r>
            <a:r>
              <a:rPr lang="es-ES" sz="1200" dirty="0"/>
              <a:t> </a:t>
            </a:r>
            <a:r>
              <a:rPr lang="es-ES" sz="1200" dirty="0" err="1"/>
              <a:t>computer</a:t>
            </a:r>
            <a:r>
              <a:rPr lang="es-ES" sz="1200" dirty="0"/>
              <a:t> </a:t>
            </a:r>
            <a:r>
              <a:rPr lang="es-ES" sz="1200" dirty="0" err="1"/>
              <a:t>vision</a:t>
            </a:r>
            <a:r>
              <a:rPr lang="es-ES" sz="1200" dirty="0"/>
              <a:t>. </a:t>
            </a:r>
            <a:r>
              <a:rPr lang="es-ES" sz="1200" dirty="0" err="1"/>
              <a:t>Journal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Manufacturing</a:t>
            </a:r>
            <a:r>
              <a:rPr lang="es-ES" sz="1200" dirty="0"/>
              <a:t> </a:t>
            </a:r>
            <a:r>
              <a:rPr lang="es-ES" sz="1200" dirty="0" err="1"/>
              <a:t>Systems</a:t>
            </a:r>
            <a:r>
              <a:rPr lang="es-ES" sz="1200" dirty="0"/>
              <a:t>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[35] Hasan </a:t>
            </a:r>
            <a:r>
              <a:rPr lang="es-ES" sz="1200" dirty="0" err="1"/>
              <a:t>Muzakki</a:t>
            </a:r>
            <a:r>
              <a:rPr lang="es-ES" sz="1200" dirty="0"/>
              <a:t> et al. </a:t>
            </a:r>
            <a:r>
              <a:rPr lang="es-ES" sz="1200" dirty="0" err="1"/>
              <a:t>Evaluating</a:t>
            </a:r>
            <a:r>
              <a:rPr lang="es-ES" sz="1200" dirty="0"/>
              <a:t> K-</a:t>
            </a:r>
            <a:r>
              <a:rPr lang="es-ES" sz="1200" dirty="0" err="1"/>
              <a:t>nearest</a:t>
            </a:r>
            <a:r>
              <a:rPr lang="es-ES" sz="1200" dirty="0"/>
              <a:t> </a:t>
            </a:r>
            <a:r>
              <a:rPr lang="es-ES" sz="1200" dirty="0" err="1"/>
              <a:t>neighbors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X-</a:t>
            </a:r>
            <a:r>
              <a:rPr lang="es-ES" sz="1200" dirty="0" err="1"/>
              <a:t>ray</a:t>
            </a:r>
            <a:r>
              <a:rPr lang="es-ES" sz="1200" dirty="0"/>
              <a:t> </a:t>
            </a:r>
            <a:r>
              <a:rPr lang="es-ES" sz="1200" dirty="0" err="1"/>
              <a:t>bone</a:t>
            </a:r>
            <a:r>
              <a:rPr lang="es-ES" sz="1200" dirty="0"/>
              <a:t> fracture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using</a:t>
            </a:r>
            <a:r>
              <a:rPr lang="es-ES" sz="1200" dirty="0"/>
              <a:t> HOG, LBP, and SIFT </a:t>
            </a:r>
            <a:r>
              <a:rPr lang="es-ES" sz="1200" dirty="0" err="1"/>
              <a:t>feature</a:t>
            </a:r>
            <a:r>
              <a:rPr lang="es-ES" sz="1200" dirty="0"/>
              <a:t> </a:t>
            </a:r>
            <a:r>
              <a:rPr lang="es-ES" sz="1200" dirty="0" err="1"/>
              <a:t>extraction</a:t>
            </a:r>
            <a:r>
              <a:rPr lang="es-ES" sz="1200" dirty="0"/>
              <a:t> </a:t>
            </a:r>
            <a:r>
              <a:rPr lang="es-ES" sz="1200" dirty="0" err="1"/>
              <a:t>methods</a:t>
            </a:r>
            <a:r>
              <a:rPr lang="es-ES" sz="1200" dirty="0"/>
              <a:t>. IEEE Access,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[36] </a:t>
            </a:r>
            <a:r>
              <a:rPr lang="es-ES" sz="1200" dirty="0" err="1"/>
              <a:t>Hengxu</a:t>
            </a:r>
            <a:r>
              <a:rPr lang="es-ES" sz="1200" dirty="0"/>
              <a:t> Liu et al. Surface </a:t>
            </a:r>
            <a:r>
              <a:rPr lang="es-ES" sz="1200" dirty="0" err="1"/>
              <a:t>defect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machine </a:t>
            </a:r>
            <a:r>
              <a:rPr lang="es-ES" sz="1200" dirty="0" err="1"/>
              <a:t>learning</a:t>
            </a:r>
            <a:r>
              <a:rPr lang="es-ES" sz="1200" dirty="0"/>
              <a:t> and data </a:t>
            </a:r>
            <a:r>
              <a:rPr lang="es-ES" sz="1200" dirty="0" err="1"/>
              <a:t>augmentation</a:t>
            </a:r>
            <a:r>
              <a:rPr lang="es-ES" sz="1200" dirty="0"/>
              <a:t>. IEEE ICCASIT, 2024.</a:t>
            </a:r>
            <a:br>
              <a:rPr lang="es-ES" sz="1200" dirty="0"/>
            </a:b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3496561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9D395-0DCE-F844-C693-B1E059AE1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4A607-F38C-FA12-1666-45CE236AB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BA3671E2-9B53-8E54-4F8C-36EE552F2A7E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s-ES" sz="1200"/>
              <a:t>[37] Hafizh Eryadi. Comparative analysis of SVM and XGBoost classifiers with HOG features for concrete crack detection. IT Journal Research and Development, 2025.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[38] Hung et al. Tool wear classification based on support vector machine and deep learning models. Sensors and Materials, 2024.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[39] Priananda et al. Machine learning-based phase resolved partial discharge pattern classification using HOG and PCA. IEEE Conference, 2024.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[40] Ding et al. Homography decomposition revisited. International Journal of Computer Vision, 2025.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[41] Zhang et al. A high-quality and convenient camera calibration method using a single image. Electronics, 2024.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[42] Ge et al. Research on surface defect classification model of automotive flange disks based on machine vision. Signal, Image and Video Processing, 2025.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[43] Tsung-Yi Lin et al. Microsoft COCO: Common objects in context. ECCV, 2014.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[44] Kechen Song and Yunhui Yan. A noise robust method based on completed local binary patterns for hot-rolled steel strip surface defects. Applied Surface Science, 2013.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[45] David R. Martin et al. A database of human segmented natural images and its application to evaluating segmentation algorithms. ICCV, 2001.</a:t>
            </a:r>
            <a:br>
              <a:rPr lang="es-ES" sz="1200"/>
            </a:br>
            <a:br>
              <a:rPr lang="es-ES" sz="1200"/>
            </a:b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3704748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4F8E5-7611-8987-DDFA-D0CA009D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5F25-FA07-94F2-5DF4-F56CF8FFA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DB0436EC-7240-0DD4-BD4A-E02191ED4E6C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s-ES" sz="1200" dirty="0"/>
              <a:t>[46] Pablo Arbeláez et al. </a:t>
            </a:r>
            <a:r>
              <a:rPr lang="es-ES" sz="1200" dirty="0" err="1"/>
              <a:t>Contour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and </a:t>
            </a:r>
            <a:r>
              <a:rPr lang="es-ES" sz="1200" dirty="0" err="1"/>
              <a:t>hierarchical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. IEEE TPAMI, 2011.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[47] Mark </a:t>
            </a:r>
            <a:r>
              <a:rPr lang="es-ES" sz="1200" dirty="0" err="1"/>
              <a:t>Everingham</a:t>
            </a:r>
            <a:r>
              <a:rPr lang="es-ES" sz="1200" dirty="0"/>
              <a:t> et al. </a:t>
            </a:r>
            <a:r>
              <a:rPr lang="es-ES" sz="1200" dirty="0" err="1"/>
              <a:t>The</a:t>
            </a:r>
            <a:r>
              <a:rPr lang="es-ES" sz="1200" dirty="0"/>
              <a:t> PASCAL visual </a:t>
            </a:r>
            <a:r>
              <a:rPr lang="es-ES" sz="1200" dirty="0" err="1"/>
              <a:t>object</a:t>
            </a:r>
            <a:r>
              <a:rPr lang="es-ES" sz="1200" dirty="0"/>
              <a:t> </a:t>
            </a:r>
            <a:r>
              <a:rPr lang="es-ES" sz="1200" dirty="0" err="1"/>
              <a:t>classes</a:t>
            </a:r>
            <a:r>
              <a:rPr lang="es-ES" sz="1200" dirty="0"/>
              <a:t> (VOC) </a:t>
            </a:r>
            <a:r>
              <a:rPr lang="es-ES" sz="1200" dirty="0" err="1"/>
              <a:t>challenge</a:t>
            </a:r>
            <a:r>
              <a:rPr lang="es-ES" sz="1200" dirty="0"/>
              <a:t>. IJCV, 2010.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[48] </a:t>
            </a:r>
            <a:r>
              <a:rPr lang="es-ES" sz="1200" dirty="0" err="1"/>
              <a:t>Xiaoping</a:t>
            </a:r>
            <a:r>
              <a:rPr lang="es-ES" sz="1200" dirty="0"/>
              <a:t> Wu et al. IP102: A </a:t>
            </a:r>
            <a:r>
              <a:rPr lang="es-ES" sz="1200" dirty="0" err="1"/>
              <a:t>large-scale</a:t>
            </a:r>
            <a:r>
              <a:rPr lang="es-ES" sz="1200" dirty="0"/>
              <a:t> </a:t>
            </a:r>
            <a:r>
              <a:rPr lang="es-ES" sz="1200" dirty="0" err="1"/>
              <a:t>benchmark</a:t>
            </a:r>
            <a:r>
              <a:rPr lang="es-ES" sz="1200" dirty="0"/>
              <a:t> </a:t>
            </a:r>
            <a:r>
              <a:rPr lang="es-ES" sz="1200" dirty="0" err="1"/>
              <a:t>dataset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insect</a:t>
            </a:r>
            <a:r>
              <a:rPr lang="es-ES" sz="1200" dirty="0"/>
              <a:t> </a:t>
            </a:r>
            <a:r>
              <a:rPr lang="es-ES" sz="1200" dirty="0" err="1"/>
              <a:t>pest</a:t>
            </a:r>
            <a:r>
              <a:rPr lang="es-ES" sz="1200" dirty="0"/>
              <a:t> </a:t>
            </a:r>
            <a:r>
              <a:rPr lang="es-ES" sz="1200" dirty="0" err="1"/>
              <a:t>recognition</a:t>
            </a:r>
            <a:r>
              <a:rPr lang="es-ES" sz="1200" dirty="0"/>
              <a:t>. CVPR, 2019.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[49] </a:t>
            </a:r>
            <a:r>
              <a:rPr lang="es-ES" sz="1200" dirty="0" err="1"/>
              <a:t>Pranav</a:t>
            </a:r>
            <a:r>
              <a:rPr lang="es-ES" sz="1200" dirty="0"/>
              <a:t> </a:t>
            </a:r>
            <a:r>
              <a:rPr lang="es-ES" sz="1200" dirty="0" err="1"/>
              <a:t>Rajpurkar</a:t>
            </a:r>
            <a:r>
              <a:rPr lang="es-ES" sz="1200" dirty="0"/>
              <a:t> et al. MURA: </a:t>
            </a:r>
            <a:r>
              <a:rPr lang="es-ES" sz="1200" dirty="0" err="1"/>
              <a:t>Large</a:t>
            </a:r>
            <a:r>
              <a:rPr lang="es-ES" sz="1200" dirty="0"/>
              <a:t> </a:t>
            </a:r>
            <a:r>
              <a:rPr lang="es-ES" sz="1200" dirty="0" err="1"/>
              <a:t>dataset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abnormality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in </a:t>
            </a:r>
            <a:r>
              <a:rPr lang="es-ES" sz="1200" dirty="0" err="1"/>
              <a:t>musculoskeletal</a:t>
            </a:r>
            <a:r>
              <a:rPr lang="es-ES" sz="1200" dirty="0"/>
              <a:t> </a:t>
            </a:r>
            <a:r>
              <a:rPr lang="es-ES" sz="1200" dirty="0" err="1"/>
              <a:t>radiographs</a:t>
            </a:r>
            <a:r>
              <a:rPr lang="es-ES" sz="1200" dirty="0"/>
              <a:t>. </a:t>
            </a:r>
            <a:r>
              <a:rPr lang="es-ES" sz="1200" dirty="0" err="1"/>
              <a:t>arXiv</a:t>
            </a:r>
            <a:r>
              <a:rPr lang="es-ES" sz="1200" dirty="0"/>
              <a:t>, 2017.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[50] John </a:t>
            </a:r>
            <a:r>
              <a:rPr lang="es-ES" sz="1200" dirty="0" err="1"/>
              <a:t>Canny</a:t>
            </a:r>
            <a:r>
              <a:rPr lang="es-ES" sz="1200" dirty="0"/>
              <a:t>. A </a:t>
            </a:r>
            <a:r>
              <a:rPr lang="es-ES" sz="1200" dirty="0" err="1"/>
              <a:t>computational</a:t>
            </a:r>
            <a:r>
              <a:rPr lang="es-ES" sz="1200" dirty="0"/>
              <a:t> </a:t>
            </a:r>
            <a:r>
              <a:rPr lang="es-ES" sz="1200" dirty="0" err="1"/>
              <a:t>approach</a:t>
            </a:r>
            <a:r>
              <a:rPr lang="es-ES" sz="1200" dirty="0"/>
              <a:t> </a:t>
            </a:r>
            <a:r>
              <a:rPr lang="es-ES" sz="1200" dirty="0" err="1"/>
              <a:t>to</a:t>
            </a:r>
            <a:r>
              <a:rPr lang="es-ES" sz="1200" dirty="0"/>
              <a:t>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. IEEE TPAMI, 1986.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[51] Rafael </a:t>
            </a:r>
            <a:r>
              <a:rPr lang="es-ES" sz="1200" dirty="0" err="1"/>
              <a:t>Grompone</a:t>
            </a:r>
            <a:r>
              <a:rPr lang="es-ES" sz="1200" dirty="0"/>
              <a:t> </a:t>
            </a:r>
            <a:r>
              <a:rPr lang="es-ES" sz="1200" dirty="0" err="1"/>
              <a:t>von</a:t>
            </a:r>
            <a:r>
              <a:rPr lang="es-ES" sz="1200" dirty="0"/>
              <a:t> </a:t>
            </a:r>
            <a:r>
              <a:rPr lang="es-ES" sz="1200" dirty="0" err="1"/>
              <a:t>Gioi</a:t>
            </a:r>
            <a:r>
              <a:rPr lang="es-ES" sz="1200" dirty="0"/>
              <a:t> et al. LSD: A line </a:t>
            </a:r>
            <a:r>
              <a:rPr lang="es-ES" sz="1200" dirty="0" err="1"/>
              <a:t>segment</a:t>
            </a:r>
            <a:r>
              <a:rPr lang="es-ES" sz="1200" dirty="0"/>
              <a:t> detector. </a:t>
            </a:r>
            <a:r>
              <a:rPr lang="es-ES" sz="1200" dirty="0" err="1"/>
              <a:t>Image</a:t>
            </a:r>
            <a:r>
              <a:rPr lang="es-ES" sz="1200" dirty="0"/>
              <a:t> Processing </a:t>
            </a:r>
            <a:r>
              <a:rPr lang="es-ES" sz="1200" dirty="0" err="1"/>
              <a:t>On</a:t>
            </a:r>
            <a:r>
              <a:rPr lang="es-ES" sz="1200" dirty="0"/>
              <a:t> Line, 2012.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[52] Piotr </a:t>
            </a:r>
            <a:r>
              <a:rPr lang="es-ES" sz="1200" dirty="0" err="1"/>
              <a:t>Dollár</a:t>
            </a:r>
            <a:r>
              <a:rPr lang="es-ES" sz="1200" dirty="0"/>
              <a:t> and C. Lawrence </a:t>
            </a:r>
            <a:r>
              <a:rPr lang="es-ES" sz="1200" dirty="0" err="1"/>
              <a:t>Zitnick</a:t>
            </a:r>
            <a:r>
              <a:rPr lang="es-ES" sz="1200" dirty="0"/>
              <a:t>. </a:t>
            </a:r>
            <a:r>
              <a:rPr lang="es-ES" sz="1200" dirty="0" err="1"/>
              <a:t>Structured</a:t>
            </a:r>
            <a:r>
              <a:rPr lang="es-ES" sz="1200" dirty="0"/>
              <a:t> </a:t>
            </a:r>
            <a:r>
              <a:rPr lang="es-ES" sz="1200" dirty="0" err="1"/>
              <a:t>forests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fast</a:t>
            </a:r>
            <a:r>
              <a:rPr lang="es-ES" sz="1200" dirty="0"/>
              <a:t>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. ICCV, 2013.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[53] Luc Vincent and Pierre </a:t>
            </a:r>
            <a:r>
              <a:rPr lang="es-ES" sz="1200" dirty="0" err="1"/>
              <a:t>Soille</a:t>
            </a:r>
            <a:r>
              <a:rPr lang="es-ES" sz="1200" dirty="0"/>
              <a:t>. </a:t>
            </a:r>
            <a:r>
              <a:rPr lang="es-ES" sz="1200" dirty="0" err="1"/>
              <a:t>Watersheds</a:t>
            </a:r>
            <a:r>
              <a:rPr lang="es-ES" sz="1200" dirty="0"/>
              <a:t> in digital </a:t>
            </a:r>
            <a:r>
              <a:rPr lang="es-ES" sz="1200" dirty="0" err="1"/>
              <a:t>spaces</a:t>
            </a:r>
            <a:r>
              <a:rPr lang="es-ES" sz="1200" dirty="0"/>
              <a:t>: </a:t>
            </a:r>
            <a:r>
              <a:rPr lang="es-ES" sz="1200" dirty="0" err="1"/>
              <a:t>An</a:t>
            </a:r>
            <a:r>
              <a:rPr lang="es-ES" sz="1200" dirty="0"/>
              <a:t> </a:t>
            </a:r>
            <a:r>
              <a:rPr lang="es-ES" sz="1200" dirty="0" err="1"/>
              <a:t>efficient</a:t>
            </a:r>
            <a:r>
              <a:rPr lang="es-ES" sz="1200" dirty="0"/>
              <a:t> </a:t>
            </a:r>
            <a:r>
              <a:rPr lang="es-ES" sz="1200" dirty="0" err="1"/>
              <a:t>algorithm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immersion</a:t>
            </a:r>
            <a:r>
              <a:rPr lang="es-ES" sz="1200" dirty="0"/>
              <a:t> </a:t>
            </a:r>
            <a:r>
              <a:rPr lang="es-ES" sz="1200" dirty="0" err="1"/>
              <a:t>simulations</a:t>
            </a:r>
            <a:r>
              <a:rPr lang="es-ES" sz="1200" dirty="0"/>
              <a:t>. IEEE TPAMI, 1991.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[54] Alejandro F. </a:t>
            </a:r>
            <a:r>
              <a:rPr lang="es-ES" sz="1200" dirty="0" err="1"/>
              <a:t>Frangi</a:t>
            </a:r>
            <a:r>
              <a:rPr lang="es-ES" sz="1200" dirty="0"/>
              <a:t> et al. </a:t>
            </a:r>
            <a:r>
              <a:rPr lang="es-ES" sz="1200" dirty="0" err="1"/>
              <a:t>Multi-scale</a:t>
            </a:r>
            <a:r>
              <a:rPr lang="es-ES" sz="1200" dirty="0"/>
              <a:t> </a:t>
            </a:r>
            <a:r>
              <a:rPr lang="es-ES" sz="1200" dirty="0" err="1"/>
              <a:t>vessel</a:t>
            </a:r>
            <a:r>
              <a:rPr lang="es-ES" sz="1200" dirty="0"/>
              <a:t> </a:t>
            </a:r>
            <a:r>
              <a:rPr lang="es-ES" sz="1200" dirty="0" err="1"/>
              <a:t>enhancement</a:t>
            </a:r>
            <a:r>
              <a:rPr lang="es-ES" sz="1200" dirty="0"/>
              <a:t> </a:t>
            </a:r>
            <a:r>
              <a:rPr lang="es-ES" sz="1200" dirty="0" err="1"/>
              <a:t>filtering</a:t>
            </a:r>
            <a:r>
              <a:rPr lang="es-ES" sz="1200" dirty="0"/>
              <a:t>. MICCAI, 1998.</a:t>
            </a: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1852418375"/>
      </p:ext>
    </p:extLst>
  </p:cSld>
  <p:clrMapOvr>
    <a:masterClrMapping/>
  </p:clrMapOvr>
</p:sld>
</file>

<file path=ppt/theme/theme1.xml><?xml version="1.0" encoding="utf-8"?>
<a:theme xmlns:a="http://schemas.openxmlformats.org/drawingml/2006/main" name="ppt corpo">
  <a:themeElements>
    <a:clrScheme name="incibe">
      <a:dk1>
        <a:srgbClr val="000000"/>
      </a:dk1>
      <a:lt1>
        <a:sysClr val="window" lastClr="FFFFFF"/>
      </a:lt1>
      <a:dk2>
        <a:srgbClr val="1F497D"/>
      </a:dk2>
      <a:lt2>
        <a:srgbClr val="EEECE1"/>
      </a:lt2>
      <a:accent1>
        <a:srgbClr val="E73137"/>
      </a:accent1>
      <a:accent2>
        <a:srgbClr val="C5343A"/>
      </a:accent2>
      <a:accent3>
        <a:srgbClr val="8AD059"/>
      </a:accent3>
      <a:accent4>
        <a:srgbClr val="EBD000"/>
      </a:accent4>
      <a:accent5>
        <a:srgbClr val="F8DC00"/>
      </a:accent5>
      <a:accent6>
        <a:srgbClr val="009CDD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ES_PLL_Presentacion_extendida_ULE_v1_0.potx" id="{A04B8077-A9BE-49AA-AE55-EA6FC1C99D2C}" vid="{E2180ED5-67C8-4A5A-97FA-887F32D0F35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DES_ASL_Presentacion_seminario_INC_ULE_v1_0</Template>
  <TotalTime>416</TotalTime>
  <Words>2399</Words>
  <Application>Microsoft Office PowerPoint</Application>
  <PresentationFormat>Presentación en pantalla (4:3)</PresentationFormat>
  <Paragraphs>137</Paragraphs>
  <Slides>22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9" baseType="lpstr">
      <vt:lpstr>Arial</vt:lpstr>
      <vt:lpstr>Calibri</vt:lpstr>
      <vt:lpstr>Geneva</vt:lpstr>
      <vt:lpstr>Tahoma</vt:lpstr>
      <vt:lpstr>Times New Roman</vt:lpstr>
      <vt:lpstr>Trebuchet MS</vt:lpstr>
      <vt:lpstr>ppt corpo</vt:lpstr>
      <vt:lpstr>Detection, Segmentation and Calibration of Rubber Strips</vt:lpstr>
      <vt:lpstr>Presentación de PowerPoint</vt:lpstr>
      <vt:lpstr>1. Introduction</vt:lpstr>
      <vt:lpstr>Presentación de PowerPoint</vt:lpstr>
      <vt:lpstr>2. Literature review – Deep Learning</vt:lpstr>
      <vt:lpstr>2. Literature review – Deep Learning</vt:lpstr>
      <vt:lpstr>2. Literature review – Classical</vt:lpstr>
      <vt:lpstr>2. Literature review – Classical</vt:lpstr>
      <vt:lpstr>3. Selected method (Deep 1): Grounded-SAM</vt:lpstr>
      <vt:lpstr>3. Selected method (Deep 2): YOLOv9 + EfficientSAM</vt:lpstr>
      <vt:lpstr>3. Selected method (Classical 1): </vt:lpstr>
      <vt:lpstr>3. Selected method (Classical 2): Adaptative Canny</vt:lpstr>
      <vt:lpstr>4. Datasets </vt:lpstr>
      <vt:lpstr>5. Performance Metrics</vt:lpstr>
      <vt:lpstr>6. Conclusions</vt:lpstr>
      <vt:lpstr>Presentación de PowerPoint</vt:lpstr>
      <vt:lpstr> 7. References</vt:lpstr>
      <vt:lpstr> 7. References</vt:lpstr>
      <vt:lpstr> 7. References</vt:lpstr>
      <vt:lpstr> 7. References</vt:lpstr>
      <vt:lpstr> 7. References</vt:lpstr>
      <vt:lpstr> 7. 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VA_Template_Course_Project_Presentations</dc:title>
  <dc:creator>Eduardo Fidalgo Fernández</dc:creator>
  <cp:keywords>VA</cp:keywords>
  <cp:lastModifiedBy>Miguel Sánchez Rodríguez</cp:lastModifiedBy>
  <cp:revision>838</cp:revision>
  <cp:lastPrinted>2017-01-11T09:40:40Z</cp:lastPrinted>
  <dcterms:created xsi:type="dcterms:W3CDTF">2016-05-17T14:50:09Z</dcterms:created>
  <dcterms:modified xsi:type="dcterms:W3CDTF">2026-04-07T19:53:29Z</dcterms:modified>
  <cp:category>EFF</cp:category>
</cp:coreProperties>
</file>