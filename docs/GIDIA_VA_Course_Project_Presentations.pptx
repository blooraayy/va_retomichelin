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7" r:id="rId2"/>
    <p:sldId id="283" r:id="rId3"/>
    <p:sldId id="348" r:id="rId4"/>
    <p:sldId id="403" r:id="rId5"/>
    <p:sldId id="318" r:id="rId6"/>
    <p:sldId id="411" r:id="rId7"/>
    <p:sldId id="414" r:id="rId8"/>
    <p:sldId id="405" r:id="rId9"/>
    <p:sldId id="409" r:id="rId10"/>
    <p:sldId id="412" r:id="rId11"/>
    <p:sldId id="413" r:id="rId12"/>
    <p:sldId id="415" r:id="rId13"/>
    <p:sldId id="416" r:id="rId14"/>
    <p:sldId id="383" r:id="rId15"/>
    <p:sldId id="287" r:id="rId16"/>
    <p:sldId id="404" r:id="rId17"/>
    <p:sldId id="417" r:id="rId18"/>
    <p:sldId id="41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duardo Fidalgo Fernández" initials="EFF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405"/>
    <a:srgbClr val="DA7D00"/>
    <a:srgbClr val="B46700"/>
    <a:srgbClr val="E731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055" autoAdjust="0"/>
    <p:restoredTop sz="87217" autoAdjust="0"/>
  </p:normalViewPr>
  <p:slideViewPr>
    <p:cSldViewPr snapToGrid="0" snapToObjects="1">
      <p:cViewPr varScale="1">
        <p:scale>
          <a:sx n="138" d="100"/>
          <a:sy n="138" d="100"/>
        </p:scale>
        <p:origin x="2352" y="13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6" d="100"/>
          <a:sy n="56" d="100"/>
        </p:scale>
        <p:origin x="2588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DD89B-4A46-4028-8866-1E86EFBC0DEE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663320-C517-4111-B5EF-92285AC8AC4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052898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9EA62F-3719-438F-A310-6434B1FA2AEA}" type="datetimeFigureOut">
              <a:rPr lang="es-ES" smtClean="0"/>
              <a:t>07/04/2026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D135E5-457A-4183-A722-09BD01DC125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4974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29982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charset="0"/>
              <a:buChar char="•"/>
            </a:pPr>
            <a:endParaRPr lang="es-ES_tradnl" sz="120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52293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/>
              <a:t>Morado -&gt; Métodos Híbridos (Detección + Segmentación)</a:t>
            </a:r>
          </a:p>
          <a:p>
            <a:pPr marL="171450" indent="-171450">
              <a:buFontTx/>
              <a:buChar char="-"/>
            </a:pPr>
            <a:r>
              <a:rPr lang="es-ES" dirty="0"/>
              <a:t>Naranja -&gt; Calibración/</a:t>
            </a:r>
            <a:r>
              <a:rPr lang="es-ES" dirty="0" err="1"/>
              <a:t>Geomtería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1980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8BE88-AC6E-27BA-41D1-018915484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DEDD5A2-70F8-C098-864B-CC56B40F4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2ED028F-4A11-594A-446B-33F3871CB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5C3057B-0C6F-1BE7-8F94-67E2D8EC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4136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3E4B4-2AD9-5E21-26AB-66ABCDF3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BB4248-D368-6261-88B3-E392ADDA0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4BD80B-23D5-11C7-01A2-C039937E8D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570D81-D34D-8768-2617-AEB56BA0BB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25781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794766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77ABA-3E86-EECD-401B-31AADFCEC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FEA23A6-7687-F950-AF86-7BF998D2A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406A04D-79C9-0FE3-EAAE-A7CC777AC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ES" dirty="0" err="1"/>
              <a:t>Grounding</a:t>
            </a:r>
            <a:r>
              <a:rPr lang="es-ES" dirty="0"/>
              <a:t> DINO -&gt; </a:t>
            </a:r>
            <a:r>
              <a:rPr lang="es-ES" dirty="0" err="1"/>
              <a:t>Object</a:t>
            </a:r>
            <a:r>
              <a:rPr lang="es-ES" dirty="0"/>
              <a:t> </a:t>
            </a:r>
            <a:r>
              <a:rPr lang="es-ES" dirty="0" err="1"/>
              <a:t>Detection</a:t>
            </a:r>
            <a:endParaRPr lang="es-ES" dirty="0"/>
          </a:p>
          <a:p>
            <a:pPr marL="171450" indent="-171450">
              <a:buFontTx/>
              <a:buChar char="-"/>
            </a:pPr>
            <a:r>
              <a:rPr lang="es-ES" dirty="0"/>
              <a:t>SAM -&gt; precise </a:t>
            </a:r>
            <a:r>
              <a:rPr lang="es-ES" dirty="0" err="1"/>
              <a:t>segmentation</a:t>
            </a:r>
            <a:r>
              <a:rPr lang="es-ES" dirty="0"/>
              <a:t> </a:t>
            </a:r>
            <a:r>
              <a:rPr lang="es-ES" dirty="0" err="1"/>
              <a:t>masks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309B82A-7C39-755B-1996-4031C35D32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21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1021F-9291-8AA6-C05A-67104B6A1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A51BB37-2B1A-C638-B349-69AD650954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353F086-08B1-CA1E-4955-6981BAE45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A049D-3266-6C40-425A-8859D057F3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7464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65DE2-E161-A922-A53A-2BBB2C06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1E6B9E1-9A9B-EEAE-4A29-FF03737F5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0F7D8E4-E731-10BA-F9FD-DAB94C627C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9D92C2-E9A9-0745-CAD2-7BBED785EA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0771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270A-DA4B-D6B3-1A4F-AC85BE5F2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0F5546-FA97-3766-B1FC-A47DE9795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D4517E9-EA07-54A2-DBB7-3635C5A64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74EE48-B9C3-3420-C006-3474E81ED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21593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4D33-155B-BD0B-9082-931E380F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2CE4934-B702-5646-10D4-1D649A658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8B3B6D4-DA43-3FB4-35B2-4951DB410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FF2683-54CE-3710-F794-F81D49D4B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234443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566987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53252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0D285-10E2-9119-E602-49B3A21D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DC83E1-DBB7-D310-57FC-69C9B3DFE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A9754C-6E69-7AF6-F056-E7B1ACAE6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C3B433-C701-2D43-B964-72586B3E8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03125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F89F-82DF-7B87-14A5-74E9461C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ECC67E-3429-8BF3-1853-63448974E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DDB763E-8A4A-AC8E-7230-20A762155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48D358-73A8-C199-664A-B3BA6F742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D135E5-457A-4183-A722-09BD01DC1252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91876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87694" y="995667"/>
            <a:ext cx="7772400" cy="1470025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028" y="5986914"/>
            <a:ext cx="1271065" cy="69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4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sp>
        <p:nvSpPr>
          <p:cNvPr id="16" name="Slide Number Placeholder 5"/>
          <p:cNvSpPr txBox="1">
            <a:spLocks/>
          </p:cNvSpPr>
          <p:nvPr userDrawn="1"/>
        </p:nvSpPr>
        <p:spPr>
          <a:xfrm>
            <a:off x="8542616" y="12700"/>
            <a:ext cx="601384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9CD5851-AB72-2A4E-BF39-9AE9062A8BE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542616" y="0"/>
            <a:ext cx="601384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7DD67960-623A-4448-9D8E-D71BF77CB3CA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52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43358" cy="1143000"/>
          </a:xfrm>
        </p:spPr>
        <p:txBody>
          <a:bodyPr/>
          <a:lstStyle>
            <a:lvl1pPr>
              <a:defRPr>
                <a:solidFill>
                  <a:srgbClr val="E73137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87" name="Oval 7"/>
          <p:cNvSpPr/>
          <p:nvPr userDrawn="1"/>
        </p:nvSpPr>
        <p:spPr>
          <a:xfrm>
            <a:off x="1711340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Oval 7"/>
          <p:cNvSpPr/>
          <p:nvPr userDrawn="1"/>
        </p:nvSpPr>
        <p:spPr>
          <a:xfrm>
            <a:off x="1820185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7"/>
          <p:cNvSpPr/>
          <p:nvPr userDrawn="1"/>
        </p:nvSpPr>
        <p:spPr>
          <a:xfrm>
            <a:off x="1927687" y="6513331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Oval 7"/>
          <p:cNvSpPr/>
          <p:nvPr userDrawn="1"/>
        </p:nvSpPr>
        <p:spPr>
          <a:xfrm>
            <a:off x="2036532" y="6513329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Oval 7"/>
          <p:cNvSpPr/>
          <p:nvPr userDrawn="1"/>
        </p:nvSpPr>
        <p:spPr>
          <a:xfrm>
            <a:off x="2146069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Oval 7"/>
          <p:cNvSpPr/>
          <p:nvPr userDrawn="1"/>
        </p:nvSpPr>
        <p:spPr>
          <a:xfrm>
            <a:off x="2254914" y="6513327"/>
            <a:ext cx="72000" cy="72000"/>
          </a:xfrm>
          <a:prstGeom prst="ellipse">
            <a:avLst/>
          </a:prstGeom>
          <a:solidFill>
            <a:srgbClr val="C5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Imagen 1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917" y="6343949"/>
            <a:ext cx="674929" cy="368379"/>
          </a:xfrm>
          <a:prstGeom prst="rect">
            <a:avLst/>
          </a:prstGeom>
        </p:spPr>
      </p:pic>
      <p:pic>
        <p:nvPicPr>
          <p:cNvPr id="14" name="Imagen 13" descr="INCIBE_logo.png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00558" y="6469892"/>
            <a:ext cx="588999" cy="16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902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tipo INCIBE" title="Logotipo INCIB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4750" y="5248133"/>
            <a:ext cx="2304000" cy="543685"/>
          </a:xfrm>
          <a:prstGeom prst="rect">
            <a:avLst/>
          </a:prstGeom>
        </p:spPr>
      </p:pic>
      <p:sp>
        <p:nvSpPr>
          <p:cNvPr id="5" name="TextBox 4"/>
          <p:cNvSpPr txBox="1"/>
          <p:nvPr userDrawn="1"/>
        </p:nvSpPr>
        <p:spPr>
          <a:xfrm>
            <a:off x="2288357" y="3098422"/>
            <a:ext cx="4579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E73137"/>
                </a:solidFill>
              </a:rPr>
              <a:t>Gracias </a:t>
            </a:r>
            <a:r>
              <a:rPr lang="en-US" sz="3600" dirty="0" err="1">
                <a:solidFill>
                  <a:srgbClr val="E73137"/>
                </a:solidFill>
              </a:rPr>
              <a:t>por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su</a:t>
            </a:r>
            <a:r>
              <a:rPr lang="en-US" sz="3600" dirty="0">
                <a:solidFill>
                  <a:srgbClr val="E73137"/>
                </a:solidFill>
              </a:rPr>
              <a:t> </a:t>
            </a:r>
            <a:r>
              <a:rPr lang="en-US" sz="3600" dirty="0" err="1">
                <a:solidFill>
                  <a:srgbClr val="E73137"/>
                </a:solidFill>
              </a:rPr>
              <a:t>atención</a:t>
            </a:r>
            <a:endParaRPr lang="en-US" sz="3600" dirty="0">
              <a:solidFill>
                <a:srgbClr val="E73137"/>
              </a:solidFill>
            </a:endParaRPr>
          </a:p>
        </p:txBody>
      </p:sp>
      <p:pic>
        <p:nvPicPr>
          <p:cNvPr id="6" name="5 Imagen" descr="Logotipo Ministerio de Industria, Energía y Turismo" title="Logotipo Ministerio de Industria, Energía y Turismo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76325" y="5234606"/>
            <a:ext cx="2024063" cy="557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66458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4286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0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1638" y="895149"/>
            <a:ext cx="8564786" cy="2423891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  <a:latin typeface="Trebuchet MS" panose="020B0603020202020204" pitchFamily="34" charset="0"/>
              </a:rPr>
              <a:t>Detection, Segmentation and Calibration of Rubber Strips</a:t>
            </a: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3403600" y="3319040"/>
            <a:ext cx="5343794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dirty="0">
                <a:solidFill>
                  <a:srgbClr val="FF0000"/>
                </a:solidFill>
              </a:rPr>
              <a:t>Computer Vision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5251466" y="3774502"/>
            <a:ext cx="3492374" cy="16010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457200" indent="-457200" algn="l" defTabSz="457200" rtl="0" eaLnBrk="1" latinLnBrk="0" hangingPunct="1">
              <a:spcBef>
                <a:spcPct val="20000"/>
              </a:spcBef>
              <a:buFont typeface="+mj-lt"/>
              <a:buAutoNum type="arabicPeriod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Jaime Alvarado Fernández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David Morán </a:t>
            </a:r>
            <a:r>
              <a:rPr lang="en-GB" sz="1200" dirty="0" err="1">
                <a:solidFill>
                  <a:schemeClr val="bg1">
                    <a:lumMod val="75000"/>
                  </a:schemeClr>
                </a:solidFill>
              </a:rPr>
              <a:t>Gorgojo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Pablo Ruíz Morán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Miguel Sánchez Rodríguez</a:t>
            </a:r>
          </a:p>
          <a:p>
            <a:pPr marL="0" indent="0" algn="r">
              <a:buNone/>
            </a:pP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15/03/2026</a:t>
            </a: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00" y="5052933"/>
            <a:ext cx="1819835" cy="1819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25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11200" y="566648"/>
            <a:ext cx="500795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311276" y="1709648"/>
            <a:ext cx="7121524" cy="38582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Introduction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Literature review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Selected method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Datasets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Performance metrics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Conclusions</a:t>
            </a:r>
          </a:p>
          <a:p>
            <a:pPr marL="457200" indent="-457200">
              <a:lnSpc>
                <a:spcPct val="130000"/>
              </a:lnSpc>
              <a:buFont typeface="+mj-lt"/>
              <a:buAutoNum type="arabicPeriod"/>
            </a:pPr>
            <a:r>
              <a:rPr lang="en-AU" sz="2000" dirty="0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39730214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29"/>
          <p:cNvSpPr>
            <a:spLocks/>
          </p:cNvSpPr>
          <p:nvPr/>
        </p:nvSpPr>
        <p:spPr bwMode="auto">
          <a:xfrm>
            <a:off x="910871" y="1206787"/>
            <a:ext cx="478654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the problem?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88" name="Title 1"/>
          <p:cNvSpPr>
            <a:spLocks noGrp="1"/>
          </p:cNvSpPr>
          <p:nvPr>
            <p:ph type="title"/>
          </p:nvPr>
        </p:nvSpPr>
        <p:spPr>
          <a:xfrm>
            <a:off x="457200" y="344978"/>
            <a:ext cx="7302500" cy="779794"/>
          </a:xfrm>
        </p:spPr>
        <p:txBody>
          <a:bodyPr>
            <a:normAutofit/>
          </a:bodyPr>
          <a:lstStyle/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2777849-8341-4340-A9FD-6211C0DC1D24}"/>
              </a:ext>
            </a:extLst>
          </p:cNvPr>
          <p:cNvSpPr txBox="1">
            <a:spLocks/>
          </p:cNvSpPr>
          <p:nvPr/>
        </p:nvSpPr>
        <p:spPr>
          <a:xfrm>
            <a:off x="1434904" y="1749712"/>
            <a:ext cx="6913397" cy="7459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Trebuchet MS" panose="020B0603020202020204" pitchFamily="34" charset="0"/>
              </a:rPr>
              <a:t>Detection</a:t>
            </a:r>
            <a:r>
              <a:rPr lang="en-US" dirty="0">
                <a:latin typeface="Trebuchet MS" panose="020B0603020202020204" pitchFamily="34" charset="0"/>
              </a:rPr>
              <a:t>, </a:t>
            </a:r>
            <a:r>
              <a:rPr lang="en-US" b="1" dirty="0">
                <a:latin typeface="Trebuchet MS" panose="020B0603020202020204" pitchFamily="34" charset="0"/>
              </a:rPr>
              <a:t>segmentation</a:t>
            </a:r>
            <a:r>
              <a:rPr lang="en-US" dirty="0">
                <a:latin typeface="Trebuchet MS" panose="020B0603020202020204" pitchFamily="34" charset="0"/>
              </a:rPr>
              <a:t> and </a:t>
            </a:r>
            <a:r>
              <a:rPr lang="en-US" b="1" dirty="0">
                <a:latin typeface="Trebuchet MS" panose="020B0603020202020204" pitchFamily="34" charset="0"/>
              </a:rPr>
              <a:t>distance estimation </a:t>
            </a:r>
            <a:r>
              <a:rPr lang="en-US" dirty="0">
                <a:latin typeface="Trebuchet MS" panose="020B0603020202020204" pitchFamily="34" charset="0"/>
              </a:rPr>
              <a:t>of rubber strips from </a:t>
            </a:r>
            <a:r>
              <a:rPr lang="en-US" i="1" dirty="0">
                <a:solidFill>
                  <a:srgbClr val="FF0000"/>
                </a:solidFill>
                <a:latin typeface="Trebuchet MS" panose="020B0603020202020204" pitchFamily="34" charset="0"/>
              </a:rPr>
              <a:t>smartphone images</a:t>
            </a:r>
            <a:endParaRPr lang="en-GB" sz="1000" i="1" dirty="0">
              <a:solidFill>
                <a:srgbClr val="FF0000"/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Rectangle 29">
            <a:extLst>
              <a:ext uri="{FF2B5EF4-FFF2-40B4-BE49-F238E27FC236}">
                <a16:creationId xmlns:a16="http://schemas.microsoft.com/office/drawing/2014/main" id="{1BB6DED6-A609-4E6A-A08F-CE8734D0EE63}"/>
              </a:ext>
            </a:extLst>
          </p:cNvPr>
          <p:cNvSpPr>
            <a:spLocks/>
          </p:cNvSpPr>
          <p:nvPr/>
        </p:nvSpPr>
        <p:spPr bwMode="auto">
          <a:xfrm>
            <a:off x="910871" y="2752769"/>
            <a:ext cx="445170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What is it challenging?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8634DC9-A463-4D2E-81FD-B18665B84695}"/>
              </a:ext>
            </a:extLst>
          </p:cNvPr>
          <p:cNvSpPr txBox="1">
            <a:spLocks/>
          </p:cNvSpPr>
          <p:nvPr/>
        </p:nvSpPr>
        <p:spPr>
          <a:xfrm>
            <a:off x="1434904" y="3324224"/>
            <a:ext cx="6913398" cy="12477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Real-world smartphone images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Precise distance estimation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Trebuchet MS" panose="020B0603020202020204" pitchFamily="34" charset="0"/>
              </a:rPr>
              <a:t>Perspective, noise, variability</a:t>
            </a:r>
          </a:p>
          <a:p>
            <a:pPr marL="285750" indent="-285750" algn="just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n-US" sz="1600" dirty="0">
              <a:latin typeface="Trebuchet MS" panose="020B0603020202020204" pitchFamily="34" charset="0"/>
            </a:endParaRPr>
          </a:p>
          <a:p>
            <a:pPr algn="just"/>
            <a:r>
              <a:rPr lang="es-ES" altLang="es-E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  <a:r>
              <a:rPr lang="es-ES" alt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Classical</a:t>
            </a:r>
            <a:r>
              <a:rPr lang="es-ES" altLang="es-ES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 Deep </a:t>
            </a:r>
            <a:r>
              <a:rPr lang="es-ES" altLang="es-ES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4D240-A666-B060-7926-33ACC95C3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613" y="2752769"/>
            <a:ext cx="1804031" cy="181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11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9">
            <a:extLst>
              <a:ext uri="{FF2B5EF4-FFF2-40B4-BE49-F238E27FC236}">
                <a16:creationId xmlns:a16="http://schemas.microsoft.com/office/drawing/2014/main" id="{EDE23C0F-F9F8-43AD-A256-B477D11D6111}"/>
              </a:ext>
            </a:extLst>
          </p:cNvPr>
          <p:cNvSpPr>
            <a:spLocks/>
          </p:cNvSpPr>
          <p:nvPr/>
        </p:nvSpPr>
        <p:spPr bwMode="auto">
          <a:xfrm>
            <a:off x="855314" y="1360587"/>
            <a:ext cx="2686713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>
              <a:spcBef>
                <a:spcPts val="425"/>
              </a:spcBef>
            </a:pPr>
            <a:r>
              <a:rPr lang="en-US" sz="2000" b="1" dirty="0">
                <a:solidFill>
                  <a:srgbClr val="002060"/>
                </a:solidFill>
                <a:latin typeface="Trebuchet MS" panose="020B0603020202020204" pitchFamily="34" charset="0"/>
                <a:sym typeface="Tahoma Bold" charset="0"/>
              </a:rPr>
              <a:t>Main approaches</a:t>
            </a:r>
            <a:endParaRPr lang="en-US" sz="2000" b="1" dirty="0">
              <a:solidFill>
                <a:srgbClr val="002060"/>
              </a:solidFill>
              <a:latin typeface="Trebuchet MS" panose="020B0603020202020204" pitchFamily="34" charset="0"/>
              <a:sym typeface="Tahoma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7D829BE-3474-4D82-BCAD-D4054917C56B}"/>
              </a:ext>
            </a:extLst>
          </p:cNvPr>
          <p:cNvSpPr txBox="1">
            <a:spLocks/>
          </p:cNvSpPr>
          <p:nvPr/>
        </p:nvSpPr>
        <p:spPr>
          <a:xfrm>
            <a:off x="457200" y="344978"/>
            <a:ext cx="7302500" cy="779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E73137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is-IS" sz="2800" dirty="0"/>
              <a:t>1</a:t>
            </a:r>
            <a:r>
              <a:rPr lang="en-GB" sz="2800" dirty="0"/>
              <a:t>. </a:t>
            </a:r>
            <a:r>
              <a:rPr lang="en-GB" sz="2800" b="1" dirty="0"/>
              <a:t>Introduction:</a:t>
            </a:r>
            <a:r>
              <a:rPr lang="en-GB" sz="2800" dirty="0"/>
              <a:t> </a:t>
            </a:r>
            <a:r>
              <a:rPr lang="en-GB" sz="2800" b="1" i="1" dirty="0"/>
              <a:t>State of the art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583089D-923E-3164-3740-208DFD3D09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789" b="12342"/>
          <a:stretch>
            <a:fillRect/>
          </a:stretch>
        </p:blipFill>
        <p:spPr>
          <a:xfrm>
            <a:off x="2785730" y="3154290"/>
            <a:ext cx="6358270" cy="3173562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6EFA760-A147-EC20-DAA4-501D805D6A9C}"/>
              </a:ext>
            </a:extLst>
          </p:cNvPr>
          <p:cNvSpPr txBox="1">
            <a:spLocks/>
          </p:cNvSpPr>
          <p:nvPr/>
        </p:nvSpPr>
        <p:spPr>
          <a:xfrm>
            <a:off x="846302" y="1892212"/>
            <a:ext cx="6913398" cy="2736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🟢 </a:t>
            </a:r>
            <a:r>
              <a:rPr lang="en-US" b="1" i="1" dirty="0">
                <a:latin typeface="Trebuchet MS" panose="020B0603020202020204" pitchFamily="34" charset="0"/>
              </a:rPr>
              <a:t>Segmentation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🔵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endParaRPr lang="en-US" dirty="0"/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🔴 </a:t>
            </a:r>
            <a:r>
              <a:rPr lang="en-US" b="1" i="1" dirty="0">
                <a:latin typeface="Trebuchet MS" panose="020B0603020202020204" pitchFamily="34" charset="0"/>
              </a:rPr>
              <a:t>Anomaly</a:t>
            </a:r>
            <a:r>
              <a:rPr lang="en-US" dirty="0"/>
              <a:t> </a:t>
            </a:r>
            <a:r>
              <a:rPr lang="en-US" b="1" i="1" dirty="0">
                <a:latin typeface="Trebuchet MS" panose="020B0603020202020204" pitchFamily="34" charset="0"/>
              </a:rPr>
              <a:t>Detection</a:t>
            </a:r>
            <a:r>
              <a:rPr lang="en-US" dirty="0"/>
              <a:t>  </a:t>
            </a: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🟠 </a:t>
            </a:r>
            <a:r>
              <a:rPr lang="en-US" b="1" i="1" dirty="0">
                <a:latin typeface="Trebuchet MS" panose="020B0603020202020204" pitchFamily="34" charset="0"/>
              </a:rPr>
              <a:t>Calibration</a:t>
            </a:r>
            <a:endParaRPr lang="en-US" sz="1600" b="1" i="1" dirty="0">
              <a:latin typeface="Trebuchet MS" panose="020B0603020202020204" pitchFamily="34" charset="0"/>
            </a:endParaRPr>
          </a:p>
          <a:p>
            <a:pPr algn="just">
              <a:spcBef>
                <a:spcPts val="600"/>
              </a:spcBef>
              <a:spcAft>
                <a:spcPts val="600"/>
              </a:spcAft>
            </a:pPr>
            <a:endParaRPr lang="es-ES" altLang="es-ES" sz="24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832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 fontScale="90000"/>
          </a:bodyPr>
          <a:lstStyle/>
          <a:p>
            <a:pPr algn="l"/>
            <a:r>
              <a:rPr lang="en-GB" sz="2800" dirty="0"/>
              <a:t>2</a:t>
            </a:r>
            <a:r>
              <a:rPr lang="en-GB" sz="2800" b="1" dirty="0"/>
              <a:t>. Literature review (Una </a:t>
            </a:r>
            <a:r>
              <a:rPr lang="en-GB" sz="2800" b="1" dirty="0" err="1"/>
              <a:t>vez</a:t>
            </a:r>
            <a:r>
              <a:rPr lang="en-GB" sz="2800" b="1" dirty="0"/>
              <a:t> </a:t>
            </a:r>
            <a:r>
              <a:rPr lang="en-GB" sz="2800" b="1" dirty="0" err="1"/>
              <a:t>añadidos</a:t>
            </a:r>
            <a:r>
              <a:rPr lang="en-GB" sz="2800" b="1" dirty="0"/>
              <a:t> </a:t>
            </a:r>
            <a:r>
              <a:rPr lang="en-GB" sz="2800" b="1" dirty="0" err="1"/>
              <a:t>todos</a:t>
            </a:r>
            <a:r>
              <a:rPr lang="en-GB" sz="2800" b="1" dirty="0"/>
              <a:t> lo </a:t>
            </a:r>
            <a:r>
              <a:rPr lang="en-GB" sz="2800" b="1" dirty="0" err="1"/>
              <a:t>ajustamos</a:t>
            </a:r>
            <a:r>
              <a:rPr lang="en-GB" sz="2800" b="1" dirty="0"/>
              <a:t>)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FB3AFAE-265D-4C6E-B580-8A6A7C527BB1}"/>
              </a:ext>
            </a:extLst>
          </p:cNvPr>
          <p:cNvGrpSpPr/>
          <p:nvPr/>
        </p:nvGrpSpPr>
        <p:grpSpPr>
          <a:xfrm>
            <a:off x="1021783" y="3032277"/>
            <a:ext cx="1758327" cy="1836445"/>
            <a:chOff x="1719783" y="3732939"/>
            <a:chExt cx="1758327" cy="1836445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7180B0AD-6593-415F-9B6D-15E2273B2827}"/>
                </a:ext>
              </a:extLst>
            </p:cNvPr>
            <p:cNvGrpSpPr/>
            <p:nvPr/>
          </p:nvGrpSpPr>
          <p:grpSpPr>
            <a:xfrm>
              <a:off x="1827270" y="3732939"/>
              <a:ext cx="1650840" cy="1717526"/>
              <a:chOff x="1555377" y="4649909"/>
              <a:chExt cx="1545619" cy="1770468"/>
            </a:xfrm>
          </p:grpSpPr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545A733E-B96C-4242-9ED5-74067C9B4313}"/>
                  </a:ext>
                </a:extLst>
              </p:cNvPr>
              <p:cNvSpPr txBox="1"/>
              <p:nvPr/>
            </p:nvSpPr>
            <p:spPr>
              <a:xfrm>
                <a:off x="1555377" y="4649909"/>
                <a:ext cx="1545619" cy="380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b="1" dirty="0" err="1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rPr>
                  <a:t>Segmentation</a:t>
                </a:r>
                <a:endParaRPr lang="es-ES" sz="1800" b="1" dirty="0">
                  <a:solidFill>
                    <a:srgbClr val="002060"/>
                  </a:solidFill>
                  <a:latin typeface="Trebuchet MS" panose="020B0603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39DDF6E7-F022-4E3A-B66F-B960B4B660AF}"/>
                  </a:ext>
                </a:extLst>
              </p:cNvPr>
              <p:cNvGrpSpPr/>
              <p:nvPr/>
            </p:nvGrpSpPr>
            <p:grpSpPr>
              <a:xfrm>
                <a:off x="1975435" y="5383070"/>
                <a:ext cx="1049160" cy="1037307"/>
                <a:chOff x="1975435" y="5383070"/>
                <a:chExt cx="1049160" cy="1037307"/>
              </a:xfrm>
            </p:grpSpPr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5B1B2DEE-AF2E-4B77-A680-329D4EC1B363}"/>
                    </a:ext>
                  </a:extLst>
                </p:cNvPr>
                <p:cNvSpPr txBox="1"/>
                <p:nvPr/>
              </p:nvSpPr>
              <p:spPr>
                <a:xfrm>
                  <a:off x="1975435" y="5383070"/>
                  <a:ext cx="1049160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lang="es-ES" sz="1600" dirty="0">
                    <a:latin typeface="Trebuchet MS" panose="020B0603020202020204" pitchFamily="34" charset="0"/>
                  </a:endParaRPr>
                </a:p>
              </p:txBody>
            </p:sp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2792D8AC-0F15-479C-9B17-E91452DB2E67}"/>
                    </a:ext>
                  </a:extLst>
                </p:cNvPr>
                <p:cNvSpPr txBox="1"/>
                <p:nvPr/>
              </p:nvSpPr>
              <p:spPr>
                <a:xfrm>
                  <a:off x="1984894" y="6071387"/>
                  <a:ext cx="1030244" cy="34899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lang="es-ES" sz="1600" dirty="0">
                    <a:latin typeface="Trebuchet MS" panose="020B0603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C4FC2959-91F3-4AEA-8B51-C5AF65F10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315085"/>
              <a:ext cx="577347" cy="577347"/>
            </a:xfrm>
            <a:prstGeom prst="rect">
              <a:avLst/>
            </a:prstGeom>
          </p:spPr>
        </p:pic>
        <p:pic>
          <p:nvPicPr>
            <p:cNvPr id="16" name="Imagen 15">
              <a:extLst>
                <a:ext uri="{FF2B5EF4-FFF2-40B4-BE49-F238E27FC236}">
                  <a16:creationId xmlns:a16="http://schemas.microsoft.com/office/drawing/2014/main" id="{DDEBF5DA-E621-45D6-B760-C89D7F3C8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19783" y="4992036"/>
              <a:ext cx="577348" cy="577348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130A9BE-4670-442B-A8BB-E38CCAD44C4C}"/>
              </a:ext>
            </a:extLst>
          </p:cNvPr>
          <p:cNvGrpSpPr/>
          <p:nvPr/>
        </p:nvGrpSpPr>
        <p:grpSpPr>
          <a:xfrm>
            <a:off x="3675613" y="3052899"/>
            <a:ext cx="1250448" cy="1099433"/>
            <a:chOff x="9336835" y="3044017"/>
            <a:chExt cx="971149" cy="1099433"/>
          </a:xfrm>
        </p:grpSpPr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4F5255EA-8536-4C3C-BEDC-8986989C6F86}"/>
                </a:ext>
              </a:extLst>
            </p:cNvPr>
            <p:cNvSpPr txBox="1"/>
            <p:nvPr/>
          </p:nvSpPr>
          <p:spPr>
            <a:xfrm>
              <a:off x="9336835" y="3044017"/>
              <a:ext cx="9711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b="1" dirty="0" err="1">
                  <a:solidFill>
                    <a:srgbClr val="002060"/>
                  </a:solidFill>
                  <a:latin typeface="Trebuchet MS" panose="020B0603020202020204" pitchFamily="34" charset="0"/>
                </a:rPr>
                <a:t>Detection</a:t>
              </a:r>
              <a:endParaRPr lang="es-ES" sz="1800" b="1" dirty="0">
                <a:solidFill>
                  <a:srgbClr val="002060"/>
                </a:solidFill>
                <a:latin typeface="Trebuchet MS" panose="020B0603020202020204" pitchFamily="34" charset="0"/>
              </a:endParaRPr>
            </a:p>
          </p:txBody>
        </p:sp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898C6ED8-79D2-4B23-AE54-50BC566B6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92733" y="3530628"/>
              <a:ext cx="612822" cy="612822"/>
            </a:xfrm>
            <a:prstGeom prst="rect">
              <a:avLst/>
            </a:prstGeom>
          </p:spPr>
        </p:pic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70DF145-9971-4A95-BD69-E4ABE0122FDF}"/>
              </a:ext>
            </a:extLst>
          </p:cNvPr>
          <p:cNvSpPr txBox="1"/>
          <p:nvPr/>
        </p:nvSpPr>
        <p:spPr>
          <a:xfrm>
            <a:off x="2467255" y="1643907"/>
            <a:ext cx="3756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800" b="1">
                <a:solidFill>
                  <a:srgbClr val="002060"/>
                </a:solidFill>
                <a:latin typeface="Trebuchet MS" panose="020B0603020202020204" pitchFamily="34" charset="0"/>
                <a:cs typeface="Arial" panose="020B0604020202020204" pitchFamily="34" charset="0"/>
              </a:rPr>
              <a:t>Software detection</a:t>
            </a:r>
          </a:p>
        </p:txBody>
      </p: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A2F9FFB5-3F7F-4FFD-838D-87072AC8D5A9}"/>
              </a:ext>
            </a:extLst>
          </p:cNvPr>
          <p:cNvCxnSpPr>
            <a:cxnSpLocks/>
          </p:cNvCxnSpPr>
          <p:nvPr/>
        </p:nvCxnSpPr>
        <p:spPr>
          <a:xfrm>
            <a:off x="1953459" y="2375728"/>
            <a:ext cx="5260896" cy="540161"/>
          </a:xfrm>
          <a:prstGeom prst="bentConnector3">
            <a:avLst>
              <a:gd name="adj1" fmla="val 9997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: angular 25">
            <a:extLst>
              <a:ext uri="{FF2B5EF4-FFF2-40B4-BE49-F238E27FC236}">
                <a16:creationId xmlns:a16="http://schemas.microsoft.com/office/drawing/2014/main" id="{8211793F-DA4A-4B2D-BC5F-E86074F8E3FF}"/>
              </a:ext>
            </a:extLst>
          </p:cNvPr>
          <p:cNvCxnSpPr>
            <a:cxnSpLocks/>
          </p:cNvCxnSpPr>
          <p:nvPr/>
        </p:nvCxnSpPr>
        <p:spPr>
          <a:xfrm rot="10800000" flipV="1">
            <a:off x="1953459" y="2375255"/>
            <a:ext cx="3756010" cy="47828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71700A71-0659-4F8D-A60C-AD26F7DCF41A}"/>
              </a:ext>
            </a:extLst>
          </p:cNvPr>
          <p:cNvCxnSpPr>
            <a:cxnSpLocks/>
          </p:cNvCxnSpPr>
          <p:nvPr/>
        </p:nvCxnSpPr>
        <p:spPr>
          <a:xfrm>
            <a:off x="4291978" y="2389523"/>
            <a:ext cx="0" cy="5323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CDFAFAA-759D-4FEE-B66E-32C81FDF4CFF}"/>
              </a:ext>
            </a:extLst>
          </p:cNvPr>
          <p:cNvSpPr/>
          <p:nvPr/>
        </p:nvSpPr>
        <p:spPr>
          <a:xfrm>
            <a:off x="5555754" y="2583508"/>
            <a:ext cx="2924152" cy="3883967"/>
          </a:xfrm>
          <a:prstGeom prst="rect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grpSp>
        <p:nvGrpSpPr>
          <p:cNvPr id="43" name="Grupo 42">
            <a:extLst>
              <a:ext uri="{FF2B5EF4-FFF2-40B4-BE49-F238E27FC236}">
                <a16:creationId xmlns:a16="http://schemas.microsoft.com/office/drawing/2014/main" id="{0779138B-8C20-4222-8245-C9BD0E7095A5}"/>
              </a:ext>
            </a:extLst>
          </p:cNvPr>
          <p:cNvGrpSpPr/>
          <p:nvPr/>
        </p:nvGrpSpPr>
        <p:grpSpPr>
          <a:xfrm>
            <a:off x="5695920" y="3001388"/>
            <a:ext cx="2643816" cy="3171394"/>
            <a:chOff x="5695920" y="3001388"/>
            <a:chExt cx="2643816" cy="3171394"/>
          </a:xfrm>
        </p:grpSpPr>
        <p:grpSp>
          <p:nvGrpSpPr>
            <p:cNvPr id="33" name="Grupo 32">
              <a:extLst>
                <a:ext uri="{FF2B5EF4-FFF2-40B4-BE49-F238E27FC236}">
                  <a16:creationId xmlns:a16="http://schemas.microsoft.com/office/drawing/2014/main" id="{2D63005F-0EC0-4A87-B885-1CDC093FF0C6}"/>
                </a:ext>
              </a:extLst>
            </p:cNvPr>
            <p:cNvGrpSpPr/>
            <p:nvPr/>
          </p:nvGrpSpPr>
          <p:grpSpPr>
            <a:xfrm>
              <a:off x="5695920" y="3001388"/>
              <a:ext cx="2643816" cy="2538186"/>
              <a:chOff x="6330049" y="3030664"/>
              <a:chExt cx="2643816" cy="2538186"/>
            </a:xfrm>
          </p:grpSpPr>
          <p:grpSp>
            <p:nvGrpSpPr>
              <p:cNvPr id="6" name="Grupo 5">
                <a:extLst>
                  <a:ext uri="{FF2B5EF4-FFF2-40B4-BE49-F238E27FC236}">
                    <a16:creationId xmlns:a16="http://schemas.microsoft.com/office/drawing/2014/main" id="{7E7AA841-1355-4980-A72A-A7D4504CA693}"/>
                  </a:ext>
                </a:extLst>
              </p:cNvPr>
              <p:cNvGrpSpPr/>
              <p:nvPr/>
            </p:nvGrpSpPr>
            <p:grpSpPr>
              <a:xfrm>
                <a:off x="6330049" y="3030664"/>
                <a:ext cx="2643816" cy="1900689"/>
                <a:chOff x="2661345" y="2159288"/>
                <a:chExt cx="2476870" cy="1827414"/>
              </a:xfrm>
            </p:grpSpPr>
            <p:sp>
              <p:nvSpPr>
                <p:cNvPr id="7" name="CuadroTexto 6">
                  <a:extLst>
                    <a:ext uri="{FF2B5EF4-FFF2-40B4-BE49-F238E27FC236}">
                      <a16:creationId xmlns:a16="http://schemas.microsoft.com/office/drawing/2014/main" id="{CE8E6761-5A9C-4D71-8042-7BFDCA018672}"/>
                    </a:ext>
                  </a:extLst>
                </p:cNvPr>
                <p:cNvSpPr txBox="1"/>
                <p:nvPr/>
              </p:nvSpPr>
              <p:spPr>
                <a:xfrm>
                  <a:off x="2661345" y="2159288"/>
                  <a:ext cx="2476870" cy="3550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800" b="1" dirty="0" err="1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Anomaly</a:t>
                  </a:r>
                  <a:r>
                    <a:rPr lang="es-ES" sz="1800" b="1" dirty="0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 </a:t>
                  </a:r>
                  <a:r>
                    <a:rPr lang="es-ES" sz="1800" b="1" dirty="0" err="1">
                      <a:solidFill>
                        <a:srgbClr val="002060"/>
                      </a:solidFill>
                      <a:latin typeface="Trebuchet MS" panose="020B0603020202020204" pitchFamily="34" charset="0"/>
                      <a:cs typeface="Arial" panose="020B0604020202020204" pitchFamily="34" charset="0"/>
                    </a:rPr>
                    <a:t>Detection</a:t>
                  </a:r>
                  <a:endParaRPr lang="es-ES" sz="1800" b="1" dirty="0">
                    <a:solidFill>
                      <a:srgbClr val="002060"/>
                    </a:solidFill>
                    <a:latin typeface="Trebuchet MS" panose="020B0603020202020204" pitchFamily="34" charset="0"/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8" name="Grupo 7">
                  <a:extLst>
                    <a:ext uri="{FF2B5EF4-FFF2-40B4-BE49-F238E27FC236}">
                      <a16:creationId xmlns:a16="http://schemas.microsoft.com/office/drawing/2014/main" id="{6BED224B-C832-4538-B134-ED1F64EED682}"/>
                    </a:ext>
                  </a:extLst>
                </p:cNvPr>
                <p:cNvGrpSpPr/>
                <p:nvPr/>
              </p:nvGrpSpPr>
              <p:grpSpPr>
                <a:xfrm>
                  <a:off x="3077355" y="2811272"/>
                  <a:ext cx="1778705" cy="1175430"/>
                  <a:chOff x="3077355" y="2811272"/>
                  <a:chExt cx="1778705" cy="1175430"/>
                </a:xfrm>
              </p:grpSpPr>
              <p:sp>
                <p:nvSpPr>
                  <p:cNvPr id="9" name="CuadroTexto 8">
                    <a:extLst>
                      <a:ext uri="{FF2B5EF4-FFF2-40B4-BE49-F238E27FC236}">
                        <a16:creationId xmlns:a16="http://schemas.microsoft.com/office/drawing/2014/main" id="{BEA50637-12DC-4CAC-AE3A-54D9D116F173}"/>
                      </a:ext>
                    </a:extLst>
                  </p:cNvPr>
                  <p:cNvSpPr txBox="1"/>
                  <p:nvPr/>
                </p:nvSpPr>
                <p:spPr>
                  <a:xfrm>
                    <a:off x="3587392" y="3469536"/>
                    <a:ext cx="1268668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endParaRPr lang="es-ES" dirty="0">
                      <a:latin typeface="Trebuchet MS" panose="020B0603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0" name="CuadroTexto 9">
                    <a:extLst>
                      <a:ext uri="{FF2B5EF4-FFF2-40B4-BE49-F238E27FC236}">
                        <a16:creationId xmlns:a16="http://schemas.microsoft.com/office/drawing/2014/main" id="{79A3BFD8-2BF6-416B-B806-B69576C3D16F}"/>
                      </a:ext>
                    </a:extLst>
                  </p:cNvPr>
                  <p:cNvSpPr txBox="1"/>
                  <p:nvPr/>
                </p:nvSpPr>
                <p:spPr>
                  <a:xfrm>
                    <a:off x="3800040" y="2875331"/>
                    <a:ext cx="748249" cy="35509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endParaRPr lang="es-ES" dirty="0">
                      <a:latin typeface="Trebuchet MS" panose="020B0603020202020204" pitchFamily="34" charset="0"/>
                      <a:cs typeface="Arial" panose="020B0604020202020204" pitchFamily="34" charset="0"/>
                    </a:endParaRPr>
                  </a:p>
                </p:txBody>
              </p:sp>
              <p:pic>
                <p:nvPicPr>
                  <p:cNvPr id="11" name="Imagen 10">
                    <a:extLst>
                      <a:ext uri="{FF2B5EF4-FFF2-40B4-BE49-F238E27FC236}">
                        <a16:creationId xmlns:a16="http://schemas.microsoft.com/office/drawing/2014/main" id="{91F52B6E-23D2-4E92-8CE7-BE86F768399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077355" y="3397505"/>
                    <a:ext cx="589197" cy="589197"/>
                  </a:xfrm>
                  <a:prstGeom prst="rect">
                    <a:avLst/>
                  </a:prstGeom>
                </p:spPr>
              </p:pic>
              <p:pic>
                <p:nvPicPr>
                  <p:cNvPr id="12" name="Imagen 11">
                    <a:extLst>
                      <a:ext uri="{FF2B5EF4-FFF2-40B4-BE49-F238E27FC236}">
                        <a16:creationId xmlns:a16="http://schemas.microsoft.com/office/drawing/2014/main" id="{59C7D827-82BE-4697-8519-2CF7ED35AA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125661" y="2811272"/>
                    <a:ext cx="509332" cy="509330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41EAD90A-CEDE-4B25-AAC2-8A989C9D9EE6}"/>
                  </a:ext>
                </a:extLst>
              </p:cNvPr>
              <p:cNvSpPr txBox="1"/>
              <p:nvPr/>
            </p:nvSpPr>
            <p:spPr>
              <a:xfrm>
                <a:off x="7505171" y="5076650"/>
                <a:ext cx="8793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es-ES" sz="1800" dirty="0">
                  <a:latin typeface="Trebuchet MS" panose="020B0603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31" name="Imagen 30">
                <a:extLst>
                  <a:ext uri="{FF2B5EF4-FFF2-40B4-BE49-F238E27FC236}">
                    <a16:creationId xmlns:a16="http://schemas.microsoft.com/office/drawing/2014/main" id="{99943494-5C8F-45C6-AC4B-6CD8E93CC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25661" y="5006272"/>
                <a:ext cx="577347" cy="562578"/>
              </a:xfrm>
              <a:prstGeom prst="rect">
                <a:avLst/>
              </a:prstGeom>
            </p:spPr>
          </p:pic>
        </p:grpSp>
        <p:pic>
          <p:nvPicPr>
            <p:cNvPr id="41" name="Imagen 40">
              <a:extLst>
                <a:ext uri="{FF2B5EF4-FFF2-40B4-BE49-F238E27FC236}">
                  <a16:creationId xmlns:a16="http://schemas.microsoft.com/office/drawing/2014/main" id="{639BFB31-94B9-4599-AE0E-BC2B1CC55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223265" y="5618280"/>
              <a:ext cx="554502" cy="554502"/>
            </a:xfrm>
            <a:prstGeom prst="rect">
              <a:avLst/>
            </a:prstGeom>
          </p:spPr>
        </p:pic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0B321083-8B9E-4E91-A00A-7DBD8D517E81}"/>
                </a:ext>
              </a:extLst>
            </p:cNvPr>
            <p:cNvSpPr txBox="1"/>
            <p:nvPr/>
          </p:nvSpPr>
          <p:spPr>
            <a:xfrm>
              <a:off x="6797081" y="5710865"/>
              <a:ext cx="1249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s-ES" sz="1800" dirty="0">
                <a:latin typeface="Trebuchet MS" panose="020B06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F6C6C6F5-6254-1148-A7BB-A1C030BB0646}"/>
              </a:ext>
            </a:extLst>
          </p:cNvPr>
          <p:cNvSpPr txBox="1">
            <a:spLocks/>
          </p:cNvSpPr>
          <p:nvPr/>
        </p:nvSpPr>
        <p:spPr>
          <a:xfrm>
            <a:off x="1091262" y="959882"/>
            <a:ext cx="6913398" cy="496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spcBef>
                <a:spcPts val="600"/>
              </a:spcBef>
              <a:spcAft>
                <a:spcPts val="600"/>
              </a:spcAft>
            </a:pPr>
            <a:r>
              <a:rPr lang="en-US" sz="1400" dirty="0">
                <a:latin typeface="Trebuchet MS" panose="020B0603020202020204" pitchFamily="34" charset="0"/>
              </a:rPr>
              <a:t>Typically it is the ”state-of-the-art”. Just one slide containing a summary of the state of the art in this problem. A table summarizing multiple papers/results would be OK</a:t>
            </a:r>
          </a:p>
          <a:p>
            <a:pPr algn="just"/>
            <a:endParaRPr lang="en-US" sz="160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GB" sz="900" dirty="0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184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D5ED9-EB87-B90D-5D58-70046D4E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97436-644A-B3C0-DD2C-E40DACB7F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 (Jaime)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605F0CC-5DC1-3756-9F9B-80A99BA944B6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DF9936A-29CE-83FA-0C0E-46FC68337743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FBC620A9-8D70-1904-4CA7-634361E353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84"/>
          <a:stretch>
            <a:fillRect/>
          </a:stretch>
        </p:blipFill>
        <p:spPr>
          <a:xfrm>
            <a:off x="260400" y="2066474"/>
            <a:ext cx="8497957" cy="3086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175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6D71-5974-0503-CBCB-9203F0549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E8495-DCDD-44BF-A761-F1C09DFC7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/>
              <a:t>2. Literature review – Deep Learning (Pablo)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E2998411-BBE1-1077-A886-49B61CE6AF9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2551BD6-4841-68EE-055C-26F68C85CC3F}"/>
              </a:ext>
            </a:extLst>
          </p:cNvPr>
          <p:cNvSpPr txBox="1"/>
          <p:nvPr/>
        </p:nvSpPr>
        <p:spPr>
          <a:xfrm>
            <a:off x="423164" y="1271045"/>
            <a:ext cx="817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>
                <a:latin typeface="Trebuchet MS" panose="020B0603020202020204" pitchFamily="34" charset="0"/>
              </a:rPr>
              <a:t>Main method categories: </a:t>
            </a:r>
            <a:r>
              <a:rPr lang="es-ES" b="1" dirty="0">
                <a:solidFill>
                  <a:schemeClr val="accent3">
                    <a:lumMod val="75000"/>
                  </a:schemeClr>
                </a:solidFill>
                <a:latin typeface="Trebuchet MS" panose="020B0603020202020204" pitchFamily="34" charset="0"/>
              </a:rPr>
              <a:t>Segmentation</a:t>
            </a:r>
            <a:r>
              <a:rPr lang="es-ES" dirty="0">
                <a:latin typeface="Trebuchet MS" panose="020B0603020202020204" pitchFamily="34" charset="0"/>
              </a:rPr>
              <a:t>,</a:t>
            </a:r>
            <a:r>
              <a:rPr lang="es-ES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tx2">
                    <a:lumMod val="60000"/>
                    <a:lumOff val="40000"/>
                  </a:schemeClr>
                </a:solidFill>
                <a:latin typeface="Trebuchet MS" panose="020B0603020202020204" pitchFamily="34" charset="0"/>
              </a:rPr>
              <a:t>Detection </a:t>
            </a:r>
            <a:r>
              <a:rPr lang="es-ES" b="1" dirty="0">
                <a:latin typeface="Trebuchet MS" panose="020B0603020202020204" pitchFamily="34" charset="0"/>
              </a:rPr>
              <a:t>and</a:t>
            </a:r>
            <a:r>
              <a:rPr lang="es-ES" dirty="0">
                <a:latin typeface="Trebuchet MS" panose="020B0603020202020204" pitchFamily="34" charset="0"/>
              </a:rPr>
              <a:t> </a:t>
            </a:r>
            <a:r>
              <a:rPr lang="es-ES" b="1" dirty="0">
                <a:solidFill>
                  <a:schemeClr val="accent1">
                    <a:lumMod val="75000"/>
                  </a:schemeClr>
                </a:solidFill>
                <a:latin typeface="Trebuchet MS" panose="020B0603020202020204" pitchFamily="34" charset="0"/>
              </a:rPr>
              <a:t>Anomaly Detection</a:t>
            </a:r>
            <a:endParaRPr lang="es-ES" b="1" dirty="0">
              <a:latin typeface="Trebuchet MS" panose="020B0603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CB8C1D-6036-4D0A-EAE0-E00429207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72" y="1964367"/>
            <a:ext cx="8496255" cy="3314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304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01: XXXX</a:t>
            </a:r>
          </a:p>
        </p:txBody>
      </p:sp>
      <p:sp>
        <p:nvSpPr>
          <p:cNvPr id="30" name="Rectangle 7"/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996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86A0-698D-1681-4144-157F9E6AF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C4DDB-C69B-6D4C-6F64-0FD3B523A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(Deep 02): Grounded-SAM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CFC1F6C8-1188-3E0F-BB92-6639D9E2E297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DA4DB5B-7178-9422-2D2D-DE06F57C9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3018" y="2134759"/>
            <a:ext cx="4965700" cy="4393185"/>
          </a:xfrm>
          <a:prstGeom prst="rect">
            <a:avLst/>
          </a:prstGeom>
        </p:spPr>
      </p:pic>
      <p:sp>
        <p:nvSpPr>
          <p:cNvPr id="3" name="Rectangle 9">
            <a:extLst>
              <a:ext uri="{FF2B5EF4-FFF2-40B4-BE49-F238E27FC236}">
                <a16:creationId xmlns:a16="http://schemas.microsoft.com/office/drawing/2014/main" id="{9432D02F-CFEC-0CCD-2E78-CC886AAA6D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0871" y="1501092"/>
            <a:ext cx="5734902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Trebuchet MS" panose="020B0603020202020204" pitchFamily="34" charset="0"/>
              </a:rPr>
              <a:t>Detection</a:t>
            </a:r>
            <a:r>
              <a:rPr lang="es-ES" altLang="es-ES" dirty="0">
                <a:latin typeface="Trebuchet MS" panose="020B0603020202020204" pitchFamily="34" charset="0"/>
              </a:rPr>
              <a:t> + </a:t>
            </a:r>
            <a:r>
              <a:rPr lang="es-ES" altLang="es-ES" dirty="0" err="1">
                <a:latin typeface="Trebuchet MS" panose="020B0603020202020204" pitchFamily="34" charset="0"/>
              </a:rPr>
              <a:t>segmentation</a:t>
            </a:r>
            <a:r>
              <a:rPr lang="es-ES" altLang="es-ES" dirty="0">
                <a:latin typeface="Trebuchet MS" panose="020B0603020202020204" pitchFamily="34" charset="0"/>
              </a:rPr>
              <a:t> pipeline (2-stage)</a:t>
            </a:r>
            <a:endParaRPr kumimoji="0" lang="es-ES" altLang="es-E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Open-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vocabulary</a:t>
            </a:r>
            <a:endParaRPr lang="es-ES" altLang="es-ES" dirty="0"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Object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detection</a:t>
            </a:r>
            <a:endParaRPr kumimoji="0" lang="es-ES" altLang="es-E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Precise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segmentation</a:t>
            </a:r>
            <a:r>
              <a:rPr kumimoji="0" lang="es-ES" altLang="es-E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kumimoji="0" lang="es-ES" altLang="es-E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masks</a:t>
            </a:r>
            <a:endParaRPr lang="es-ES" altLang="es-ES" dirty="0">
              <a:latin typeface="Trebuchet MS" panose="020B0603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2000" dirty="0">
                <a:latin typeface="Arial" panose="020B0604020202020204" pitchFamily="34" charset="0"/>
              </a:rPr>
              <a:t> </a:t>
            </a:r>
            <a:r>
              <a:rPr lang="es-ES" altLang="es-ES" dirty="0">
                <a:latin typeface="Trebuchet MS" panose="020B0603020202020204" pitchFamily="34" charset="0"/>
              </a:rPr>
              <a:t>Zero-</a:t>
            </a:r>
            <a:r>
              <a:rPr lang="es-ES" altLang="es-ES" dirty="0" err="1">
                <a:latin typeface="Trebuchet MS" panose="020B0603020202020204" pitchFamily="34" charset="0"/>
              </a:rPr>
              <a:t>shot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205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D17D0-6AE0-335D-DCCB-779C22440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FD54-E3E9-1AA0-9DD9-0517F99B7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03: ZZZZ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36C84E96-7653-5D12-E6C6-A76E4A341C6C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104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F38C-1117-7442-9501-12F9402F6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D98C6-BDC8-D6F4-B87B-6824EA060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3. </a:t>
            </a:r>
            <a:r>
              <a:rPr lang="en-GB" sz="2800" b="1" dirty="0"/>
              <a:t>Selected method 04: WWWW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FF29AF45-B7A0-D799-1DFC-41449FE07E8D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792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58EEF-EC96-D69C-B8E5-BD64FE03A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BDD58-B60F-FD54-CD00-99A6A5898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4. </a:t>
            </a:r>
            <a:r>
              <a:rPr lang="en-GB" sz="2800" b="1" dirty="0"/>
              <a:t>Datasets</a:t>
            </a:r>
            <a:r>
              <a:rPr lang="en-GB" sz="2800" dirty="0"/>
              <a:t> 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52A72436-A003-CA2F-05BA-D66E839936B3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4E22E7E-51E3-8075-D64E-9C8AF62CA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01" y="1908266"/>
            <a:ext cx="8595198" cy="273862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60E61C-CF0C-CBB4-6FFE-05A177CE504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5000"/>
          </a:blip>
          <a:stretch>
            <a:fillRect/>
          </a:stretch>
        </p:blipFill>
        <p:spPr>
          <a:xfrm>
            <a:off x="1830070" y="2214693"/>
            <a:ext cx="5144218" cy="268230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AAF5DB-34BF-083D-22DF-62A069380D9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5000"/>
          </a:blip>
          <a:stretch>
            <a:fillRect/>
          </a:stretch>
        </p:blipFill>
        <p:spPr>
          <a:xfrm>
            <a:off x="2211552" y="-1273662"/>
            <a:ext cx="3505689" cy="349616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55580D9-C421-EBC4-5246-EC8668D6803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25000"/>
          </a:blip>
          <a:stretch>
            <a:fillRect/>
          </a:stretch>
        </p:blipFill>
        <p:spPr>
          <a:xfrm>
            <a:off x="6974288" y="2214693"/>
            <a:ext cx="2256189" cy="268230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2486E68-9CF4-504D-368A-620B23577FC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25000"/>
          </a:blip>
          <a:stretch>
            <a:fillRect/>
          </a:stretch>
        </p:blipFill>
        <p:spPr>
          <a:xfrm>
            <a:off x="41840" y="2209932"/>
            <a:ext cx="1811024" cy="268706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D638B83-C0BC-277A-2A30-FC389C17D3B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25000"/>
          </a:blip>
          <a:stretch>
            <a:fillRect/>
          </a:stretch>
        </p:blipFill>
        <p:spPr>
          <a:xfrm>
            <a:off x="2481544" y="4896997"/>
            <a:ext cx="4677428" cy="3524742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3C26A960-DB73-47B8-43F0-D6BBE57C2BE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5000"/>
          </a:blip>
          <a:stretch>
            <a:fillRect/>
          </a:stretch>
        </p:blipFill>
        <p:spPr>
          <a:xfrm>
            <a:off x="5717241" y="-1254609"/>
            <a:ext cx="4505954" cy="3464541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0A69AC1-C53D-33B4-105A-AD149AD6C994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5000"/>
          </a:blip>
          <a:stretch>
            <a:fillRect/>
          </a:stretch>
        </p:blipFill>
        <p:spPr>
          <a:xfrm>
            <a:off x="1270" y="4896997"/>
            <a:ext cx="2481545" cy="2586646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FA96640A-2C49-3A0D-2C3B-3C04FF71F173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25000"/>
          </a:blip>
          <a:stretch>
            <a:fillRect/>
          </a:stretch>
        </p:blipFill>
        <p:spPr>
          <a:xfrm>
            <a:off x="7155717" y="4896997"/>
            <a:ext cx="3067478" cy="2267266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DF1DD48-EBCE-957F-3213-3D7391EB2ED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5000"/>
          </a:blip>
          <a:stretch>
            <a:fillRect/>
          </a:stretch>
        </p:blipFill>
        <p:spPr>
          <a:xfrm>
            <a:off x="-55714" y="-1283188"/>
            <a:ext cx="2267266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11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6E997-3538-A49B-7E42-C15AFC38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4654-C0D8-35E6-FFE3-2CA8A0583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788278"/>
          </a:xfrm>
        </p:spPr>
        <p:txBody>
          <a:bodyPr>
            <a:normAutofit/>
          </a:bodyPr>
          <a:lstStyle/>
          <a:p>
            <a:pPr algn="l"/>
            <a:r>
              <a:rPr lang="en-GB" sz="2800" dirty="0"/>
              <a:t>5. </a:t>
            </a:r>
            <a:r>
              <a:rPr lang="en-GB" sz="2800" b="1" dirty="0"/>
              <a:t>Performance Metrics</a:t>
            </a:r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0CE30BE0-5015-91ED-40F7-A8727B8688D9}"/>
              </a:ext>
            </a:extLst>
          </p:cNvPr>
          <p:cNvSpPr/>
          <p:nvPr/>
        </p:nvSpPr>
        <p:spPr>
          <a:xfrm>
            <a:off x="80137" y="66509"/>
            <a:ext cx="6565636" cy="3030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endParaRPr lang="en-US" sz="800" b="1" dirty="0">
              <a:solidFill>
                <a:srgbClr val="535353"/>
              </a:solidFill>
              <a:latin typeface="Geneva" charset="0"/>
              <a:cs typeface="Geneva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0589-8C05-AEC0-1C75-C4A06851FC0A}"/>
              </a:ext>
            </a:extLst>
          </p:cNvPr>
          <p:cNvSpPr txBox="1">
            <a:spLocks/>
          </p:cNvSpPr>
          <p:nvPr/>
        </p:nvSpPr>
        <p:spPr>
          <a:xfrm>
            <a:off x="880351" y="1416336"/>
            <a:ext cx="3920249" cy="20126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Detection</a:t>
            </a:r>
            <a:r>
              <a:rPr lang="es-ES" sz="2000" b="1" dirty="0"/>
              <a:t> &amp; </a:t>
            </a:r>
            <a:r>
              <a:rPr lang="es-ES" sz="2000" b="1" dirty="0" err="1"/>
              <a:t>Segmentation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Precision</a:t>
            </a:r>
            <a:r>
              <a:rPr lang="es-ES" sz="2000" dirty="0"/>
              <a:t> / </a:t>
            </a:r>
            <a:r>
              <a:rPr lang="es-ES" sz="2000" dirty="0" err="1"/>
              <a:t>Recall</a:t>
            </a:r>
            <a:r>
              <a:rPr lang="es-ES" sz="2000" dirty="0"/>
              <a:t> / F1-Score</a:t>
            </a:r>
          </a:p>
          <a:p>
            <a:r>
              <a:rPr lang="es-ES" sz="2000" dirty="0"/>
              <a:t>-  </a:t>
            </a:r>
            <a:r>
              <a:rPr lang="es-ES" sz="2000" dirty="0" err="1"/>
              <a:t>IoU</a:t>
            </a:r>
            <a:r>
              <a:rPr lang="es-ES" sz="2000" dirty="0"/>
              <a:t> (</a:t>
            </a:r>
            <a:r>
              <a:rPr lang="es-ES" sz="2000" dirty="0" err="1"/>
              <a:t>overlap</a:t>
            </a:r>
            <a:r>
              <a:rPr lang="es-ES" sz="2000" dirty="0"/>
              <a:t> </a:t>
            </a:r>
            <a:r>
              <a:rPr lang="es-ES" sz="2000" dirty="0" err="1"/>
              <a:t>quality</a:t>
            </a:r>
            <a:r>
              <a:rPr lang="es-ES" sz="2000" dirty="0"/>
              <a:t>)</a:t>
            </a:r>
          </a:p>
          <a:p>
            <a:r>
              <a:rPr lang="es-ES" sz="2000" dirty="0"/>
              <a:t>-  AP / </a:t>
            </a:r>
            <a:r>
              <a:rPr lang="es-ES" sz="2000" dirty="0" err="1"/>
              <a:t>mAP</a:t>
            </a:r>
            <a:r>
              <a:rPr lang="es-ES" sz="2000" dirty="0"/>
              <a:t> (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detection</a:t>
            </a:r>
            <a:r>
              <a:rPr lang="es-ES" sz="2000" dirty="0"/>
              <a:t> performance)</a:t>
            </a:r>
          </a:p>
          <a:p>
            <a:pPr>
              <a:buNone/>
            </a:pPr>
            <a:endParaRPr lang="es-ES" sz="1600" noProof="0" dirty="0">
              <a:latin typeface="Trebuchet MS" panose="020B0603020202020204" pitchFamily="34" charset="0"/>
            </a:endParaRPr>
          </a:p>
          <a:p>
            <a:pPr algn="just"/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2CADF1-86A6-9CD6-A003-031D19C36CA4}"/>
              </a:ext>
            </a:extLst>
          </p:cNvPr>
          <p:cNvSpPr txBox="1">
            <a:spLocks/>
          </p:cNvSpPr>
          <p:nvPr/>
        </p:nvSpPr>
        <p:spPr>
          <a:xfrm>
            <a:off x="4907554" y="3089221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/>
              <a:t>Edge </a:t>
            </a:r>
            <a:r>
              <a:rPr lang="es-ES" sz="2000" b="1" dirty="0" err="1"/>
              <a:t>Detection</a:t>
            </a:r>
            <a:br>
              <a:rPr lang="es-ES" sz="2000" dirty="0"/>
            </a:br>
            <a:r>
              <a:rPr lang="es-ES" sz="2000" dirty="0"/>
              <a:t>-  </a:t>
            </a:r>
            <a:r>
              <a:rPr lang="es-ES" sz="2000" dirty="0" err="1"/>
              <a:t>Precison-Recall</a:t>
            </a:r>
            <a:r>
              <a:rPr lang="es-ES" sz="2000" dirty="0"/>
              <a:t> Curve</a:t>
            </a:r>
          </a:p>
          <a:p>
            <a:pPr>
              <a:buNone/>
            </a:pPr>
            <a:r>
              <a:rPr lang="es-ES" sz="2000" noProof="0" dirty="0">
                <a:latin typeface="Trebuchet MS" panose="020B0603020202020204" pitchFamily="34" charset="0"/>
              </a:rPr>
              <a:t>- </a:t>
            </a:r>
            <a:r>
              <a:rPr lang="es-ES" sz="2000" dirty="0"/>
              <a:t> </a:t>
            </a:r>
            <a:r>
              <a:rPr lang="es-ES" sz="2000" noProof="0" dirty="0">
                <a:latin typeface="Trebuchet MS" panose="020B0603020202020204" pitchFamily="34" charset="0"/>
              </a:rPr>
              <a:t>FOM (Edge </a:t>
            </a:r>
            <a:r>
              <a:rPr lang="es-ES" sz="2000" noProof="0" dirty="0" err="1">
                <a:latin typeface="Trebuchet MS" panose="020B0603020202020204" pitchFamily="34" charset="0"/>
              </a:rPr>
              <a:t>accuracy</a:t>
            </a:r>
            <a:r>
              <a:rPr lang="es-ES" sz="2000" noProof="0" dirty="0">
                <a:latin typeface="Trebuchet MS" panose="020B0603020202020204" pitchFamily="34" charset="0"/>
              </a:rPr>
              <a:t>)</a:t>
            </a:r>
            <a:endParaRPr lang="es-ES" sz="1600" noProof="0" dirty="0">
              <a:latin typeface="Trebuchet MS" panose="020B0603020202020204" pitchFamily="34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8B06AEC-8D2C-DD00-AF90-35FAD079210B}"/>
              </a:ext>
            </a:extLst>
          </p:cNvPr>
          <p:cNvSpPr txBox="1">
            <a:spLocks/>
          </p:cNvSpPr>
          <p:nvPr/>
        </p:nvSpPr>
        <p:spPr>
          <a:xfrm>
            <a:off x="880351" y="3908810"/>
            <a:ext cx="3920249" cy="16391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ES" sz="2000" dirty="0"/>
              <a:t>🔹 </a:t>
            </a:r>
            <a:r>
              <a:rPr lang="es-ES" sz="2000" b="1" dirty="0" err="1"/>
              <a:t>Measurement</a:t>
            </a:r>
            <a:br>
              <a:rPr lang="es-ES" sz="2000" dirty="0"/>
            </a:br>
            <a:r>
              <a:rPr lang="es-ES" sz="2000" dirty="0"/>
              <a:t>-  RMSE / MAE</a:t>
            </a:r>
          </a:p>
          <a:p>
            <a:pPr>
              <a:buNone/>
            </a:pPr>
            <a:r>
              <a:rPr lang="es-ES" sz="2000" dirty="0"/>
              <a:t>-  </a:t>
            </a:r>
            <a:r>
              <a:rPr lang="es-ES" sz="2000" dirty="0" err="1"/>
              <a:t>Distance</a:t>
            </a:r>
            <a:r>
              <a:rPr lang="es-ES" sz="2000" dirty="0"/>
              <a:t> Error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sz="900" noProof="0" dirty="0">
              <a:latin typeface="Trebuchet MS" panose="020B0603020202020204" pitchFamily="34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5BA3EA6-4AA0-9D59-FDEB-23377676DED4}"/>
              </a:ext>
            </a:extLst>
          </p:cNvPr>
          <p:cNvSpPr/>
          <p:nvPr/>
        </p:nvSpPr>
        <p:spPr>
          <a:xfrm>
            <a:off x="865660" y="1416336"/>
            <a:ext cx="3706340" cy="1672885"/>
          </a:xfrm>
          <a:prstGeom prst="rect">
            <a:avLst/>
          </a:prstGeom>
          <a:noFill/>
          <a:ln w="762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995D7-536F-7479-E593-9419C9A958C9}"/>
              </a:ext>
            </a:extLst>
          </p:cNvPr>
          <p:cNvSpPr/>
          <p:nvPr/>
        </p:nvSpPr>
        <p:spPr>
          <a:xfrm>
            <a:off x="4792603" y="2949190"/>
            <a:ext cx="3471046" cy="1410159"/>
          </a:xfrm>
          <a:prstGeom prst="rect">
            <a:avLst/>
          </a:prstGeom>
          <a:noFill/>
          <a:ln w="762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8584F29-59F0-2BC5-6F6A-FCB8016A0416}"/>
              </a:ext>
            </a:extLst>
          </p:cNvPr>
          <p:cNvSpPr/>
          <p:nvPr/>
        </p:nvSpPr>
        <p:spPr>
          <a:xfrm>
            <a:off x="880351" y="3891956"/>
            <a:ext cx="3706340" cy="1307365"/>
          </a:xfrm>
          <a:prstGeom prst="rect">
            <a:avLst/>
          </a:prstGeom>
          <a:noFill/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86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just"/>
            <a:r>
              <a:rPr lang="en-GB" sz="2800" dirty="0"/>
              <a:t>6. </a:t>
            </a:r>
            <a:r>
              <a:rPr lang="en-GB" sz="2800" b="1" dirty="0"/>
              <a:t>Conclusions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4FE16A73-F2E1-CC62-FF07-708C25A46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438779"/>
            <a:ext cx="8702062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Deep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+ GPU.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s-ES" altLang="es-ES" dirty="0" err="1">
                <a:latin typeface="Arial" panose="020B0604020202020204" pitchFamily="34" charset="0"/>
              </a:rPr>
              <a:t>Classical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methods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efficient</a:t>
            </a:r>
            <a:r>
              <a:rPr lang="es-ES" altLang="es-ES" dirty="0">
                <a:latin typeface="Arial" panose="020B0604020202020204" pitchFamily="34" charset="0"/>
              </a:rPr>
              <a:t> and no data </a:t>
            </a:r>
            <a:r>
              <a:rPr lang="es-ES" altLang="es-ES" dirty="0" err="1">
                <a:latin typeface="Arial" panose="020B0604020202020204" pitchFamily="34" charset="0"/>
              </a:rPr>
              <a:t>needde</a:t>
            </a:r>
            <a:r>
              <a:rPr lang="es-ES" altLang="es-ES" dirty="0">
                <a:latin typeface="Arial" panose="020B0604020202020204" pitchFamily="34" charset="0"/>
              </a:rPr>
              <a:t>, </a:t>
            </a:r>
            <a:r>
              <a:rPr lang="es-ES" altLang="es-ES" dirty="0" err="1">
                <a:latin typeface="Arial" panose="020B0604020202020204" pitchFamily="34" charset="0"/>
              </a:rPr>
              <a:t>but</a:t>
            </a:r>
            <a:r>
              <a:rPr lang="es-ES" altLang="es-ES" dirty="0">
                <a:latin typeface="Arial" panose="020B0604020202020204" pitchFamily="34" charset="0"/>
              </a:rPr>
              <a:t> les </a:t>
            </a:r>
            <a:r>
              <a:rPr lang="es-ES" altLang="es-ES" dirty="0" err="1">
                <a:latin typeface="Arial" panose="020B0604020202020204" pitchFamily="34" charset="0"/>
              </a:rPr>
              <a:t>robust</a:t>
            </a:r>
            <a:r>
              <a:rPr lang="es-ES" altLang="es-ES" dirty="0">
                <a:latin typeface="Arial" panose="020B0604020202020204" pitchFamily="34" charset="0"/>
              </a:rPr>
              <a:t> </a:t>
            </a:r>
            <a:r>
              <a:rPr lang="es-ES" altLang="es-ES" dirty="0" err="1">
                <a:latin typeface="Arial" panose="020B0604020202020204" pitchFamily="34" charset="0"/>
              </a:rPr>
              <a:t>to</a:t>
            </a:r>
            <a:r>
              <a:rPr lang="es-ES" altLang="es-ES" dirty="0">
                <a:latin typeface="Arial" panose="020B0604020202020204" pitchFamily="34" charset="0"/>
              </a:rPr>
              <a:t> real </a:t>
            </a:r>
            <a:r>
              <a:rPr lang="es-ES" altLang="es-ES" dirty="0" err="1">
                <a:latin typeface="Arial" panose="020B0604020202020204" pitchFamily="34" charset="0"/>
              </a:rPr>
              <a:t>conditions</a:t>
            </a:r>
            <a:r>
              <a:rPr lang="es-ES" altLang="es-ES" dirty="0">
                <a:latin typeface="Arial" panose="020B0604020202020204" pitchFamily="34" charset="0"/>
              </a:rPr>
              <a:t>.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44E711C2-834B-AC16-A55F-133C1422C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Grounded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flexible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approach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zero-shot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segmentation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suitable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when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labeled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unavailable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YOLOv9 +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EfficientSAM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accuracy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speed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trade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-off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fine-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tuning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training data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MAMDD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classical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edge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detection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robustness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noise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contrast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although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still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relies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handcrafted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Adaptive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Canny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pipeline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practical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deployable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solution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requiring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training and </a:t>
            </a: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CPU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lower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robustness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20D86B5-030A-2A1A-E3CD-E8306D9E88F4}"/>
              </a:ext>
            </a:extLst>
          </p:cNvPr>
          <p:cNvSpPr txBox="1"/>
          <p:nvPr/>
        </p:nvSpPr>
        <p:spPr>
          <a:xfrm>
            <a:off x="1329397" y="310192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9799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9"/>
          <p:cNvSpPr>
            <a:spLocks/>
          </p:cNvSpPr>
          <p:nvPr/>
        </p:nvSpPr>
        <p:spPr bwMode="auto">
          <a:xfrm>
            <a:off x="2023516" y="2763084"/>
            <a:ext cx="5376520" cy="14323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38100" tIns="38100" rIns="38100" bIns="38100"/>
          <a:lstStyle/>
          <a:p>
            <a:pPr algn="ctr">
              <a:spcBef>
                <a:spcPts val="425"/>
              </a:spcBef>
            </a:pPr>
            <a:r>
              <a:rPr lang="en-GB" sz="3600" b="1" dirty="0">
                <a:solidFill>
                  <a:srgbClr val="7F7F7F"/>
                </a:solidFill>
                <a:latin typeface="Tahoma" charset="0"/>
                <a:sym typeface="Tahoma" charset="0"/>
              </a:rPr>
              <a:t>Thank you for your attention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574" y="5127597"/>
            <a:ext cx="1730403" cy="1730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0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C9BF06A4-D601-8F47-B4BA-6FFF01823710}"/>
              </a:ext>
            </a:extLst>
          </p:cNvPr>
          <p:cNvSpPr txBox="1"/>
          <p:nvPr/>
        </p:nvSpPr>
        <p:spPr>
          <a:xfrm>
            <a:off x="824956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[1] </a:t>
            </a:r>
            <a:r>
              <a:rPr lang="en-AU" sz="1200" dirty="0" err="1"/>
              <a:t>Jocher</a:t>
            </a:r>
            <a:r>
              <a:rPr lang="en-AU" sz="1200" dirty="0"/>
              <a:t>, G.; Chaurasia, A.; Qiu, J. </a:t>
            </a:r>
            <a:r>
              <a:rPr lang="en-AU" sz="1200" dirty="0" err="1"/>
              <a:t>Ultralytics</a:t>
            </a:r>
            <a:r>
              <a:rPr lang="en-AU" sz="1200" dirty="0"/>
              <a:t> YOLOv8. 2023. Available online: https://github.com/ultralytics/ultralytics</a:t>
            </a:r>
          </a:p>
          <a:p>
            <a:pPr marL="0" indent="0">
              <a:buNone/>
            </a:pPr>
            <a:r>
              <a:rPr lang="en-AU" sz="1200" dirty="0"/>
              <a:t>[2] Liao, Z. et al. RT-DETRv4: Painlessly furthering real-time object detection with vision foundation models. 2025.</a:t>
            </a:r>
          </a:p>
          <a:p>
            <a:pPr marL="0" indent="0">
              <a:buNone/>
            </a:pPr>
            <a:r>
              <a:rPr lang="en-AU" sz="1200" dirty="0"/>
              <a:t>[3] Ren, T.; Liu, S.; Zeng, A.; Lin, J.; Li, K.; Cao, H.; Chen, J.; Huang, X.; Chen, Y.; Yan, F.; et al. Grounded SAM: Assembling open-world models for diverse visual tasks. 2024.</a:t>
            </a:r>
          </a:p>
          <a:p>
            <a:pPr marL="0" indent="0">
              <a:buNone/>
            </a:pPr>
            <a:r>
              <a:rPr lang="en-AU" sz="1200" dirty="0"/>
              <a:t>[4] Kirillov, A.; Mintun, E.; Ravi, N.; Mao, H.; Rolland, C.; Gustafson, L.; Xiao, T.; Whitehead, S.; Berg, A.C.; Lo, W.-Y.; et al. Segment Anything. 2023.</a:t>
            </a:r>
          </a:p>
          <a:p>
            <a:pPr marL="0" indent="0">
              <a:buNone/>
            </a:pPr>
            <a:r>
              <a:rPr lang="en-AU" sz="1200" dirty="0"/>
              <a:t>[5] Damm, S.; </a:t>
            </a:r>
            <a:r>
              <a:rPr lang="en-AU" sz="1200" dirty="0" err="1"/>
              <a:t>Laszkiewicz</a:t>
            </a:r>
            <a:r>
              <a:rPr lang="en-AU" sz="1200" dirty="0"/>
              <a:t>, M.; Lederer, J.; Fischer, A. Anomaly DINO: Boosting patch-based few-shot anomaly detection with DINOv2. 2024.</a:t>
            </a:r>
          </a:p>
          <a:p>
            <a:pPr marL="0" indent="0">
              <a:buNone/>
            </a:pPr>
            <a:r>
              <a:rPr lang="en-AU" sz="1200" dirty="0"/>
              <a:t>[6] Kienzle, D.; </a:t>
            </a:r>
            <a:r>
              <a:rPr lang="en-AU" sz="1200" dirty="0" err="1"/>
              <a:t>Kantarelis</a:t>
            </a:r>
            <a:r>
              <a:rPr lang="en-AU" sz="1200" dirty="0"/>
              <a:t>, K.; Barthel, K. </a:t>
            </a:r>
            <a:r>
              <a:rPr lang="en-AU" sz="1200" dirty="0" err="1"/>
              <a:t>Segformer</a:t>
            </a:r>
            <a:r>
              <a:rPr lang="en-AU" sz="1200" dirty="0"/>
              <a:t>++: Efficient token-merging strategies for high-resolution semantic segmentation. 2024.</a:t>
            </a:r>
          </a:p>
          <a:p>
            <a:pPr marL="0" indent="0">
              <a:buNone/>
            </a:pPr>
            <a:r>
              <a:rPr lang="en-AU" sz="1200" dirty="0"/>
              <a:t>[7] </a:t>
            </a:r>
            <a:r>
              <a:rPr lang="en-AU" sz="1200" dirty="0" err="1"/>
              <a:t>Cavagnero</a:t>
            </a:r>
            <a:r>
              <a:rPr lang="en-AU" sz="1200" dirty="0"/>
              <a:t>, N.; Rosi, G.; </a:t>
            </a:r>
            <a:r>
              <a:rPr lang="en-AU" sz="1200" dirty="0" err="1"/>
              <a:t>Averta</a:t>
            </a:r>
            <a:r>
              <a:rPr lang="en-AU" sz="1200" dirty="0"/>
              <a:t>, G.; Lamberti, F.; Tommasi, T. PEM: Prototype-based efficient </a:t>
            </a:r>
            <a:r>
              <a:rPr lang="en-AU" sz="1200" dirty="0" err="1"/>
              <a:t>MaskFormer</a:t>
            </a:r>
            <a:r>
              <a:rPr lang="en-AU" sz="1200" dirty="0"/>
              <a:t> for image segmentation. 2024.</a:t>
            </a:r>
          </a:p>
          <a:p>
            <a:pPr marL="0" indent="0">
              <a:buNone/>
            </a:pPr>
            <a:r>
              <a:rPr lang="en-AU" sz="1200" dirty="0"/>
              <a:t>[8] Hou, X.; Ma, M.; Fan, B.; Luo, P.; Wan, Y. Relation-DETR: Exploring explicit position relation prior for object detection. 2024.</a:t>
            </a:r>
          </a:p>
          <a:p>
            <a:pPr marL="0" indent="0">
              <a:buNone/>
            </a:pPr>
            <a:r>
              <a:rPr lang="en-AU" sz="1200" dirty="0"/>
              <a:t>[9] Heidari, M. et al. A study on the performance of U-Net modifications in retroperitoneal </a:t>
            </a:r>
            <a:r>
              <a:rPr lang="en-AU" sz="1200" dirty="0" err="1"/>
              <a:t>tumor</a:t>
            </a:r>
            <a:r>
              <a:rPr lang="en-AU" sz="1200" dirty="0"/>
              <a:t> segmentation. 2025.</a:t>
            </a:r>
          </a:p>
        </p:txBody>
      </p:sp>
    </p:spTree>
    <p:extLst>
      <p:ext uri="{BB962C8B-B14F-4D97-AF65-F5344CB8AC3E}">
        <p14:creationId xmlns:p14="http://schemas.microsoft.com/office/powerpoint/2010/main" val="201081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305C-936E-E4C6-006A-352A25FB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9437-46B9-465C-57A9-651DC005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EE7C02DD-2117-6C1F-43CB-14B908E8234E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[10] Cheng, T.; Song, L.; Ge, Y.; Liu, W.; Wang, X.; Shan, Y. YOLO-World: Real-time open-vocabulary object detection. In Proceedings of CVPR 2024; pp. 16901–16911.</a:t>
            </a:r>
          </a:p>
          <a:p>
            <a:pPr marL="0" indent="0">
              <a:buNone/>
            </a:pPr>
            <a:r>
              <a:rPr lang="en-AU" sz="1200" dirty="0"/>
              <a:t>[11] Wyatt, J.; Leach, A.; </a:t>
            </a:r>
            <a:r>
              <a:rPr lang="en-AU" sz="1200" dirty="0" err="1"/>
              <a:t>Schmon</a:t>
            </a:r>
            <a:r>
              <a:rPr lang="en-AU" sz="1200" dirty="0"/>
              <a:t>, S.M.; Willcocks, C.G. </a:t>
            </a:r>
            <a:r>
              <a:rPr lang="en-AU" sz="1200" dirty="0" err="1"/>
              <a:t>AnoDDPM</a:t>
            </a:r>
            <a:r>
              <a:rPr lang="en-AU" sz="1200" dirty="0"/>
              <a:t>: Anomaly detection with denoising diffusion probabilistic models. In Proceedings of CVPR Workshops 2022; pp. 650–656.</a:t>
            </a:r>
          </a:p>
          <a:p>
            <a:pPr marL="0" indent="0">
              <a:buNone/>
            </a:pPr>
            <a:r>
              <a:rPr lang="en-AU" sz="1200" dirty="0"/>
              <a:t>[12] Ren, T. et al. Grounding DINO 1.5: Advance the edge of open-set object detection. 2024.</a:t>
            </a:r>
          </a:p>
          <a:p>
            <a:pPr marL="0" indent="0">
              <a:buNone/>
            </a:pPr>
            <a:r>
              <a:rPr lang="en-AU" sz="1200" dirty="0"/>
              <a:t>[13] Ravi, N.; </a:t>
            </a:r>
            <a:r>
              <a:rPr lang="en-AU" sz="1200" dirty="0" err="1"/>
              <a:t>Gabeur</a:t>
            </a:r>
            <a:r>
              <a:rPr lang="en-AU" sz="1200" dirty="0"/>
              <a:t>, V.; Hu, Y.-T.; Hu, R.; </a:t>
            </a:r>
            <a:r>
              <a:rPr lang="en-AU" sz="1200" dirty="0" err="1"/>
              <a:t>Ryali</a:t>
            </a:r>
            <a:r>
              <a:rPr lang="en-AU" sz="1200" dirty="0"/>
              <a:t>, C.; Ma, T.; Khedr, H.; Rädle, R.; Rolland, C.; Gustafson, L.; et al. SAM 2: Segment anything in images and videos. </a:t>
            </a:r>
            <a:r>
              <a:rPr lang="en-AU" sz="1200" dirty="0" err="1"/>
              <a:t>arXiv</a:t>
            </a:r>
            <a:r>
              <a:rPr lang="en-AU" sz="1200" dirty="0"/>
              <a:t> preprint, 2024.</a:t>
            </a:r>
          </a:p>
          <a:p>
            <a:pPr marL="0" indent="0">
              <a:buNone/>
            </a:pPr>
            <a:r>
              <a:rPr lang="en-AU" sz="1200" dirty="0"/>
              <a:t>[14] Xiong, Y.; Varadarajan, B.; Wu, L.; Xiang, X.; Xiao, F.; Zhu, C.; Dai, X.; Wang, D.; Sun, F.; </a:t>
            </a:r>
            <a:r>
              <a:rPr lang="en-AU" sz="1200" dirty="0" err="1"/>
              <a:t>Iandola</a:t>
            </a:r>
            <a:r>
              <a:rPr lang="en-AU" sz="1200" dirty="0"/>
              <a:t>, F.; et al. </a:t>
            </a:r>
            <a:r>
              <a:rPr lang="en-AU" sz="1200" dirty="0" err="1"/>
              <a:t>EfficientSAM</a:t>
            </a:r>
            <a:r>
              <a:rPr lang="en-AU" sz="1200" dirty="0"/>
              <a:t>: Leveraged masked image pretraining for efficient segment anything. 2023.</a:t>
            </a:r>
          </a:p>
          <a:p>
            <a:pPr marL="0" indent="0">
              <a:buNone/>
            </a:pPr>
            <a:r>
              <a:rPr lang="en-AU" sz="1200" dirty="0"/>
              <a:t>[15] Wang, C.-Y.; Yeh, I.-H.; Liao, H.-Y.M. YOLOv9: Learning what you want to learn using programmable gradient information. 2024.</a:t>
            </a:r>
          </a:p>
          <a:p>
            <a:pPr marL="0" indent="0">
              <a:buNone/>
            </a:pPr>
            <a:r>
              <a:rPr lang="en-AU" sz="1200" dirty="0"/>
              <a:t>[16] Shi, R.; Li, Z.; Wu, Z.; Zhang, W.; Xu, Y.; Luo, G.; Ma, P.; Zhang, Z. An industrial carbon block instance segmentation algorithm based on improved YOLOv8. Scientific Reports, 2025.</a:t>
            </a:r>
          </a:p>
          <a:p>
            <a:pPr marL="0" indent="0">
              <a:buNone/>
            </a:pPr>
            <a:r>
              <a:rPr lang="en-AU" sz="1200" dirty="0"/>
              <a:t>[17] Jiang, J.; He, Z.; Wan, A.; AL-</a:t>
            </a:r>
            <a:r>
              <a:rPr lang="en-AU" sz="1200" dirty="0" err="1"/>
              <a:t>Bukhaiti</a:t>
            </a:r>
            <a:r>
              <a:rPr lang="en-AU" sz="1200" dirty="0"/>
              <a:t>, K.; Wang, K.; Zhu, P.; Cheng, X. Zero-shot industrial anomaly detection via CLIP-DINOv2 multimodal fusion. Electronics, 2025.</a:t>
            </a:r>
          </a:p>
          <a:p>
            <a:pPr marL="0" indent="0">
              <a:buNone/>
            </a:pPr>
            <a:r>
              <a:rPr lang="en-AU" sz="1200" dirty="0"/>
              <a:t>[18] Xiong, X.; Wu, Z.; Tan, S.; Li, W.; Tang, F.; Chen, Y.; Li, S.; Ma, J.; Li, G. SAM2-UNet: Segment anything 2 as a strong encoder. 2026.</a:t>
            </a:r>
          </a:p>
        </p:txBody>
      </p:sp>
    </p:spTree>
    <p:extLst>
      <p:ext uri="{BB962C8B-B14F-4D97-AF65-F5344CB8AC3E}">
        <p14:creationId xmlns:p14="http://schemas.microsoft.com/office/powerpoint/2010/main" val="14736795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26998-D806-ADE6-ECD8-9D9A77D9C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E5B20-BC59-7A28-0485-A407D1CB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7302500" cy="1143000"/>
          </a:xfrm>
        </p:spPr>
        <p:txBody>
          <a:bodyPr>
            <a:normAutofit/>
          </a:bodyPr>
          <a:lstStyle/>
          <a:p>
            <a:pPr algn="l"/>
            <a:br>
              <a:rPr lang="en-GB" sz="2800" dirty="0"/>
            </a:br>
            <a:r>
              <a:rPr lang="en-GB" sz="2800" dirty="0"/>
              <a:t>7. </a:t>
            </a:r>
            <a:r>
              <a:rPr lang="en-GB" sz="2800" b="1" dirty="0"/>
              <a:t>References</a:t>
            </a:r>
          </a:p>
        </p:txBody>
      </p:sp>
      <p:sp>
        <p:nvSpPr>
          <p:cNvPr id="4" name="CuadroTexto 16">
            <a:extLst>
              <a:ext uri="{FF2B5EF4-FFF2-40B4-BE49-F238E27FC236}">
                <a16:creationId xmlns:a16="http://schemas.microsoft.com/office/drawing/2014/main" id="{1488EC34-EB99-4A8A-242D-64E9877187FC}"/>
              </a:ext>
            </a:extLst>
          </p:cNvPr>
          <p:cNvSpPr txBox="1"/>
          <p:nvPr/>
        </p:nvSpPr>
        <p:spPr>
          <a:xfrm>
            <a:off x="841838" y="1510859"/>
            <a:ext cx="7981420" cy="4383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/>
          <a:lstStyle>
            <a:defPPr>
              <a:defRPr lang="en-US"/>
            </a:defPPr>
            <a:lvl1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b="1">
                <a:solidFill>
                  <a:srgbClr val="002060"/>
                </a:solidFill>
                <a:latin typeface="Trebuchet MS" panose="020B0603020202020204" pitchFamily="34" charset="0"/>
              </a:defRPr>
            </a:lvl1pPr>
          </a:lstStyle>
          <a:p>
            <a:pPr marL="0" indent="0">
              <a:buNone/>
            </a:pPr>
            <a:r>
              <a:rPr lang="en-AU" sz="1200" dirty="0"/>
              <a:t>[19] Shi, C.; Wang, K.; Zhang, G.; Li, Z.; Zhu, C. Semi-supervised semantic segmentation for industrial surface defects. Scientific Reports, 2024.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[20] Liao, K.; Nie, L.; Huang, S.; Lin, C.; Zhang, J.; Zhao, Y.; </a:t>
            </a:r>
            <a:r>
              <a:rPr lang="en-AU" sz="1200" dirty="0" err="1"/>
              <a:t>Gabbouj</a:t>
            </a:r>
            <a:r>
              <a:rPr lang="en-AU" sz="1200" dirty="0"/>
              <a:t>, M.; Tao, D. Deep learning for camera calibration and beyond: A survey. 2025.</a:t>
            </a:r>
            <a:br>
              <a:rPr lang="en-AU" sz="1200" dirty="0"/>
            </a:br>
            <a:br>
              <a:rPr lang="en-AU" sz="1200" dirty="0"/>
            </a:br>
            <a:r>
              <a:rPr lang="en-AU" sz="1200" dirty="0"/>
              <a:t>[21] Heckler-Kram, L.; Neudeck, J.-H.; Scheler, U.; König, R.; Steger, C. The </a:t>
            </a:r>
            <a:r>
              <a:rPr lang="en-AU" sz="1200" dirty="0" err="1"/>
              <a:t>MVTec</a:t>
            </a:r>
            <a:r>
              <a:rPr lang="en-AU" sz="1200" dirty="0"/>
              <a:t> AD 2 dataset: Advanced scenarios for anomaly detection . 2025.</a:t>
            </a:r>
            <a:endParaRPr lang="en-AU" sz="1200" b="0" dirty="0"/>
          </a:p>
        </p:txBody>
      </p:sp>
    </p:spTree>
    <p:extLst>
      <p:ext uri="{BB962C8B-B14F-4D97-AF65-F5344CB8AC3E}">
        <p14:creationId xmlns:p14="http://schemas.microsoft.com/office/powerpoint/2010/main" val="916036587"/>
      </p:ext>
    </p:extLst>
  </p:cSld>
  <p:clrMapOvr>
    <a:masterClrMapping/>
  </p:clrMapOvr>
</p:sld>
</file>

<file path=ppt/theme/theme1.xml><?xml version="1.0" encoding="utf-8"?>
<a:theme xmlns:a="http://schemas.openxmlformats.org/drawingml/2006/main" name="ppt corpo">
  <a:themeElements>
    <a:clrScheme name="incibe">
      <a:dk1>
        <a:srgbClr val="000000"/>
      </a:dk1>
      <a:lt1>
        <a:sysClr val="window" lastClr="FFFFFF"/>
      </a:lt1>
      <a:dk2>
        <a:srgbClr val="1F497D"/>
      </a:dk2>
      <a:lt2>
        <a:srgbClr val="EEECE1"/>
      </a:lt2>
      <a:accent1>
        <a:srgbClr val="E73137"/>
      </a:accent1>
      <a:accent2>
        <a:srgbClr val="C5343A"/>
      </a:accent2>
      <a:accent3>
        <a:srgbClr val="8AD059"/>
      </a:accent3>
      <a:accent4>
        <a:srgbClr val="EBD000"/>
      </a:accent4>
      <a:accent5>
        <a:srgbClr val="F8DC00"/>
      </a:accent5>
      <a:accent6>
        <a:srgbClr val="009CDD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ES_PLL_Presentacion_extendida_ULE_v1_0.potx" id="{A04B8077-A9BE-49AA-AE55-EA6FC1C99D2C}" vid="{E2180ED5-67C8-4A5A-97FA-887F32D0F35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DES_ASL_Presentacion_seminario_INC_ULE_v1_0</Template>
  <TotalTime>307</TotalTime>
  <Words>1331</Words>
  <Application>Microsoft Office PowerPoint</Application>
  <PresentationFormat>Presentación en pantalla (4:3)</PresentationFormat>
  <Paragraphs>110</Paragraphs>
  <Slides>18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Arial</vt:lpstr>
      <vt:lpstr>Calibri</vt:lpstr>
      <vt:lpstr>Geneva</vt:lpstr>
      <vt:lpstr>Tahoma</vt:lpstr>
      <vt:lpstr>Times New Roman</vt:lpstr>
      <vt:lpstr>Trebuchet MS</vt:lpstr>
      <vt:lpstr>ppt corpo</vt:lpstr>
      <vt:lpstr>Detection, Segmentation and Calibration of Rubber Strips</vt:lpstr>
      <vt:lpstr>Presentación de PowerPoint</vt:lpstr>
      <vt:lpstr>1. Introduction</vt:lpstr>
      <vt:lpstr>Presentación de PowerPoint</vt:lpstr>
      <vt:lpstr>2. Literature review (Una vez añadidos todos lo ajustamos)</vt:lpstr>
      <vt:lpstr>2. Literature review – Deep Learning (Jaime)</vt:lpstr>
      <vt:lpstr>2. Literature review – Deep Learning (Pablo)</vt:lpstr>
      <vt:lpstr>3. Selected method 01: XXXX</vt:lpstr>
      <vt:lpstr>3. Selected method (Deep 02): Grounded-SAM</vt:lpstr>
      <vt:lpstr>3. Selected method 03: ZZZZ</vt:lpstr>
      <vt:lpstr>3. Selected method 04: WWWW</vt:lpstr>
      <vt:lpstr>4. Datasets </vt:lpstr>
      <vt:lpstr>5. Performance Metrics</vt:lpstr>
      <vt:lpstr>6. Conclusions</vt:lpstr>
      <vt:lpstr>Presentación de PowerPoint</vt:lpstr>
      <vt:lpstr> 7. References</vt:lpstr>
      <vt:lpstr> 7. References</vt:lpstr>
      <vt:lpstr> 7.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VA_Template_Course_Project_Presentations</dc:title>
  <dc:creator>Eduardo Fidalgo Fernández</dc:creator>
  <cp:keywords>VA</cp:keywords>
  <cp:lastModifiedBy>Jaime Alvarado</cp:lastModifiedBy>
  <cp:revision>832</cp:revision>
  <cp:lastPrinted>2017-01-11T09:40:40Z</cp:lastPrinted>
  <dcterms:created xsi:type="dcterms:W3CDTF">2016-05-17T14:50:09Z</dcterms:created>
  <dcterms:modified xsi:type="dcterms:W3CDTF">2026-04-07T11:27:30Z</dcterms:modified>
  <cp:category>EFF</cp:category>
</cp:coreProperties>
</file>