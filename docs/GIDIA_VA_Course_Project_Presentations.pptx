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7" r:id="rId2"/>
    <p:sldId id="283" r:id="rId3"/>
    <p:sldId id="348" r:id="rId4"/>
    <p:sldId id="403" r:id="rId5"/>
    <p:sldId id="414" r:id="rId6"/>
    <p:sldId id="411" r:id="rId7"/>
    <p:sldId id="420" r:id="rId8"/>
    <p:sldId id="421" r:id="rId9"/>
    <p:sldId id="409" r:id="rId10"/>
    <p:sldId id="405" r:id="rId11"/>
    <p:sldId id="412" r:id="rId12"/>
    <p:sldId id="413" r:id="rId13"/>
    <p:sldId id="415" r:id="rId14"/>
    <p:sldId id="416" r:id="rId15"/>
    <p:sldId id="383" r:id="rId16"/>
    <p:sldId id="287" r:id="rId17"/>
    <p:sldId id="404" r:id="rId18"/>
    <p:sldId id="417" r:id="rId19"/>
    <p:sldId id="419" r:id="rId20"/>
    <p:sldId id="422" r:id="rId21"/>
    <p:sldId id="423" r:id="rId22"/>
    <p:sldId id="42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5" autoAdjust="0"/>
    <p:restoredTop sz="87217" autoAdjust="0"/>
  </p:normalViewPr>
  <p:slideViewPr>
    <p:cSldViewPr snapToGrid="0" snapToObjects="1">
      <p:cViewPr varScale="1">
        <p:scale>
          <a:sx n="138" d="100"/>
          <a:sy n="138" d="100"/>
        </p:scale>
        <p:origin x="2352" y="13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02A0-B535-68A6-C4D8-9F6DDE33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DF22F0-3C6C-D102-66FC-B67EF26AC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72AA00-98CC-6D28-C9F8-4C71803B8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44DE488-AE1E-F107-31AA-D7DECD714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84967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90415-2139-D218-B58C-89276DD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7DF7D6B-154E-2130-B797-B060F06C5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5C60EB-8640-2E93-17D8-90A883E96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0B5ACC-464F-C319-B8C2-29E940E1D6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95774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1D50D-D9D7-EF81-5719-A09A8D1F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BA6A81-507D-AA60-095A-8E15DF482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4C2C0F0-11BD-4A42-2B4A-6240025F4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E297D48-FFD1-4C5F-376B-8D4EFEE57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482606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9EFA-8E68-F32C-4348-1DA1F77B5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3A8B35-C4F6-646B-9DCF-A4E0923CD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07C582-577C-85AC-9AFF-9D49B4C98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2B87D6-376A-5A53-0AED-22DFB3CB96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76220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96EA-6CBB-F5BE-FFE1-721D41F1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2B8191-2AE9-21A4-347A-30E482FA3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48BD5E4-8FCD-DB22-6EED-EC5B84D5A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C5741-6F0C-65FB-17AF-532E0311EC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074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4014664-BCB9-9774-26A6-1444E36CBB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164805"/>
            <a:ext cx="3416595" cy="3416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EA1990-2F13-A99A-49E8-620D246CD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916" y="2014854"/>
            <a:ext cx="8676167" cy="33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6C6E-AAD7-0BAD-FFFC-9F3863F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20EB4-D9FC-F989-9FB5-467A6C8FD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C99AEF1-E88B-6990-265C-51DB309527C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BBE90FD-56C0-7A40-7A24-48DFBBFEF2E4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21C191-EC7F-2257-C952-51390A813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556" y="1753423"/>
            <a:ext cx="7062887" cy="4392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525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15CD-B685-484A-547C-1CC01ED5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D90ED-19C6-BD26-1B0A-933CF8DC3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D0FE719-7BC9-781F-A616-EF8FD6F700C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711FA34E-F6F1-C340-0722-A6D32E3045AC}"/>
              </a:ext>
            </a:extLst>
          </p:cNvPr>
          <p:cNvSpPr txBox="1"/>
          <p:nvPr/>
        </p:nvSpPr>
        <p:spPr>
          <a:xfrm>
            <a:off x="423164" y="1271045"/>
            <a:ext cx="7331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latin typeface="Trebuchet MS" panose="020B0603020202020204" pitchFamily="34" charset="0"/>
              </a:rPr>
              <a:t>and </a:t>
            </a:r>
            <a:r>
              <a:rPr lang="es-ES" b="1" dirty="0" err="1">
                <a:solidFill>
                  <a:srgbClr val="FF9405"/>
                </a:solidFill>
                <a:latin typeface="Trebuchet MS" panose="020B0603020202020204" pitchFamily="34" charset="0"/>
              </a:rPr>
              <a:t>Calibracion</a:t>
            </a:r>
            <a:endParaRPr lang="es-ES" b="1" dirty="0">
              <a:solidFill>
                <a:srgbClr val="FF9405"/>
              </a:solidFill>
              <a:latin typeface="Trebuchet MS" panose="020B0603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3A68D-BF50-5B55-DE72-53CA01F67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728" y="1640377"/>
            <a:ext cx="6302982" cy="514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600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1):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s-ES" altLang="es-ES" b="1" dirty="0" err="1"/>
              <a:t>Detection</a:t>
            </a:r>
            <a:r>
              <a:rPr lang="es-ES" altLang="es-ES" b="1" dirty="0"/>
              <a:t> + </a:t>
            </a:r>
            <a:r>
              <a:rPr lang="es-ES" altLang="es-ES" b="1" dirty="0" err="1"/>
              <a:t>segmentation</a:t>
            </a:r>
            <a:r>
              <a:rPr lang="es-ES" altLang="es-ES" b="1" dirty="0"/>
              <a:t> pipeline (2-stage)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Open-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vocabulary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Object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detection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Precise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segmentation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masks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b="1" dirty="0"/>
              <a:t> </a:t>
            </a:r>
            <a:r>
              <a:rPr lang="es-ES" altLang="es-ES" b="1" dirty="0"/>
              <a:t>Zero-</a:t>
            </a:r>
            <a:r>
              <a:rPr lang="es-ES" altLang="es-ES" b="1" dirty="0" err="1"/>
              <a:t>shot</a:t>
            </a:r>
            <a:endParaRPr kumimoji="0" lang="es-ES" altLang="es-E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417859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3</a:t>
            </a:r>
            <a:r>
              <a:rPr lang="en-GB" sz="2800" dirty="0"/>
              <a:t>. </a:t>
            </a:r>
            <a:r>
              <a:rPr lang="en-GB" sz="2800" b="1" dirty="0"/>
              <a:t>Selected method (Deep 2): YOLOv9 + </a:t>
            </a:r>
            <a:r>
              <a:rPr lang="en-GB" sz="2800" b="1" dirty="0" err="1"/>
              <a:t>EfficientSAM</a:t>
            </a:r>
            <a:endParaRPr lang="en-GB" sz="2800" b="1" dirty="0"/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EBEBC6F-D661-5B46-7539-43DB6B7696D2}"/>
              </a:ext>
            </a:extLst>
          </p:cNvPr>
          <p:cNvSpPr txBox="1"/>
          <p:nvPr/>
        </p:nvSpPr>
        <p:spPr>
          <a:xfrm>
            <a:off x="457199" y="1097961"/>
            <a:ext cx="464845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Detection</a:t>
            </a:r>
            <a:r>
              <a:rPr lang="es-ES" b="1" dirty="0"/>
              <a:t> + </a:t>
            </a:r>
            <a:r>
              <a:rPr lang="es-ES" b="1" dirty="0" err="1"/>
              <a:t>segmentation</a:t>
            </a:r>
            <a:r>
              <a:rPr lang="es-ES" b="1" dirty="0"/>
              <a:t> pipeline (2-stage)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Real-time </a:t>
            </a:r>
            <a:r>
              <a:rPr lang="es-ES" b="1" dirty="0" err="1"/>
              <a:t>object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(YOLOv9)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Lightweight</a:t>
            </a:r>
            <a:r>
              <a:rPr lang="es-ES" b="1" dirty="0"/>
              <a:t> </a:t>
            </a:r>
            <a:r>
              <a:rPr lang="es-ES" b="1" dirty="0" err="1"/>
              <a:t>segmentation</a:t>
            </a:r>
            <a:r>
              <a:rPr lang="es-ES" b="1" dirty="0"/>
              <a:t> (</a:t>
            </a:r>
            <a:r>
              <a:rPr lang="es-ES" b="1" dirty="0" err="1"/>
              <a:t>EfficientSAM</a:t>
            </a:r>
            <a:r>
              <a:rPr lang="es-ES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+ </a:t>
            </a:r>
            <a:r>
              <a:rPr lang="es-ES" b="1" dirty="0" err="1"/>
              <a:t>homography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Precise Edge </a:t>
            </a:r>
            <a:r>
              <a:rPr lang="es-ES" b="1" dirty="0" err="1"/>
              <a:t>localization</a:t>
            </a:r>
            <a:r>
              <a:rPr lang="es-ES" b="1" dirty="0"/>
              <a:t> and </a:t>
            </a:r>
            <a:r>
              <a:rPr lang="es-ES" b="1" dirty="0" err="1"/>
              <a:t>measurement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real-</a:t>
            </a:r>
            <a:r>
              <a:rPr lang="es-ES" b="1" dirty="0" err="1"/>
              <a:t>world</a:t>
            </a:r>
            <a:r>
              <a:rPr lang="es-ES" b="1" dirty="0"/>
              <a:t> </a:t>
            </a:r>
            <a:r>
              <a:rPr lang="es-ES" b="1" dirty="0" err="1"/>
              <a:t>conditions</a:t>
            </a:r>
            <a:endParaRPr lang="es-E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95A306A-3247-0863-2D92-4BF070204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2" t="36270" b="16250"/>
          <a:stretch>
            <a:fillRect/>
          </a:stretch>
        </p:blipFill>
        <p:spPr>
          <a:xfrm>
            <a:off x="471535" y="3429000"/>
            <a:ext cx="8200930" cy="26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1):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C43AF03-BA1F-F710-D362-247CCB97115D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Multi-scale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pipeline (</a:t>
            </a:r>
            <a:r>
              <a:rPr lang="es-ES" b="1" dirty="0" err="1"/>
              <a:t>classical</a:t>
            </a:r>
            <a:r>
              <a:rPr lang="es-ES" b="1" dirty="0"/>
              <a:t>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Noise-robust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extraction</a:t>
            </a:r>
            <a:r>
              <a:rPr lang="es-ES" b="1" dirty="0"/>
              <a:t> (AMDD)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Anisotropic</a:t>
            </a:r>
            <a:r>
              <a:rPr lang="es-ES" b="1" dirty="0"/>
              <a:t> </a:t>
            </a:r>
            <a:r>
              <a:rPr lang="es-ES" b="1" dirty="0" err="1"/>
              <a:t>morphological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Directional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analysis</a:t>
            </a:r>
            <a:r>
              <a:rPr lang="es-ES" b="1" dirty="0"/>
              <a:t> (ESM + EDM)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Edge </a:t>
            </a:r>
            <a:r>
              <a:rPr lang="es-ES" b="1" dirty="0" err="1"/>
              <a:t>fusion</a:t>
            </a:r>
            <a:r>
              <a:rPr lang="es-ES" b="1" dirty="0"/>
              <a:t> </a:t>
            </a:r>
            <a:r>
              <a:rPr lang="es-ES" b="1" dirty="0" err="1"/>
              <a:t>for</a:t>
            </a:r>
            <a:r>
              <a:rPr lang="es-ES" b="1" dirty="0"/>
              <a:t> </a:t>
            </a:r>
            <a:r>
              <a:rPr lang="es-ES" b="1" dirty="0" err="1"/>
              <a:t>continuity</a:t>
            </a:r>
            <a:r>
              <a:rPr lang="es-ES" b="1" dirty="0"/>
              <a:t> and </a:t>
            </a:r>
            <a:r>
              <a:rPr lang="es-ES" b="1" dirty="0" err="1"/>
              <a:t>accuracy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low</a:t>
            </a:r>
            <a:r>
              <a:rPr lang="es-ES" b="1" dirty="0"/>
              <a:t> </a:t>
            </a:r>
            <a:r>
              <a:rPr lang="es-ES" b="1" dirty="0" err="1"/>
              <a:t>contrast</a:t>
            </a:r>
            <a:r>
              <a:rPr lang="es-ES" b="1" dirty="0"/>
              <a:t> and industrial </a:t>
            </a:r>
            <a:r>
              <a:rPr lang="es-ES" b="1" dirty="0" err="1"/>
              <a:t>noise</a:t>
            </a:r>
            <a:r>
              <a:rPr lang="es-ES" dirty="0"/>
              <a:t> 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56F560-322D-29C9-75C0-297A07E99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66" y="3126646"/>
            <a:ext cx="8639468" cy="289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8444345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1): Adaptative Canny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B24B476-CFD3-96DA-0AEE-272C6ACEB243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• Adaptive </a:t>
            </a:r>
            <a:r>
              <a:rPr lang="es-ES" b="1" dirty="0" err="1"/>
              <a:t>Canny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</a:t>
            </a:r>
            <a:r>
              <a:rPr lang="es-ES" b="1" dirty="0" err="1"/>
              <a:t>Otsu-based</a:t>
            </a:r>
            <a:r>
              <a:rPr lang="es-ES" b="1" dirty="0"/>
              <a:t> </a:t>
            </a:r>
            <a:r>
              <a:rPr lang="es-ES" b="1" dirty="0" err="1"/>
              <a:t>thresholds</a:t>
            </a:r>
            <a:r>
              <a:rPr lang="es-ES" b="1" dirty="0"/>
              <a:t>)</a:t>
            </a:r>
          </a:p>
          <a:p>
            <a:r>
              <a:rPr lang="es-ES" b="1" dirty="0"/>
              <a:t>• 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homography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(mm </a:t>
            </a:r>
            <a:r>
              <a:rPr lang="es-ES" b="1" dirty="0" err="1"/>
              <a:t>estimation</a:t>
            </a:r>
            <a:r>
              <a:rPr lang="es-ES" b="1" dirty="0"/>
              <a:t>)</a:t>
            </a:r>
          </a:p>
          <a:p>
            <a:r>
              <a:rPr lang="es-ES" b="1" dirty="0"/>
              <a:t>• </a:t>
            </a:r>
            <a:r>
              <a:rPr lang="es-ES" b="1" dirty="0" err="1"/>
              <a:t>Perspective</a:t>
            </a:r>
            <a:r>
              <a:rPr lang="es-ES" b="1" dirty="0"/>
              <a:t> </a:t>
            </a:r>
            <a:r>
              <a:rPr lang="es-ES" b="1" dirty="0" err="1"/>
              <a:t>correction</a:t>
            </a:r>
            <a:r>
              <a:rPr lang="es-ES" b="1" dirty="0"/>
              <a:t> + </a:t>
            </a:r>
            <a:r>
              <a:rPr lang="es-ES" b="1" dirty="0" err="1"/>
              <a:t>lens</a:t>
            </a:r>
            <a:r>
              <a:rPr lang="es-ES" b="1" dirty="0"/>
              <a:t> </a:t>
            </a:r>
            <a:r>
              <a:rPr lang="es-ES" b="1" dirty="0" err="1"/>
              <a:t>distortion</a:t>
            </a:r>
            <a:r>
              <a:rPr lang="es-ES" b="1" dirty="0"/>
              <a:t> </a:t>
            </a:r>
            <a:r>
              <a:rPr lang="es-ES" b="1" dirty="0" err="1"/>
              <a:t>removal</a:t>
            </a:r>
            <a:endParaRPr lang="es-ES" b="1" dirty="0"/>
          </a:p>
          <a:p>
            <a:r>
              <a:rPr lang="es-ES" b="1" dirty="0"/>
              <a:t>• ROI </a:t>
            </a:r>
            <a:r>
              <a:rPr lang="es-ES" b="1" dirty="0" err="1"/>
              <a:t>filtering</a:t>
            </a:r>
            <a:r>
              <a:rPr lang="es-ES" b="1" dirty="0"/>
              <a:t> + </a:t>
            </a:r>
            <a:r>
              <a:rPr lang="es-ES" b="1" dirty="0" err="1"/>
              <a:t>Hough</a:t>
            </a:r>
            <a:r>
              <a:rPr lang="es-ES" b="1" dirty="0"/>
              <a:t> line </a:t>
            </a:r>
            <a:r>
              <a:rPr lang="es-ES" b="1" dirty="0" err="1"/>
              <a:t>extraction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Geometric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b="1" dirty="0"/>
              <a:t> and line </a:t>
            </a:r>
            <a:r>
              <a:rPr lang="es-ES" b="1" dirty="0" err="1"/>
              <a:t>merging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illumination</a:t>
            </a:r>
            <a:r>
              <a:rPr lang="es-ES" b="1" dirty="0"/>
              <a:t>, </a:t>
            </a:r>
            <a:r>
              <a:rPr lang="es-ES" b="1" dirty="0" err="1"/>
              <a:t>perspective</a:t>
            </a:r>
            <a:r>
              <a:rPr lang="es-ES" b="1" dirty="0"/>
              <a:t> and </a:t>
            </a:r>
            <a:r>
              <a:rPr lang="es-ES" b="1" dirty="0" err="1"/>
              <a:t>noise</a:t>
            </a:r>
            <a:endParaRPr lang="es-ES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C17F26-D305-280C-192D-8CAB2043B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3036592"/>
            <a:ext cx="8087118" cy="326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2211552" y="-1286231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tretch>
            <a:fillRect/>
          </a:stretch>
        </p:blipFill>
        <p:spPr>
          <a:xfrm>
            <a:off x="-44637" y="2209932"/>
            <a:ext cx="1897501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0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 RMSE / MAE</a:t>
            </a:r>
          </a:p>
          <a:p>
            <a:pPr>
              <a:buNone/>
            </a:pPr>
            <a:r>
              <a:rPr lang="es-ES" sz="2000" dirty="0"/>
              <a:t>- 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b="1" dirty="0"/>
              <a:t>6. Conclusions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E16A73-F2E1-CC62-FF07-708C25A46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69" y="1166846"/>
            <a:ext cx="897136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+ GPU.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b="1" dirty="0" err="1">
                <a:latin typeface="Arial" panose="020B0604020202020204" pitchFamily="34" charset="0"/>
              </a:rPr>
              <a:t>Classical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methods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efficient</a:t>
            </a:r>
            <a:r>
              <a:rPr lang="es-ES" altLang="es-ES" dirty="0">
                <a:latin typeface="Arial" panose="020B0604020202020204" pitchFamily="34" charset="0"/>
              </a:rPr>
              <a:t> and no data </a:t>
            </a:r>
            <a:r>
              <a:rPr lang="es-ES" altLang="es-ES" dirty="0" err="1">
                <a:latin typeface="Arial" panose="020B0604020202020204" pitchFamily="34" charset="0"/>
              </a:rPr>
              <a:t>needde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less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to</a:t>
            </a:r>
            <a:r>
              <a:rPr lang="es-ES" altLang="es-ES" dirty="0">
                <a:latin typeface="Arial" panose="020B0604020202020204" pitchFamily="34" charset="0"/>
              </a:rPr>
              <a:t> real </a:t>
            </a:r>
            <a:r>
              <a:rPr lang="es-ES" altLang="es-ES" dirty="0" err="1">
                <a:latin typeface="Arial" panose="020B0604020202020204" pitchFamily="34" charset="0"/>
              </a:rPr>
              <a:t>conditions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Grounded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flexible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approach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zero</a:t>
            </a:r>
            <a:r>
              <a:rPr lang="es-ES" altLang="es-ES" b="1" dirty="0" err="1">
                <a:latin typeface="Arial" panose="020B0604020202020204" pitchFamily="34" charset="0"/>
              </a:rPr>
              <a:t>-shot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>
                <a:latin typeface="Arial" panose="020B0604020202020204" pitchFamily="34" charset="0"/>
              </a:rPr>
              <a:t>and </a:t>
            </a:r>
            <a:r>
              <a:rPr lang="es-ES" altLang="es-ES" b="1" dirty="0" err="1">
                <a:latin typeface="Arial" panose="020B0604020202020204" pitchFamily="34" charset="0"/>
              </a:rPr>
              <a:t>segmentation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making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suitable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when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labeled</a:t>
            </a:r>
            <a:r>
              <a:rPr lang="es-ES" altLang="es-ES" dirty="0">
                <a:latin typeface="Arial" panose="020B0604020202020204" pitchFamily="34" charset="0"/>
              </a:rPr>
              <a:t> data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unavailable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YOLOv9 +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EfficientsSAM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accuracy-speed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-off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 data.</a:t>
            </a:r>
            <a:b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MAMDD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enhances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classical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edge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robustness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to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noise</a:t>
            </a:r>
            <a:r>
              <a:rPr lang="es-ES" altLang="es-ES" b="1" dirty="0">
                <a:latin typeface="Arial" panose="020B0604020202020204" pitchFamily="34" charset="0"/>
              </a:rPr>
              <a:t> and</a:t>
            </a:r>
            <a:br>
              <a:rPr lang="es-ES" altLang="es-ES" b="1" dirty="0">
                <a:latin typeface="Arial" panose="020B0604020202020204" pitchFamily="34" charset="0"/>
              </a:rPr>
            </a:b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low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contrast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although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still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relies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handcrafted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processing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Adaptive </a:t>
            </a:r>
            <a:r>
              <a:rPr lang="es-ES" altLang="es-ES" b="1" dirty="0" err="1">
                <a:latin typeface="Arial" panose="020B0604020202020204" pitchFamily="34" charset="0"/>
              </a:rPr>
              <a:t>Canny</a:t>
            </a:r>
            <a:r>
              <a:rPr lang="es-ES" altLang="es-ES" b="1" dirty="0">
                <a:latin typeface="Arial" panose="020B0604020202020204" pitchFamily="34" charset="0"/>
              </a:rPr>
              <a:t> pipeline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the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most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practical</a:t>
            </a:r>
            <a:r>
              <a:rPr lang="es-ES" altLang="es-ES" b="1" dirty="0">
                <a:latin typeface="Arial" panose="020B0604020202020204" pitchFamily="34" charset="0"/>
              </a:rPr>
              <a:t> and </a:t>
            </a:r>
            <a:r>
              <a:rPr lang="es-ES" altLang="es-ES" b="1" dirty="0" err="1">
                <a:latin typeface="Arial" panose="020B0604020202020204" pitchFamily="34" charset="0"/>
              </a:rPr>
              <a:t>deployable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solution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 err="1">
                <a:latin typeface="Arial" panose="020B0604020202020204" pitchFamily="34" charset="0"/>
              </a:rPr>
              <a:t>requiring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>
                <a:latin typeface="Arial" panose="020B0604020202020204" pitchFamily="34" charset="0"/>
              </a:rPr>
              <a:t>no training and </a:t>
            </a:r>
            <a:r>
              <a:rPr lang="es-ES" altLang="es-ES" b="1" dirty="0" err="1">
                <a:latin typeface="Arial" panose="020B0604020202020204" pitchFamily="34" charset="0"/>
              </a:rPr>
              <a:t>only</a:t>
            </a:r>
            <a:r>
              <a:rPr lang="es-ES" altLang="es-ES" b="1" dirty="0">
                <a:latin typeface="Arial" panose="020B0604020202020204" pitchFamily="34" charset="0"/>
              </a:rPr>
              <a:t> CPU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lower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robustness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20D86B5-030A-2A1A-E3CD-E8306D9E88F4}"/>
              </a:ext>
            </a:extLst>
          </p:cNvPr>
          <p:cNvSpPr txBox="1"/>
          <p:nvPr/>
        </p:nvSpPr>
        <p:spPr>
          <a:xfrm>
            <a:off x="1329397" y="31019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</a:p>
          <a:p>
            <a:pPr marL="0" indent="0">
              <a:buNone/>
            </a:pPr>
            <a:r>
              <a:rPr lang="es-ES" sz="1200" dirty="0"/>
              <a:t>[22] Kang </a:t>
            </a:r>
            <a:r>
              <a:rPr lang="es-ES" sz="1200" dirty="0" err="1"/>
              <a:t>Liao</a:t>
            </a:r>
            <a:r>
              <a:rPr lang="es-ES" sz="1200" dirty="0"/>
              <a:t>, Lang Nie, </a:t>
            </a:r>
            <a:r>
              <a:rPr lang="es-ES" sz="1200" dirty="0" err="1"/>
              <a:t>Shujuan</a:t>
            </a:r>
            <a:r>
              <a:rPr lang="es-ES" sz="1200" dirty="0"/>
              <a:t> Huang, </a:t>
            </a:r>
            <a:r>
              <a:rPr lang="es-ES" sz="1200" dirty="0" err="1"/>
              <a:t>Chunyu</a:t>
            </a:r>
            <a:r>
              <a:rPr lang="es-ES" sz="1200" dirty="0"/>
              <a:t> Lin, Jing Zhang, Yao Zhao, </a:t>
            </a:r>
            <a:r>
              <a:rPr lang="es-ES" sz="1200" dirty="0" err="1"/>
              <a:t>Moncef</a:t>
            </a:r>
            <a:r>
              <a:rPr lang="es-ES" sz="1200" dirty="0"/>
              <a:t> </a:t>
            </a:r>
            <a:r>
              <a:rPr lang="es-ES" sz="1200" dirty="0" err="1"/>
              <a:t>Gabbouj</a:t>
            </a:r>
            <a:r>
              <a:rPr lang="es-ES" sz="1200" dirty="0"/>
              <a:t>, and </a:t>
            </a:r>
            <a:r>
              <a:rPr lang="es-ES" sz="1200" dirty="0" err="1"/>
              <a:t>Dacheng</a:t>
            </a:r>
            <a:r>
              <a:rPr lang="es-ES" sz="1200" dirty="0"/>
              <a:t> Tao. Deep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camera </a:t>
            </a:r>
            <a:r>
              <a:rPr lang="es-ES" sz="1200" dirty="0" err="1"/>
              <a:t>calibration</a:t>
            </a:r>
            <a:r>
              <a:rPr lang="es-ES" sz="1200" dirty="0"/>
              <a:t> and </a:t>
            </a:r>
            <a:r>
              <a:rPr lang="es-ES" sz="1200" dirty="0" err="1"/>
              <a:t>beyond</a:t>
            </a:r>
            <a:r>
              <a:rPr lang="es-ES" sz="1200" dirty="0"/>
              <a:t>: A </a:t>
            </a:r>
            <a:r>
              <a:rPr lang="es-ES" sz="1200" dirty="0" err="1"/>
              <a:t>survey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[23] Lars </a:t>
            </a:r>
            <a:r>
              <a:rPr lang="es-ES" sz="1200" dirty="0" err="1"/>
              <a:t>Heckler-Kram</a:t>
            </a:r>
            <a:r>
              <a:rPr lang="es-ES" sz="1200" dirty="0"/>
              <a:t>, Jan-</a:t>
            </a:r>
            <a:r>
              <a:rPr lang="es-ES" sz="1200" dirty="0" err="1"/>
              <a:t>Hendrik</a:t>
            </a:r>
            <a:r>
              <a:rPr lang="es-ES" sz="1200" dirty="0"/>
              <a:t> </a:t>
            </a:r>
            <a:r>
              <a:rPr lang="es-ES" sz="1200" dirty="0" err="1"/>
              <a:t>Neudeck</a:t>
            </a:r>
            <a:r>
              <a:rPr lang="es-ES" sz="1200" dirty="0"/>
              <a:t>, Ulla Scheler, Rebecca </a:t>
            </a:r>
            <a:r>
              <a:rPr lang="es-ES" sz="1200" dirty="0" err="1"/>
              <a:t>König</a:t>
            </a:r>
            <a:r>
              <a:rPr lang="es-ES" sz="1200" dirty="0"/>
              <a:t>, and </a:t>
            </a:r>
            <a:r>
              <a:rPr lang="es-ES" sz="1200" dirty="0" err="1"/>
              <a:t>Carsten</a:t>
            </a:r>
            <a:r>
              <a:rPr lang="es-ES" sz="1200" dirty="0"/>
              <a:t> </a:t>
            </a:r>
            <a:r>
              <a:rPr lang="es-ES" sz="1200" dirty="0" err="1"/>
              <a:t>Steger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MVTec</a:t>
            </a:r>
            <a:r>
              <a:rPr lang="es-ES" sz="1200" dirty="0"/>
              <a:t> AD 2 </a:t>
            </a:r>
            <a:r>
              <a:rPr lang="es-ES" sz="1200" dirty="0" err="1"/>
              <a:t>dataset</a:t>
            </a:r>
            <a:r>
              <a:rPr lang="es-ES" sz="1200" dirty="0"/>
              <a:t>: </a:t>
            </a:r>
            <a:r>
              <a:rPr lang="es-ES" sz="1200" dirty="0" err="1"/>
              <a:t>Advanced</a:t>
            </a:r>
            <a:r>
              <a:rPr lang="es-ES" sz="1200" dirty="0"/>
              <a:t> </a:t>
            </a:r>
            <a:r>
              <a:rPr lang="es-ES" sz="1200" dirty="0" err="1"/>
              <a:t>scenarios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unsupervised</a:t>
            </a:r>
            <a:r>
              <a:rPr lang="es-ES" sz="1200" dirty="0"/>
              <a:t> </a:t>
            </a:r>
            <a:r>
              <a:rPr lang="es-ES" sz="1200" dirty="0" err="1"/>
              <a:t>anomaly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[24] S. </a:t>
            </a:r>
            <a:r>
              <a:rPr lang="es-ES" sz="1200" dirty="0" err="1"/>
              <a:t>Yesmin</a:t>
            </a:r>
            <a:r>
              <a:rPr lang="es-ES" sz="1200" dirty="0"/>
              <a:t> et al.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and </a:t>
            </a:r>
            <a:r>
              <a:rPr lang="es-ES" sz="1200" dirty="0" err="1"/>
              <a:t>noise</a:t>
            </a:r>
            <a:r>
              <a:rPr lang="es-ES" sz="1200" dirty="0"/>
              <a:t> </a:t>
            </a:r>
            <a:r>
              <a:rPr lang="es-ES" sz="1200" dirty="0" err="1"/>
              <a:t>removal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cancerous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cell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liver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</a:t>
            </a:r>
            <a:r>
              <a:rPr lang="es-ES" sz="1200" dirty="0" err="1"/>
              <a:t>modified</a:t>
            </a:r>
            <a:r>
              <a:rPr lang="es-ES" sz="1200" dirty="0"/>
              <a:t> </a:t>
            </a:r>
            <a:r>
              <a:rPr lang="es-ES" sz="1200" dirty="0" err="1"/>
              <a:t>marker-controlled</a:t>
            </a:r>
            <a:r>
              <a:rPr lang="es-ES" sz="1200" dirty="0"/>
              <a:t> </a:t>
            </a:r>
            <a:r>
              <a:rPr lang="es-ES" sz="1200" dirty="0" err="1"/>
              <a:t>watershed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Springer,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[25] A. Sen et al.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engineering</a:t>
            </a:r>
            <a:r>
              <a:rPr lang="es-ES" sz="1200" dirty="0"/>
              <a:t> </a:t>
            </a:r>
            <a:r>
              <a:rPr lang="es-ES" sz="1200" dirty="0" err="1"/>
              <a:t>is</a:t>
            </a:r>
            <a:r>
              <a:rPr lang="es-ES" sz="1200" dirty="0"/>
              <a:t> </a:t>
            </a:r>
            <a:r>
              <a:rPr lang="es-ES" sz="1200" dirty="0" err="1"/>
              <a:t>not</a:t>
            </a:r>
            <a:r>
              <a:rPr lang="es-ES" sz="1200" dirty="0"/>
              <a:t> </a:t>
            </a:r>
            <a:r>
              <a:rPr lang="es-ES" sz="1200" dirty="0" err="1"/>
              <a:t>dead</a:t>
            </a:r>
            <a:r>
              <a:rPr lang="es-ES" sz="1200" dirty="0"/>
              <a:t>: </a:t>
            </a:r>
            <a:r>
              <a:rPr lang="es-ES" sz="1200" dirty="0" err="1"/>
              <a:t>Reviving</a:t>
            </a:r>
            <a:r>
              <a:rPr lang="es-ES" sz="1200" dirty="0"/>
              <a:t> </a:t>
            </a:r>
            <a:r>
              <a:rPr lang="es-ES" sz="1200" dirty="0" err="1"/>
              <a:t>classical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entropy</a:t>
            </a:r>
            <a:r>
              <a:rPr lang="es-ES" sz="1200" dirty="0"/>
              <a:t>, HOG, and LBP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fusion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classification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 </a:t>
            </a:r>
            <a:r>
              <a:rPr lang="es-ES" sz="1200" dirty="0" err="1"/>
              <a:t>preprint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[26] X. </a:t>
            </a:r>
            <a:r>
              <a:rPr lang="es-ES" sz="1200" dirty="0" err="1"/>
              <a:t>Xu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application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automated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processing</a:t>
            </a:r>
            <a:r>
              <a:rPr lang="es-ES" sz="1200" dirty="0"/>
              <a:t> </a:t>
            </a:r>
            <a:r>
              <a:rPr lang="es-ES" sz="1200" dirty="0" err="1"/>
              <a:t>technology</a:t>
            </a:r>
            <a:r>
              <a:rPr lang="es-ES" sz="1200" dirty="0"/>
              <a:t> in industrial </a:t>
            </a:r>
            <a:r>
              <a:rPr lang="es-ES" sz="1200" dirty="0" err="1"/>
              <a:t>inspection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corresponding</a:t>
            </a:r>
            <a:r>
              <a:rPr lang="es-ES" sz="1200" dirty="0"/>
              <a:t> </a:t>
            </a:r>
            <a:r>
              <a:rPr lang="es-ES" sz="1200" dirty="0" err="1"/>
              <a:t>venue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[27] Hua </a:t>
            </a:r>
            <a:r>
              <a:rPr lang="es-ES" sz="1200" dirty="0" err="1"/>
              <a:t>Song</a:t>
            </a:r>
            <a:r>
              <a:rPr lang="es-ES" sz="1200" dirty="0"/>
              <a:t> and </a:t>
            </a:r>
            <a:r>
              <a:rPr lang="es-ES" sz="1200" dirty="0" err="1"/>
              <a:t>Ziqiao</a:t>
            </a:r>
            <a:r>
              <a:rPr lang="es-ES" sz="1200" dirty="0"/>
              <a:t> </a:t>
            </a:r>
            <a:r>
              <a:rPr lang="es-ES" sz="1200" dirty="0" err="1"/>
              <a:t>Wen</a:t>
            </a:r>
            <a:r>
              <a:rPr lang="es-ES" sz="1200" dirty="0"/>
              <a:t>. Interactive </a:t>
            </a:r>
            <a:r>
              <a:rPr lang="es-ES" sz="1200" dirty="0" err="1"/>
              <a:t>design</a:t>
            </a:r>
            <a:r>
              <a:rPr lang="es-ES" sz="1200" dirty="0"/>
              <a:t> </a:t>
            </a:r>
            <a:r>
              <a:rPr lang="es-ES" sz="1200" dirty="0" err="1"/>
              <a:t>modeling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3D </a:t>
            </a:r>
            <a:r>
              <a:rPr lang="es-ES" sz="1200" dirty="0" err="1"/>
              <a:t>styling</a:t>
            </a:r>
            <a:r>
              <a:rPr lang="es-ES" sz="1200" dirty="0"/>
              <a:t> </a:t>
            </a:r>
            <a:r>
              <a:rPr lang="es-ES" sz="1200" dirty="0" err="1"/>
              <a:t>combining</a:t>
            </a:r>
            <a:r>
              <a:rPr lang="es-ES" sz="1200" dirty="0"/>
              <a:t> </a:t>
            </a:r>
            <a:r>
              <a:rPr lang="es-ES" sz="1200" dirty="0" err="1"/>
              <a:t>Bezier</a:t>
            </a:r>
            <a:r>
              <a:rPr lang="es-ES" sz="1200" dirty="0"/>
              <a:t> curve and Harris </a:t>
            </a:r>
            <a:r>
              <a:rPr lang="es-ES" sz="1200" dirty="0" err="1"/>
              <a:t>corner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. PLOS ONE, 2025.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1645B-C1E4-79A5-5D3C-43E461374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FE35-F66B-E620-AEFA-B67674AC2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59594F04-331E-71AB-B24C-47FB0DD8A955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[28] </a:t>
            </a:r>
            <a:r>
              <a:rPr lang="es-ES" sz="1200" dirty="0" err="1"/>
              <a:t>Ibrar</a:t>
            </a:r>
            <a:r>
              <a:rPr lang="es-ES" sz="1200" dirty="0"/>
              <a:t> </a:t>
            </a:r>
            <a:r>
              <a:rPr lang="es-ES" sz="1200" dirty="0" err="1"/>
              <a:t>Hussain</a:t>
            </a:r>
            <a:r>
              <a:rPr lang="es-ES" sz="1200" dirty="0"/>
              <a:t>. A </a:t>
            </a:r>
            <a:r>
              <a:rPr lang="es-ES" sz="1200" dirty="0" err="1"/>
              <a:t>stable</a:t>
            </a:r>
            <a:r>
              <a:rPr lang="es-ES" sz="1200" dirty="0"/>
              <a:t> </a:t>
            </a:r>
            <a:r>
              <a:rPr lang="es-ES" sz="1200" dirty="0" err="1"/>
              <a:t>region-based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model</a:t>
            </a:r>
            <a:r>
              <a:rPr lang="es-ES" sz="1200" dirty="0"/>
              <a:t> </a:t>
            </a:r>
            <a:r>
              <a:rPr lang="es-ES" sz="1200" dirty="0" err="1"/>
              <a:t>integrating</a:t>
            </a:r>
            <a:r>
              <a:rPr lang="es-ES" sz="1200" dirty="0"/>
              <a:t> </a:t>
            </a:r>
            <a:r>
              <a:rPr lang="es-ES" sz="1200" dirty="0" err="1"/>
              <a:t>fuzzy</a:t>
            </a:r>
            <a:r>
              <a:rPr lang="es-ES" sz="1200" dirty="0"/>
              <a:t> </a:t>
            </a:r>
            <a:r>
              <a:rPr lang="es-ES" sz="1200" dirty="0" err="1"/>
              <a:t>logic</a:t>
            </a:r>
            <a:r>
              <a:rPr lang="es-ES" sz="1200" dirty="0"/>
              <a:t> and </a:t>
            </a:r>
            <a:r>
              <a:rPr lang="es-ES" sz="1200" dirty="0" err="1"/>
              <a:t>geometric</a:t>
            </a:r>
            <a:r>
              <a:rPr lang="es-ES" sz="1200" dirty="0"/>
              <a:t> </a:t>
            </a:r>
            <a:r>
              <a:rPr lang="es-ES" sz="1200" dirty="0" err="1"/>
              <a:t>principles</a:t>
            </a:r>
            <a:r>
              <a:rPr lang="es-ES" sz="1200" dirty="0"/>
              <a:t>. </a:t>
            </a:r>
            <a:r>
              <a:rPr lang="es-ES" sz="1200" dirty="0" err="1"/>
              <a:t>Acadlore</a:t>
            </a:r>
            <a:r>
              <a:rPr lang="es-ES" sz="1200" dirty="0"/>
              <a:t>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AI and Machine </a:t>
            </a:r>
            <a:r>
              <a:rPr lang="es-ES" sz="1200" dirty="0" err="1"/>
              <a:t>Learning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[29] Ibrahim </a:t>
            </a:r>
            <a:r>
              <a:rPr lang="es-ES" sz="1200" dirty="0" err="1"/>
              <a:t>Almohimeed</a:t>
            </a:r>
            <a:r>
              <a:rPr lang="es-ES" sz="1200" dirty="0"/>
              <a:t> et al. </a:t>
            </a:r>
            <a:r>
              <a:rPr lang="es-ES" sz="1200" dirty="0" err="1"/>
              <a:t>Sandpiper</a:t>
            </a:r>
            <a:r>
              <a:rPr lang="es-ES" sz="1200" dirty="0"/>
              <a:t> </a:t>
            </a:r>
            <a:r>
              <a:rPr lang="es-ES" sz="1200" dirty="0" err="1"/>
              <a:t>optimization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region</a:t>
            </a:r>
            <a:r>
              <a:rPr lang="es-ES" sz="1200" dirty="0"/>
              <a:t> </a:t>
            </a:r>
            <a:r>
              <a:rPr lang="es-ES" sz="1200" dirty="0" err="1"/>
              <a:t>growing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robust</a:t>
            </a:r>
            <a:r>
              <a:rPr lang="es-ES" sz="1200" dirty="0"/>
              <a:t> retinal </a:t>
            </a:r>
            <a:r>
              <a:rPr lang="es-ES" sz="1200" dirty="0" err="1"/>
              <a:t>blood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IEEE Access,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[30] </a:t>
            </a:r>
            <a:r>
              <a:rPr lang="es-ES" sz="1200" dirty="0" err="1"/>
              <a:t>Ran</a:t>
            </a:r>
            <a:r>
              <a:rPr lang="es-ES" sz="1200" dirty="0"/>
              <a:t> Jia et al. </a:t>
            </a:r>
            <a:r>
              <a:rPr lang="es-ES" sz="1200" dirty="0" err="1"/>
              <a:t>Robust</a:t>
            </a:r>
            <a:r>
              <a:rPr lang="es-ES" sz="1200" dirty="0"/>
              <a:t> </a:t>
            </a:r>
            <a:r>
              <a:rPr lang="es-ES" sz="1200" dirty="0" err="1"/>
              <a:t>ridge-patterned</a:t>
            </a:r>
            <a:r>
              <a:rPr lang="es-ES" sz="1200" dirty="0"/>
              <a:t> </a:t>
            </a:r>
            <a:r>
              <a:rPr lang="es-ES" sz="1200" dirty="0" err="1"/>
              <a:t>instance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high-resolution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cloud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. IEEE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Instrumentation</a:t>
            </a:r>
            <a:r>
              <a:rPr lang="es-ES" sz="1200" dirty="0"/>
              <a:t> and </a:t>
            </a:r>
            <a:r>
              <a:rPr lang="es-ES" sz="1200" dirty="0" err="1"/>
              <a:t>Measurement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[31] Jun </a:t>
            </a:r>
            <a:r>
              <a:rPr lang="es-ES" sz="1200" dirty="0" err="1"/>
              <a:t>Guo</a:t>
            </a:r>
            <a:r>
              <a:rPr lang="es-ES" sz="1200" dirty="0"/>
              <a:t>, Yang </a:t>
            </a:r>
            <a:r>
              <a:rPr lang="es-ES" sz="1200" dirty="0" err="1"/>
              <a:t>Yang</a:t>
            </a:r>
            <a:r>
              <a:rPr lang="es-ES" sz="1200" dirty="0"/>
              <a:t>, and </a:t>
            </a:r>
            <a:r>
              <a:rPr lang="es-ES" sz="1200" dirty="0" err="1"/>
              <a:t>Yuxin</a:t>
            </a:r>
            <a:r>
              <a:rPr lang="es-ES" sz="1200" dirty="0"/>
              <a:t> Chen. </a:t>
            </a:r>
            <a:r>
              <a:rPr lang="es-ES" sz="1200" dirty="0" err="1"/>
              <a:t>Research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sub-pixel</a:t>
            </a:r>
            <a:r>
              <a:rPr lang="es-ES" sz="1200" dirty="0"/>
              <a:t> </a:t>
            </a:r>
            <a:r>
              <a:rPr lang="es-ES" sz="1200" dirty="0" err="1"/>
              <a:t>accuracy</a:t>
            </a:r>
            <a:r>
              <a:rPr lang="es-ES" sz="1200" dirty="0"/>
              <a:t> </a:t>
            </a:r>
            <a:r>
              <a:rPr lang="es-ES" sz="1200" dirty="0" err="1"/>
              <a:t>flange</a:t>
            </a:r>
            <a:r>
              <a:rPr lang="es-ES" sz="1200" dirty="0"/>
              <a:t> disk </a:t>
            </a:r>
            <a:r>
              <a:rPr lang="es-ES" sz="1200" dirty="0" err="1"/>
              <a:t>dimension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Signal</a:t>
            </a:r>
            <a:r>
              <a:rPr lang="es-ES" sz="1200" dirty="0"/>
              <a:t>, </a:t>
            </a:r>
            <a:r>
              <a:rPr lang="es-ES" sz="1200" dirty="0" err="1"/>
              <a:t>Image</a:t>
            </a:r>
            <a:r>
              <a:rPr lang="es-ES" sz="1200" dirty="0"/>
              <a:t> and Video Processing,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[32] </a:t>
            </a:r>
            <a:r>
              <a:rPr lang="es-ES" sz="1200" dirty="0" err="1"/>
              <a:t>Hewa</a:t>
            </a:r>
            <a:r>
              <a:rPr lang="es-ES" sz="1200" dirty="0"/>
              <a:t> </a:t>
            </a:r>
            <a:r>
              <a:rPr lang="es-ES" sz="1200" dirty="0" err="1"/>
              <a:t>Majeed</a:t>
            </a:r>
            <a:r>
              <a:rPr lang="es-ES" sz="1200" dirty="0"/>
              <a:t> </a:t>
            </a:r>
            <a:r>
              <a:rPr lang="es-ES" sz="1200" dirty="0" err="1"/>
              <a:t>Zangana</a:t>
            </a:r>
            <a:r>
              <a:rPr lang="es-ES" sz="1200" dirty="0"/>
              <a:t>, </a:t>
            </a:r>
            <a:r>
              <a:rPr lang="es-ES" sz="1200" dirty="0" err="1"/>
              <a:t>Ayaz</a:t>
            </a:r>
            <a:r>
              <a:rPr lang="es-ES" sz="1200" dirty="0"/>
              <a:t> </a:t>
            </a:r>
            <a:r>
              <a:rPr lang="es-ES" sz="1200" dirty="0" err="1"/>
              <a:t>Khalid</a:t>
            </a:r>
            <a:r>
              <a:rPr lang="es-ES" sz="1200" dirty="0"/>
              <a:t> Mohammed, and </a:t>
            </a:r>
            <a:r>
              <a:rPr lang="es-ES" sz="1200" dirty="0" err="1"/>
              <a:t>Firas</a:t>
            </a:r>
            <a:r>
              <a:rPr lang="es-ES" sz="1200" dirty="0"/>
              <a:t> Mahmood </a:t>
            </a:r>
            <a:r>
              <a:rPr lang="es-ES" sz="1200" dirty="0" err="1"/>
              <a:t>Mustafa</a:t>
            </a:r>
            <a:r>
              <a:rPr lang="es-ES" sz="1200" dirty="0"/>
              <a:t>. </a:t>
            </a:r>
            <a:r>
              <a:rPr lang="es-ES" sz="1200" dirty="0" err="1"/>
              <a:t>Advancements</a:t>
            </a:r>
            <a:r>
              <a:rPr lang="es-ES" sz="1200" dirty="0"/>
              <a:t> in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techniques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: A comprehensive </a:t>
            </a:r>
            <a:r>
              <a:rPr lang="es-ES" sz="1200" dirty="0" err="1"/>
              <a:t>review</a:t>
            </a:r>
            <a:r>
              <a:rPr lang="es-ES" sz="1200" dirty="0"/>
              <a:t>. International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Artificial </a:t>
            </a:r>
            <a:r>
              <a:rPr lang="es-ES" sz="1200" dirty="0" err="1"/>
              <a:t>Intelligence</a:t>
            </a:r>
            <a:r>
              <a:rPr lang="es-ES" sz="1200" dirty="0"/>
              <a:t> &amp; </a:t>
            </a:r>
            <a:r>
              <a:rPr lang="es-ES" sz="1200" dirty="0" err="1"/>
              <a:t>Robotics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[33] José L. Mira et al. Benchmarking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energy-efficient</a:t>
            </a:r>
            <a:r>
              <a:rPr lang="es-ES" sz="1200" dirty="0"/>
              <a:t> </a:t>
            </a:r>
            <a:r>
              <a:rPr lang="es-ES" sz="1200" dirty="0" err="1"/>
              <a:t>high-accuracy</a:t>
            </a:r>
            <a:r>
              <a:rPr lang="es-ES" sz="1200" dirty="0"/>
              <a:t> olive </a:t>
            </a:r>
            <a:r>
              <a:rPr lang="es-ES" sz="1200" dirty="0" err="1"/>
              <a:t>fly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devices</a:t>
            </a:r>
            <a:r>
              <a:rPr lang="es-ES" sz="1200" dirty="0"/>
              <a:t>. Multimedia Tools and </a:t>
            </a:r>
            <a:r>
              <a:rPr lang="es-ES" sz="1200" dirty="0" err="1"/>
              <a:t>Applications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[34] Mikel González et al. Adaptive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finishing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distorted</a:t>
            </a:r>
            <a:r>
              <a:rPr lang="es-ES" sz="1200" dirty="0"/>
              <a:t> </a:t>
            </a:r>
            <a:r>
              <a:rPr lang="es-ES" sz="1200" dirty="0" err="1"/>
              <a:t>features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robot-</a:t>
            </a:r>
            <a:r>
              <a:rPr lang="es-ES" sz="1200" dirty="0" err="1"/>
              <a:t>assisted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Manufacturing</a:t>
            </a:r>
            <a:r>
              <a:rPr lang="es-ES" sz="1200" dirty="0"/>
              <a:t> </a:t>
            </a:r>
            <a:r>
              <a:rPr lang="es-ES" sz="1200" dirty="0" err="1"/>
              <a:t>Systems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[35] Hasan </a:t>
            </a:r>
            <a:r>
              <a:rPr lang="es-ES" sz="1200" dirty="0" err="1"/>
              <a:t>Muzakki</a:t>
            </a:r>
            <a:r>
              <a:rPr lang="es-ES" sz="1200" dirty="0"/>
              <a:t> et al. </a:t>
            </a:r>
            <a:r>
              <a:rPr lang="es-ES" sz="1200" dirty="0" err="1"/>
              <a:t>Evaluating</a:t>
            </a:r>
            <a:r>
              <a:rPr lang="es-ES" sz="1200" dirty="0"/>
              <a:t> K-</a:t>
            </a:r>
            <a:r>
              <a:rPr lang="es-ES" sz="1200" dirty="0" err="1"/>
              <a:t>nearest</a:t>
            </a:r>
            <a:r>
              <a:rPr lang="es-ES" sz="1200" dirty="0"/>
              <a:t> </a:t>
            </a:r>
            <a:r>
              <a:rPr lang="es-ES" sz="1200" dirty="0" err="1"/>
              <a:t>neighbors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X-</a:t>
            </a:r>
            <a:r>
              <a:rPr lang="es-ES" sz="1200" dirty="0" err="1"/>
              <a:t>ray</a:t>
            </a:r>
            <a:r>
              <a:rPr lang="es-ES" sz="1200" dirty="0"/>
              <a:t> </a:t>
            </a:r>
            <a:r>
              <a:rPr lang="es-ES" sz="1200" dirty="0" err="1"/>
              <a:t>bone</a:t>
            </a:r>
            <a:r>
              <a:rPr lang="es-ES" sz="1200" dirty="0"/>
              <a:t> fracture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using</a:t>
            </a:r>
            <a:r>
              <a:rPr lang="es-ES" sz="1200" dirty="0"/>
              <a:t> HOG, LBP, and SIFT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extraction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. IEEE Access,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[36] </a:t>
            </a:r>
            <a:r>
              <a:rPr lang="es-ES" sz="1200" dirty="0" err="1"/>
              <a:t>Hengxu</a:t>
            </a:r>
            <a:r>
              <a:rPr lang="es-ES" sz="1200" dirty="0"/>
              <a:t> Liu et al. Surface </a:t>
            </a:r>
            <a:r>
              <a:rPr lang="es-ES" sz="1200" dirty="0" err="1"/>
              <a:t>defect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and data </a:t>
            </a:r>
            <a:r>
              <a:rPr lang="es-ES" sz="1200" dirty="0" err="1"/>
              <a:t>augmentation</a:t>
            </a:r>
            <a:r>
              <a:rPr lang="es-ES" sz="1200" dirty="0"/>
              <a:t>. IEEE ICCASIT, 2024.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496561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D395-0DCE-F844-C693-B1E059AE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4A607-F38C-FA12-1666-45CE236AB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BA3671E2-9B53-8E54-4F8C-36EE552F2A7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/>
              <a:t>[37] Hafizh Eryadi. Comparative analysis of SVM and XGBoost classifiers with HOG features for concrete crack detection. IT Journal Research and Development,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[38] Hung et al. Tool wear classification based on support vector machine and deep learning models. Sensors and Materials,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[39] Priananda et al. Machine learning-based phase resolved partial discharge pattern classification using HOG and PCA. IEEE Conference,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[40] Ding et al. Homography decomposition revisited. International Journal of Computer Vision,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[41] Zhang et al. A high-quality and convenient camera calibration method using a single image. Electronics,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[42] Ge et al. Research on surface defect classification model of automotive flange disks based on machine vision. Signal, Image and Video Processing,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[43] Tsung-Yi Lin et al. Microsoft COCO: Common objects in context. ECCV, 2014.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[44] Kechen Song and Yunhui Yan. A noise robust method based on completed local binary patterns for hot-rolled steel strip surface defects. Applied Surface Science, 2013.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[45] David R. Martin et al. A database of human segmented natural images and its application to evaluating segmentation algorithms. ICCV, 2001.</a:t>
            </a:r>
            <a:br>
              <a:rPr lang="es-ES" sz="1200"/>
            </a:br>
            <a:br>
              <a:rPr lang="es-ES" sz="120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704748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4F8E5-7611-8987-DDFA-D0CA009D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5F25-FA07-94F2-5DF4-F56CF8FFA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DB0436EC-7240-0DD4-BD4A-E02191ED4E6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[46] Pablo Arbeláez et al. </a:t>
            </a:r>
            <a:r>
              <a:rPr lang="es-ES" sz="1200" dirty="0" err="1"/>
              <a:t>Contour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and </a:t>
            </a:r>
            <a:r>
              <a:rPr lang="es-ES" sz="1200" dirty="0" err="1"/>
              <a:t>hierarchical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. IEEE TPAMI, 2011.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[47] Mark </a:t>
            </a:r>
            <a:r>
              <a:rPr lang="es-ES" sz="1200" dirty="0" err="1"/>
              <a:t>Everingham</a:t>
            </a:r>
            <a:r>
              <a:rPr lang="es-ES" sz="1200" dirty="0"/>
              <a:t> et al. </a:t>
            </a:r>
            <a:r>
              <a:rPr lang="es-ES" sz="1200" dirty="0" err="1"/>
              <a:t>The</a:t>
            </a:r>
            <a:r>
              <a:rPr lang="es-ES" sz="1200" dirty="0"/>
              <a:t> PASCAL visual </a:t>
            </a:r>
            <a:r>
              <a:rPr lang="es-ES" sz="1200" dirty="0" err="1"/>
              <a:t>object</a:t>
            </a:r>
            <a:r>
              <a:rPr lang="es-ES" sz="1200" dirty="0"/>
              <a:t> </a:t>
            </a:r>
            <a:r>
              <a:rPr lang="es-ES" sz="1200" dirty="0" err="1"/>
              <a:t>classes</a:t>
            </a:r>
            <a:r>
              <a:rPr lang="es-ES" sz="1200" dirty="0"/>
              <a:t> (VOC) </a:t>
            </a:r>
            <a:r>
              <a:rPr lang="es-ES" sz="1200" dirty="0" err="1"/>
              <a:t>challenge</a:t>
            </a:r>
            <a:r>
              <a:rPr lang="es-ES" sz="1200" dirty="0"/>
              <a:t>. IJCV, 2010.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[48] </a:t>
            </a:r>
            <a:r>
              <a:rPr lang="es-ES" sz="1200" dirty="0" err="1"/>
              <a:t>Xiaoping</a:t>
            </a:r>
            <a:r>
              <a:rPr lang="es-ES" sz="1200" dirty="0"/>
              <a:t> Wu et al. IP102: A </a:t>
            </a:r>
            <a:r>
              <a:rPr lang="es-ES" sz="1200" dirty="0" err="1"/>
              <a:t>large-scale</a:t>
            </a:r>
            <a:r>
              <a:rPr lang="es-ES" sz="1200" dirty="0"/>
              <a:t> </a:t>
            </a:r>
            <a:r>
              <a:rPr lang="es-ES" sz="1200" dirty="0" err="1"/>
              <a:t>benchmark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insect</a:t>
            </a:r>
            <a:r>
              <a:rPr lang="es-ES" sz="1200" dirty="0"/>
              <a:t> </a:t>
            </a:r>
            <a:r>
              <a:rPr lang="es-ES" sz="1200" dirty="0" err="1"/>
              <a:t>pest</a:t>
            </a:r>
            <a:r>
              <a:rPr lang="es-ES" sz="1200" dirty="0"/>
              <a:t> </a:t>
            </a:r>
            <a:r>
              <a:rPr lang="es-ES" sz="1200" dirty="0" err="1"/>
              <a:t>recognition</a:t>
            </a:r>
            <a:r>
              <a:rPr lang="es-ES" sz="1200" dirty="0"/>
              <a:t>. CVPR, 2019.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[49] </a:t>
            </a:r>
            <a:r>
              <a:rPr lang="es-ES" sz="1200" dirty="0" err="1"/>
              <a:t>Pranav</a:t>
            </a:r>
            <a:r>
              <a:rPr lang="es-ES" sz="1200" dirty="0"/>
              <a:t> </a:t>
            </a:r>
            <a:r>
              <a:rPr lang="es-ES" sz="1200" dirty="0" err="1"/>
              <a:t>Rajpurkar</a:t>
            </a:r>
            <a:r>
              <a:rPr lang="es-ES" sz="1200" dirty="0"/>
              <a:t> et al. MURA: </a:t>
            </a:r>
            <a:r>
              <a:rPr lang="es-ES" sz="1200" dirty="0" err="1"/>
              <a:t>Large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abnormality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in </a:t>
            </a:r>
            <a:r>
              <a:rPr lang="es-ES" sz="1200" dirty="0" err="1"/>
              <a:t>musculoskeletal</a:t>
            </a:r>
            <a:r>
              <a:rPr lang="es-ES" sz="1200" dirty="0"/>
              <a:t> </a:t>
            </a:r>
            <a:r>
              <a:rPr lang="es-ES" sz="1200" dirty="0" err="1"/>
              <a:t>radiographs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, 2017.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[50] John </a:t>
            </a:r>
            <a:r>
              <a:rPr lang="es-ES" sz="1200" dirty="0" err="1"/>
              <a:t>Canny</a:t>
            </a:r>
            <a:r>
              <a:rPr lang="es-ES" sz="1200" dirty="0"/>
              <a:t>. A </a:t>
            </a:r>
            <a:r>
              <a:rPr lang="es-ES" sz="1200" dirty="0" err="1"/>
              <a:t>computational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 </a:t>
            </a:r>
            <a:r>
              <a:rPr lang="es-ES" sz="1200" dirty="0" err="1"/>
              <a:t>to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IEEE TPAMI, 1986.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[51] Rafael </a:t>
            </a:r>
            <a:r>
              <a:rPr lang="es-ES" sz="1200" dirty="0" err="1"/>
              <a:t>Grompone</a:t>
            </a:r>
            <a:r>
              <a:rPr lang="es-ES" sz="1200" dirty="0"/>
              <a:t> </a:t>
            </a:r>
            <a:r>
              <a:rPr lang="es-ES" sz="1200" dirty="0" err="1"/>
              <a:t>von</a:t>
            </a:r>
            <a:r>
              <a:rPr lang="es-ES" sz="1200" dirty="0"/>
              <a:t> </a:t>
            </a:r>
            <a:r>
              <a:rPr lang="es-ES" sz="1200" dirty="0" err="1"/>
              <a:t>Gioi</a:t>
            </a:r>
            <a:r>
              <a:rPr lang="es-ES" sz="1200" dirty="0"/>
              <a:t> et al. LSD: A line </a:t>
            </a:r>
            <a:r>
              <a:rPr lang="es-ES" sz="1200" dirty="0" err="1"/>
              <a:t>segment</a:t>
            </a:r>
            <a:r>
              <a:rPr lang="es-ES" sz="1200" dirty="0"/>
              <a:t> detector. </a:t>
            </a:r>
            <a:r>
              <a:rPr lang="es-ES" sz="1200" dirty="0" err="1"/>
              <a:t>Image</a:t>
            </a:r>
            <a:r>
              <a:rPr lang="es-ES" sz="1200" dirty="0"/>
              <a:t> Processing </a:t>
            </a:r>
            <a:r>
              <a:rPr lang="es-ES" sz="1200" dirty="0" err="1"/>
              <a:t>On</a:t>
            </a:r>
            <a:r>
              <a:rPr lang="es-ES" sz="1200" dirty="0"/>
              <a:t> Line, 2012.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[52] Piotr </a:t>
            </a:r>
            <a:r>
              <a:rPr lang="es-ES" sz="1200" dirty="0" err="1"/>
              <a:t>Dollár</a:t>
            </a:r>
            <a:r>
              <a:rPr lang="es-ES" sz="1200" dirty="0"/>
              <a:t> and C. Lawrence </a:t>
            </a:r>
            <a:r>
              <a:rPr lang="es-ES" sz="1200" dirty="0" err="1"/>
              <a:t>Zitnick</a:t>
            </a:r>
            <a:r>
              <a:rPr lang="es-ES" sz="1200" dirty="0"/>
              <a:t>. </a:t>
            </a:r>
            <a:r>
              <a:rPr lang="es-ES" sz="1200" dirty="0" err="1"/>
              <a:t>Structured</a:t>
            </a:r>
            <a:r>
              <a:rPr lang="es-ES" sz="1200" dirty="0"/>
              <a:t> </a:t>
            </a:r>
            <a:r>
              <a:rPr lang="es-ES" sz="1200" dirty="0" err="1"/>
              <a:t>forests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fast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ICCV, 2013.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[53] Luc Vincent and Pierre </a:t>
            </a:r>
            <a:r>
              <a:rPr lang="es-ES" sz="1200" dirty="0" err="1"/>
              <a:t>Soille</a:t>
            </a:r>
            <a:r>
              <a:rPr lang="es-ES" sz="1200" dirty="0"/>
              <a:t>. </a:t>
            </a:r>
            <a:r>
              <a:rPr lang="es-ES" sz="1200" dirty="0" err="1"/>
              <a:t>Watersheds</a:t>
            </a:r>
            <a:r>
              <a:rPr lang="es-ES" sz="1200" dirty="0"/>
              <a:t> in digital </a:t>
            </a:r>
            <a:r>
              <a:rPr lang="es-ES" sz="1200" dirty="0" err="1"/>
              <a:t>spaces</a:t>
            </a:r>
            <a:r>
              <a:rPr lang="es-ES" sz="1200" dirty="0"/>
              <a:t>: </a:t>
            </a:r>
            <a:r>
              <a:rPr lang="es-ES" sz="1200" dirty="0" err="1"/>
              <a:t>An</a:t>
            </a:r>
            <a:r>
              <a:rPr lang="es-ES" sz="1200" dirty="0"/>
              <a:t> </a:t>
            </a:r>
            <a:r>
              <a:rPr lang="es-ES" sz="1200" dirty="0" err="1"/>
              <a:t>efficient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immersion</a:t>
            </a:r>
            <a:r>
              <a:rPr lang="es-ES" sz="1200" dirty="0"/>
              <a:t> </a:t>
            </a:r>
            <a:r>
              <a:rPr lang="es-ES" sz="1200" dirty="0" err="1"/>
              <a:t>simulations</a:t>
            </a:r>
            <a:r>
              <a:rPr lang="es-ES" sz="1200" dirty="0"/>
              <a:t>. IEEE TPAMI, 1991.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[54] Alejandro F. </a:t>
            </a:r>
            <a:r>
              <a:rPr lang="es-ES" sz="1200" dirty="0" err="1"/>
              <a:t>Frangi</a:t>
            </a:r>
            <a:r>
              <a:rPr lang="es-ES" sz="1200" dirty="0"/>
              <a:t> et al. </a:t>
            </a:r>
            <a:r>
              <a:rPr lang="es-ES" sz="1200" dirty="0" err="1"/>
              <a:t>Multi-scale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 </a:t>
            </a:r>
            <a:r>
              <a:rPr lang="es-ES" sz="1200" dirty="0" err="1"/>
              <a:t>filtering</a:t>
            </a:r>
            <a:r>
              <a:rPr lang="es-ES" sz="1200" dirty="0"/>
              <a:t>. MICCAI, 1998.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1852418375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415</TotalTime>
  <Words>2399</Words>
  <Application>Microsoft Office PowerPoint</Application>
  <PresentationFormat>On-screen Show (4:3)</PresentationFormat>
  <Paragraphs>137</Paragraphs>
  <Slides>22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PowerPoint Presentation</vt:lpstr>
      <vt:lpstr>1. Introduction</vt:lpstr>
      <vt:lpstr>PowerPoint Presentation</vt:lpstr>
      <vt:lpstr>2. Literature review – Deep Learning</vt:lpstr>
      <vt:lpstr>2. Literature review – Deep Learning</vt:lpstr>
      <vt:lpstr>2. Literature review – Classical</vt:lpstr>
      <vt:lpstr>2. Literature review – Classical</vt:lpstr>
      <vt:lpstr>3. Selected method (Deep 1): Grounded-SAM</vt:lpstr>
      <vt:lpstr>3. Selected method (Deep 2): YOLOv9 + EfficientSAM</vt:lpstr>
      <vt:lpstr>3. Selected method (Classical 1): </vt:lpstr>
      <vt:lpstr>3. Selected method (Classical 1): Adaptative Canny</vt:lpstr>
      <vt:lpstr>4. Datasets </vt:lpstr>
      <vt:lpstr>5. Performance Metrics</vt:lpstr>
      <vt:lpstr>6. Conclusions</vt:lpstr>
      <vt:lpstr>PowerPoint Presentation</vt:lpstr>
      <vt:lpstr> 7. References</vt:lpstr>
      <vt:lpstr> 7. References</vt:lpstr>
      <vt:lpstr> 7. References</vt:lpstr>
      <vt:lpstr> 7. References</vt:lpstr>
      <vt:lpstr> 7. References</vt:lpstr>
      <vt:lpstr> 7.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David Morán Gorgojo</cp:lastModifiedBy>
  <cp:revision>837</cp:revision>
  <cp:lastPrinted>2017-01-11T09:40:40Z</cp:lastPrinted>
  <dcterms:created xsi:type="dcterms:W3CDTF">2016-05-17T14:50:09Z</dcterms:created>
  <dcterms:modified xsi:type="dcterms:W3CDTF">2026-04-07T19:10:29Z</dcterms:modified>
  <cp:category>EFF</cp:category>
</cp:coreProperties>
</file>